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79" r:id="rId4"/>
    <p:sldId id="275" r:id="rId5"/>
    <p:sldId id="277" r:id="rId6"/>
    <p:sldId id="276" r:id="rId7"/>
    <p:sldId id="280" r:id="rId8"/>
    <p:sldId id="281" r:id="rId9"/>
    <p:sldId id="282"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26725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t>Image based Animal Type Classification for cattle and buffaloes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 CDV_8</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136926" y="2357432"/>
            <a:ext cx="5514300" cy="2020560"/>
          </a:xfrm>
          <a:prstGeom prst="rect">
            <a:avLst/>
          </a:prstGeom>
          <a:noFill/>
          <a:ln>
            <a:noFill/>
          </a:ln>
        </p:spPr>
        <p:txBody>
          <a:bodyPr spcFirstLastPara="1" wrap="square" lIns="91425" tIns="45700" rIns="91425" bIns="45700" anchor="t" anchorCtr="0">
            <a:normAutofit/>
          </a:bodyPr>
          <a:lstStyle/>
          <a:p>
            <a:pPr>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                    </a:t>
            </a:r>
            <a:r>
              <a:rPr lang="en-GB" sz="1600" b="1" dirty="0">
                <a:solidFill>
                  <a:srgbClr val="17365D"/>
                </a:solidFill>
                <a:latin typeface="Cambria" panose="02040503050406030204" pitchFamily="18" charset="0"/>
                <a:ea typeface="Cambria" panose="02040503050406030204" pitchFamily="18" charset="0"/>
                <a:cs typeface="Verdana"/>
                <a:sym typeface="Verdana"/>
              </a:rPr>
              <a:t>Under the Supervision of,</a:t>
            </a:r>
          </a:p>
          <a:p>
            <a:pPr>
              <a:spcBef>
                <a:spcPts val="340"/>
              </a:spcBef>
              <a:buClr>
                <a:srgbClr val="17365D"/>
              </a:buClr>
              <a:buSzPts val="1700"/>
            </a:pPr>
            <a:endParaRPr lang="en-GB" sz="16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                  Mr. </a:t>
            </a:r>
            <a:r>
              <a:rPr lang="en-IN"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Sahabzada Betab Badar</a:t>
            </a:r>
            <a:endParaRPr lang="en-IN" b="1" dirty="0">
              <a:solidFill>
                <a:schemeClr val="tx1"/>
              </a:solidFill>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Assistant Professor</a:t>
            </a: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717420414"/>
              </p:ext>
            </p:extLst>
          </p:nvPr>
        </p:nvGraphicFramePr>
        <p:xfrm>
          <a:off x="540774" y="2513340"/>
          <a:ext cx="5171031" cy="2926140"/>
        </p:xfrm>
        <a:graphic>
          <a:graphicData uri="http://schemas.openxmlformats.org/drawingml/2006/table">
            <a:tbl>
              <a:tblPr firstRow="1" bandRow="1">
                <a:noFill/>
                <a:tableStyleId>{57690726-49DA-4552-BDEB-330DD8EA8BD9}</a:tableStyleId>
              </a:tblPr>
              <a:tblGrid>
                <a:gridCol w="1879118">
                  <a:extLst>
                    <a:ext uri="{9D8B030D-6E8A-4147-A177-3AD203B41FA5}">
                      <a16:colId xmlns:a16="http://schemas.microsoft.com/office/drawing/2014/main" val="20000"/>
                    </a:ext>
                  </a:extLst>
                </a:gridCol>
                <a:gridCol w="3291913">
                  <a:extLst>
                    <a:ext uri="{9D8B030D-6E8A-4147-A177-3AD203B41FA5}">
                      <a16:colId xmlns:a16="http://schemas.microsoft.com/office/drawing/2014/main" val="20001"/>
                    </a:ext>
                  </a:extLst>
                </a:gridCol>
              </a:tblGrid>
              <a:tr h="226739">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07845">
                <a:tc>
                  <a:txBody>
                    <a:bodyPr/>
                    <a:lstStyle/>
                    <a:p>
                      <a:pPr marL="0" marR="0" lvl="0" indent="0" algn="ctr" rtl="0">
                        <a:spcBef>
                          <a:spcPts val="0"/>
                        </a:spcBef>
                        <a:spcAft>
                          <a:spcPts val="0"/>
                        </a:spcAft>
                        <a:buFont typeface="+mj-lt"/>
                        <a:buNone/>
                      </a:pPr>
                      <a:endParaRPr lang="en-US" sz="1400" b="1" u="none" strike="noStrike" cap="none" dirty="0"/>
                    </a:p>
                    <a:p>
                      <a:pPr marL="0" marR="0" lvl="0" indent="0" algn="ctr" rtl="0">
                        <a:spcBef>
                          <a:spcPts val="0"/>
                        </a:spcBef>
                        <a:spcAft>
                          <a:spcPts val="0"/>
                        </a:spcAft>
                        <a:buFont typeface="+mj-lt"/>
                        <a:buNone/>
                      </a:pPr>
                      <a:r>
                        <a:rPr lang="en-US" sz="1400" b="0" u="none" strike="noStrike" cap="none" dirty="0"/>
                        <a:t>20221CDV0026</a:t>
                      </a:r>
                      <a:endParaRPr sz="1400" b="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u="none" strike="noStrike" cap="none" dirty="0"/>
                        <a:t>Harshitha KJ</a:t>
                      </a:r>
                      <a:endParaRPr sz="1600" b="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07845">
                <a:tc>
                  <a:txBody>
                    <a:bodyPr/>
                    <a:lstStyle/>
                    <a:p>
                      <a:pPr marL="0" marR="0" lvl="0" indent="0" algn="ctr" rtl="0">
                        <a:spcBef>
                          <a:spcPts val="0"/>
                        </a:spcBef>
                        <a:spcAft>
                          <a:spcPts val="0"/>
                        </a:spcAft>
                        <a:buNone/>
                      </a:pPr>
                      <a:endParaRPr lang="en-US" sz="1400" b="0" u="none" strike="noStrike" cap="none" dirty="0"/>
                    </a:p>
                    <a:p>
                      <a:pPr marL="0" marR="0" lvl="0" indent="0" algn="ctr" rtl="0">
                        <a:spcBef>
                          <a:spcPts val="0"/>
                        </a:spcBef>
                        <a:spcAft>
                          <a:spcPts val="0"/>
                        </a:spcAft>
                        <a:buNone/>
                      </a:pPr>
                      <a:r>
                        <a:rPr lang="en-US" sz="1400" b="0" u="none" strike="noStrike" cap="none" dirty="0"/>
                        <a:t>20221CDV0038</a:t>
                      </a:r>
                      <a:endParaRPr sz="1400" b="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u="none" strike="noStrike" cap="none" dirty="0"/>
                        <a:t>Susmitha S</a:t>
                      </a:r>
                      <a:endParaRPr sz="1600" b="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59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400" b="1" u="none" strike="noStrike" cap="none" dirty="0"/>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a:t>20221CDV0040</a:t>
                      </a:r>
                    </a:p>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u="none" strike="noStrike" cap="none" dirty="0"/>
                        <a:t>Greeshma</a:t>
                      </a:r>
                      <a:endParaRPr sz="1600" b="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6739">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6739">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639097"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CDV</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Pravinthraja S</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 Dr. H M Manjula</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850"/>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Introduction</a:t>
            </a: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Literature Survey</a:t>
            </a: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Research Gap</a:t>
            </a: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Proposed System Design</a:t>
            </a: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Tools &amp; Technologies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C5904-A5DB-6FBB-1445-4AF0AEAB0286}"/>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Introduction:</a:t>
            </a:r>
            <a:endParaRPr lang="en-IN" dirty="0"/>
          </a:p>
        </p:txBody>
      </p:sp>
      <p:sp>
        <p:nvSpPr>
          <p:cNvPr id="10" name="Rectangle 5">
            <a:extLst>
              <a:ext uri="{FF2B5EF4-FFF2-40B4-BE49-F238E27FC236}">
                <a16:creationId xmlns:a16="http://schemas.microsoft.com/office/drawing/2014/main" id="{A8BD06EC-24FE-C1B7-B674-994CD4130A75}"/>
              </a:ext>
            </a:extLst>
          </p:cNvPr>
          <p:cNvSpPr>
            <a:spLocks noGrp="1" noChangeArrowheads="1"/>
          </p:cNvSpPr>
          <p:nvPr>
            <p:ph type="body" idx="1"/>
          </p:nvPr>
        </p:nvSpPr>
        <p:spPr bwMode="auto">
          <a:xfrm>
            <a:off x="733280" y="1214719"/>
            <a:ext cx="1118134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Livestock such as cattle and buffaloes play a vital role in agriculture, dairy production, and the rural economy.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Proper identification of animal type is important for farm management, breeding, health monitoring, and insurance.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6">
            <a:extLst>
              <a:ext uri="{FF2B5EF4-FFF2-40B4-BE49-F238E27FC236}">
                <a16:creationId xmlns:a16="http://schemas.microsoft.com/office/drawing/2014/main" id="{C537700A-9B83-AF80-65AC-46A8C1048324}"/>
              </a:ext>
            </a:extLst>
          </p:cNvPr>
          <p:cNvSpPr>
            <a:spLocks noChangeArrowheads="1"/>
          </p:cNvSpPr>
          <p:nvPr/>
        </p:nvSpPr>
        <p:spPr bwMode="auto">
          <a:xfrm>
            <a:off x="733280" y="2446153"/>
            <a:ext cx="1144736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With the growth of artificial intelligence, computer vision can be used to automatically identify animals </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from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Image-based classification helps in distinguishing between cattle and buffaloes based on their visual features.</a:t>
            </a:r>
          </a:p>
        </p:txBody>
      </p:sp>
      <p:sp>
        <p:nvSpPr>
          <p:cNvPr id="12" name="Rectangle 7">
            <a:extLst>
              <a:ext uri="{FF2B5EF4-FFF2-40B4-BE49-F238E27FC236}">
                <a16:creationId xmlns:a16="http://schemas.microsoft.com/office/drawing/2014/main" id="{2269743F-982B-67C0-9942-2B9E998A9EC4}"/>
              </a:ext>
            </a:extLst>
          </p:cNvPr>
          <p:cNvSpPr>
            <a:spLocks noChangeArrowheads="1"/>
          </p:cNvSpPr>
          <p:nvPr/>
        </p:nvSpPr>
        <p:spPr bwMode="auto">
          <a:xfrm>
            <a:off x="733280" y="3369483"/>
            <a:ext cx="1053685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system uses digital images of animals as input for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Machine learning and deep learning techniques analyze patterns such as shape, texture, horns, and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body structure.</a:t>
            </a:r>
          </a:p>
        </p:txBody>
      </p:sp>
      <p:sp>
        <p:nvSpPr>
          <p:cNvPr id="13" name="Rectangle 8">
            <a:extLst>
              <a:ext uri="{FF2B5EF4-FFF2-40B4-BE49-F238E27FC236}">
                <a16:creationId xmlns:a16="http://schemas.microsoft.com/office/drawing/2014/main" id="{47F8EE27-2641-C4A8-1043-DAEE37B1EE19}"/>
              </a:ext>
            </a:extLst>
          </p:cNvPr>
          <p:cNvSpPr>
            <a:spLocks noChangeArrowheads="1"/>
          </p:cNvSpPr>
          <p:nvPr/>
        </p:nvSpPr>
        <p:spPr bwMode="auto">
          <a:xfrm>
            <a:off x="733280" y="46496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Once trained, the system can predict the animal type when a new image is given.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approach reduces manual effort and improves accuracy and efficiency.</a:t>
            </a:r>
          </a:p>
        </p:txBody>
      </p:sp>
    </p:spTree>
    <p:extLst>
      <p:ext uri="{BB962C8B-B14F-4D97-AF65-F5344CB8AC3E}">
        <p14:creationId xmlns:p14="http://schemas.microsoft.com/office/powerpoint/2010/main" val="1084233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524F0-336B-F050-FC2C-710B6A271818}"/>
              </a:ext>
            </a:extLst>
          </p:cNvPr>
          <p:cNvSpPr>
            <a:spLocks noGrp="1"/>
          </p:cNvSpPr>
          <p:nvPr>
            <p:ph type="title"/>
          </p:nvPr>
        </p:nvSpPr>
        <p:spPr/>
        <p:txBody>
          <a:bodyPr/>
          <a:lstStyle/>
          <a:p>
            <a:r>
              <a:rPr lang="en-US" sz="36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Literature Review</a:t>
            </a:r>
            <a:endParaRPr lang="en-IN" sz="36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48183686-7D26-CC08-0BF4-268F154A06D7}"/>
              </a:ext>
            </a:extLst>
          </p:cNvPr>
          <p:cNvSpPr>
            <a:spLocks noGrp="1"/>
          </p:cNvSpPr>
          <p:nvPr>
            <p:ph type="body" idx="1"/>
          </p:nvPr>
        </p:nvSpPr>
        <p:spPr/>
        <p:txBody>
          <a:bodyPr>
            <a:normAutofit fontScale="92500" lnSpcReduction="10000"/>
          </a:bodyPr>
          <a:lstStyle/>
          <a:p>
            <a:pPr algn="just"/>
            <a:r>
              <a:rPr lang="en-US" sz="1900" dirty="0">
                <a:latin typeface="Times New Roman" panose="02020603050405020304" pitchFamily="18" charset="0"/>
                <a:cs typeface="Times New Roman" panose="02020603050405020304" pitchFamily="18" charset="0"/>
              </a:rPr>
              <a:t>Recent research demonstrates that Convolutional Neural Network (CNN) based deep learning models are highly effective for livestock image classification, achieving good accuracy in identifying animal species such as cows, buffaloes, sheep, and goats.</a:t>
            </a:r>
          </a:p>
          <a:p>
            <a:pPr algn="just"/>
            <a:r>
              <a:rPr lang="en-US" sz="1900" dirty="0">
                <a:latin typeface="Times New Roman" panose="02020603050405020304" pitchFamily="18" charset="0"/>
                <a:cs typeface="Times New Roman" panose="02020603050405020304" pitchFamily="18" charset="0"/>
              </a:rPr>
              <a:t>Most existing studies primarily focus on animal type identification or breed classification using supervised learning techniques. These works mainly address classification accuracy but do not extend toward complete livestock management solutions.</a:t>
            </a:r>
          </a:p>
          <a:p>
            <a:pPr algn="just"/>
            <a:r>
              <a:rPr lang="en-US" sz="1900" dirty="0">
                <a:latin typeface="Times New Roman" panose="02020603050405020304" pitchFamily="18" charset="0"/>
                <a:cs typeface="Times New Roman" panose="02020603050405020304" pitchFamily="18" charset="0"/>
              </a:rPr>
              <a:t>Only a limited number of studies attempt health analysis using visual features, and even these are restricted to basic symptom detection without systematic validation or explainability.</a:t>
            </a:r>
          </a:p>
          <a:p>
            <a:pPr algn="just"/>
            <a:r>
              <a:rPr lang="en-US" sz="1900" dirty="0">
                <a:latin typeface="Times New Roman" panose="02020603050405020304" pitchFamily="18" charset="0"/>
                <a:cs typeface="Times New Roman" panose="02020603050405020304" pitchFamily="18" charset="0"/>
              </a:rPr>
              <a:t>Additionally, many current livestock management systems rely on manual record keeping or RFID-based identification, which increases operational cost, requires physical tagging, and is prone to duplication, data inconsistency, and human error.</a:t>
            </a:r>
          </a:p>
          <a:p>
            <a:pPr algn="just"/>
            <a:r>
              <a:rPr lang="en-US" sz="1900" dirty="0">
                <a:latin typeface="Times New Roman" panose="02020603050405020304" pitchFamily="18" charset="0"/>
                <a:cs typeface="Times New Roman" panose="02020603050405020304" pitchFamily="18" charset="0"/>
              </a:rPr>
              <a:t>Very few systems incorporate duplicate detection mechanisms to prevent multiple registrations of the same animal. Moreover, the use of Explainable Artificial Intelligence (XAI) techniques to justify AI decisions is largely absent in existing research.</a:t>
            </a:r>
          </a:p>
          <a:p>
            <a:r>
              <a:rPr lang="en-US" sz="1900" b="1" dirty="0">
                <a:latin typeface="Times New Roman" panose="02020603050405020304" pitchFamily="18" charset="0"/>
                <a:cs typeface="Times New Roman" panose="02020603050405020304" pitchFamily="18" charset="0"/>
              </a:rPr>
              <a:t>Inference:</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From the literature survey, it is evident that current solutions are fragmented, feature-specific, and not system-oriented, highlighting the need for an integrated, explainable, and end-to-end AI-based livestock identification and analysis system.</a:t>
            </a:r>
          </a:p>
          <a:p>
            <a:endParaRPr lang="en-US" dirty="0"/>
          </a:p>
        </p:txBody>
      </p:sp>
    </p:spTree>
    <p:extLst>
      <p:ext uri="{BB962C8B-B14F-4D97-AF65-F5344CB8AC3E}">
        <p14:creationId xmlns:p14="http://schemas.microsoft.com/office/powerpoint/2010/main" val="1009698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82A5-B217-D6AA-496D-E328F94DE80E}"/>
              </a:ext>
            </a:extLst>
          </p:cNvPr>
          <p:cNvSpPr>
            <a:spLocks noGrp="1"/>
          </p:cNvSpPr>
          <p:nvPr>
            <p:ph type="title"/>
          </p:nvPr>
        </p:nvSpPr>
        <p:spPr>
          <a:xfrm>
            <a:off x="812800" y="274499"/>
            <a:ext cx="10668000" cy="487500"/>
          </a:xfrm>
        </p:spPr>
        <p:txBody>
          <a:bodyPr/>
          <a:lstStyle/>
          <a:p>
            <a:r>
              <a:rPr lang="en-US" dirty="0">
                <a:latin typeface="Cambria" panose="02040503050406030204" pitchFamily="18" charset="0"/>
                <a:ea typeface="Cambria" panose="02040503050406030204" pitchFamily="18" charset="0"/>
              </a:rPr>
              <a:t>Research Gap &amp; Motivation</a:t>
            </a:r>
            <a:endParaRPr lang="en-IN" dirty="0"/>
          </a:p>
        </p:txBody>
      </p:sp>
      <p:sp>
        <p:nvSpPr>
          <p:cNvPr id="6" name="Rectangle 2">
            <a:extLst>
              <a:ext uri="{FF2B5EF4-FFF2-40B4-BE49-F238E27FC236}">
                <a16:creationId xmlns:a16="http://schemas.microsoft.com/office/drawing/2014/main" id="{4074FAD8-4BB2-4CD2-E310-8E5498977F51}"/>
              </a:ext>
            </a:extLst>
          </p:cNvPr>
          <p:cNvSpPr>
            <a:spLocks noGrp="1" noChangeArrowheads="1"/>
          </p:cNvSpPr>
          <p:nvPr>
            <p:ph type="body" idx="1"/>
          </p:nvPr>
        </p:nvSpPr>
        <p:spPr bwMode="auto">
          <a:xfrm>
            <a:off x="762000" y="1000638"/>
            <a:ext cx="10668000" cy="632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sz="1800" b="1" dirty="0">
                <a:latin typeface="Times New Roman" panose="02020603050405020304" pitchFamily="18" charset="0"/>
                <a:cs typeface="Times New Roman" panose="02020603050405020304" pitchFamily="18" charset="0"/>
              </a:rPr>
              <a:t>Identified Research Gaps</a:t>
            </a:r>
          </a:p>
          <a:p>
            <a:pPr algn="just"/>
            <a:r>
              <a:rPr lang="en-US" sz="1800" dirty="0">
                <a:latin typeface="Times New Roman" panose="02020603050405020304" pitchFamily="18" charset="0"/>
                <a:cs typeface="Times New Roman" panose="02020603050405020304" pitchFamily="18" charset="0"/>
              </a:rPr>
              <a:t>Existing systems do not provide a unique and persistent digital identity for each livestock animal.</a:t>
            </a:r>
          </a:p>
          <a:p>
            <a:pPr algn="just"/>
            <a:r>
              <a:rPr lang="en-US" sz="1800" dirty="0">
                <a:latin typeface="Times New Roman" panose="02020603050405020304" pitchFamily="18" charset="0"/>
                <a:cs typeface="Times New Roman" panose="02020603050405020304" pitchFamily="18" charset="0"/>
              </a:rPr>
              <a:t>There is no effective duplicate or fraud detection mechanism, leading to multiple registrations and misuse of records.</a:t>
            </a:r>
          </a:p>
          <a:p>
            <a:pPr algn="just"/>
            <a:r>
              <a:rPr lang="en-US" sz="1800" dirty="0">
                <a:latin typeface="Times New Roman" panose="02020603050405020304" pitchFamily="18" charset="0"/>
                <a:cs typeface="Times New Roman" panose="02020603050405020304" pitchFamily="18" charset="0"/>
              </a:rPr>
              <a:t>Health analysis is either very limited or completely absent, especially in terms of visual health risk indicators.</a:t>
            </a:r>
          </a:p>
          <a:p>
            <a:pPr algn="just"/>
            <a:r>
              <a:rPr lang="en-US" sz="1800" dirty="0">
                <a:latin typeface="Times New Roman" panose="02020603050405020304" pitchFamily="18" charset="0"/>
                <a:cs typeface="Times New Roman" panose="02020603050405020304" pitchFamily="18" charset="0"/>
              </a:rPr>
              <a:t>Most models operate as black boxes, lacking Explainable AI (XAI) features to justify predictions and build user trust.</a:t>
            </a:r>
          </a:p>
          <a:p>
            <a:pPr algn="just"/>
            <a:r>
              <a:rPr lang="en-US" sz="1800" dirty="0">
                <a:latin typeface="Times New Roman" panose="02020603050405020304" pitchFamily="18" charset="0"/>
                <a:cs typeface="Times New Roman" panose="02020603050405020304" pitchFamily="18" charset="0"/>
              </a:rPr>
              <a:t>Current solutions are not end-to-end systems; they lack proper integration of AI models, user interface, and database management.</a:t>
            </a:r>
          </a:p>
          <a:p>
            <a:pPr marL="76200" indent="0">
              <a:buNone/>
            </a:pPr>
            <a:r>
              <a:rPr lang="en-US" sz="1800" b="1" dirty="0">
                <a:latin typeface="Times New Roman" panose="02020603050405020304" pitchFamily="18" charset="0"/>
                <a:cs typeface="Times New Roman" panose="02020603050405020304" pitchFamily="18" charset="0"/>
              </a:rPr>
              <a:t>Motivation</a:t>
            </a:r>
          </a:p>
          <a:p>
            <a:pPr algn="just"/>
            <a:r>
              <a:rPr lang="en-US" sz="1800" dirty="0">
                <a:latin typeface="Times New Roman" panose="02020603050405020304" pitchFamily="18" charset="0"/>
                <a:cs typeface="Times New Roman" panose="02020603050405020304" pitchFamily="18" charset="0"/>
              </a:rPr>
              <a:t>The motivation of this work is to design and develop a complete AI-based smart livestock identification system that integrates deep learning, image processing, explainable AI, and database management to provide an accurate, transparent, and scalable solution for real-world livestock management.</a:t>
            </a:r>
          </a:p>
          <a:p>
            <a:pPr marL="0" lvl="0" indent="0" eaLnBrk="0" fontAlgn="base" hangingPunct="0">
              <a:spcBef>
                <a:spcPct val="0"/>
              </a:spcBef>
              <a:spcAft>
                <a:spcPct val="0"/>
              </a:spcAft>
              <a:buClrTx/>
              <a:buSzTx/>
              <a:buNone/>
            </a:pPr>
            <a:endParaRPr lang="en-US" altLang="en-US" sz="2000"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endParaRPr lang="en-US" altLang="en-US" sz="2000"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endParaRPr lang="en-US" altLang="en-US" sz="2000"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solidFill>
                <a:schemeClr val="tx1"/>
              </a:solidFill>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34678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6F33-FB9D-5FA9-56F0-E9D7F9299187}"/>
              </a:ext>
            </a:extLst>
          </p:cNvPr>
          <p:cNvSpPr>
            <a:spLocks noGrp="1"/>
          </p:cNvSpPr>
          <p:nvPr>
            <p:ph type="title"/>
          </p:nvPr>
        </p:nvSpPr>
        <p:spPr/>
        <p:txBody>
          <a:bodyPr/>
          <a:lstStyle/>
          <a:p>
            <a:pPr marL="495300" indent="-342900">
              <a:lnSpc>
                <a:spcPct val="200000"/>
              </a:lnSpc>
            </a:pPr>
            <a:r>
              <a:rPr lang="en-US" dirty="0">
                <a:solidFill>
                  <a:schemeClr val="tx1"/>
                </a:solidFill>
                <a:latin typeface="Cambria" panose="02040503050406030204" pitchFamily="18" charset="0"/>
                <a:ea typeface="Cambria" panose="02040503050406030204" pitchFamily="18" charset="0"/>
              </a:rPr>
              <a:t>Proposed System Overview</a:t>
            </a:r>
          </a:p>
        </p:txBody>
      </p:sp>
      <p:sp>
        <p:nvSpPr>
          <p:cNvPr id="7" name="Rectangle 2">
            <a:extLst>
              <a:ext uri="{FF2B5EF4-FFF2-40B4-BE49-F238E27FC236}">
                <a16:creationId xmlns:a16="http://schemas.microsoft.com/office/drawing/2014/main" id="{62EA1C74-2817-3844-175F-0B2D7C001964}"/>
              </a:ext>
            </a:extLst>
          </p:cNvPr>
          <p:cNvSpPr>
            <a:spLocks noGrp="1" noChangeArrowheads="1"/>
          </p:cNvSpPr>
          <p:nvPr>
            <p:ph type="body" idx="1"/>
          </p:nvPr>
        </p:nvSpPr>
        <p:spPr bwMode="auto">
          <a:xfrm>
            <a:off x="812802" y="1152736"/>
            <a:ext cx="10667998" cy="45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sz="1600" b="1" dirty="0">
                <a:latin typeface="Times New Roman" panose="02020603050405020304" pitchFamily="18" charset="0"/>
                <a:cs typeface="Times New Roman" panose="02020603050405020304" pitchFamily="18" charset="0"/>
              </a:rPr>
              <a:t>AI-Based Smart Livestock Identification System</a:t>
            </a:r>
          </a:p>
          <a:p>
            <a:pPr algn="just"/>
            <a:r>
              <a:rPr lang="en-US" sz="1600" dirty="0">
                <a:latin typeface="Times New Roman" panose="02020603050405020304" pitchFamily="18" charset="0"/>
                <a:cs typeface="Times New Roman" panose="02020603050405020304" pitchFamily="18" charset="0"/>
              </a:rPr>
              <a:t>The proposed system is an intelligent, image-based livestock identification platform that utilizes deep learning and computer vision techniques to automate livestock analysis and management.</a:t>
            </a:r>
          </a:p>
          <a:p>
            <a:pPr marL="76200" indent="0">
              <a:buNone/>
            </a:pPr>
            <a:r>
              <a:rPr lang="en-US" sz="1600" b="1" dirty="0">
                <a:latin typeface="Times New Roman" panose="02020603050405020304" pitchFamily="18" charset="0"/>
                <a:cs typeface="Times New Roman" panose="02020603050405020304" pitchFamily="18" charset="0"/>
              </a:rPr>
              <a:t>Key Features</a:t>
            </a:r>
          </a:p>
          <a:p>
            <a:r>
              <a:rPr lang="en-US" sz="1600" b="1" dirty="0">
                <a:latin typeface="Times New Roman" panose="02020603050405020304" pitchFamily="18" charset="0"/>
                <a:cs typeface="Times New Roman" panose="02020603050405020304" pitchFamily="18" charset="0"/>
              </a:rPr>
              <a:t>Animal Type Identification:</a:t>
            </a:r>
            <a:r>
              <a:rPr lang="en-US" sz="1600" dirty="0">
                <a:latin typeface="Times New Roman" panose="02020603050405020304" pitchFamily="18" charset="0"/>
                <a:cs typeface="Times New Roman" panose="02020603050405020304" pitchFamily="18" charset="0"/>
              </a:rPr>
              <a:t> Automatic classification of livestock as cow or buffalo</a:t>
            </a:r>
          </a:p>
          <a:p>
            <a:r>
              <a:rPr lang="en-US" sz="1600" b="1" dirty="0">
                <a:latin typeface="Times New Roman" panose="02020603050405020304" pitchFamily="18" charset="0"/>
                <a:cs typeface="Times New Roman" panose="02020603050405020304" pitchFamily="18" charset="0"/>
              </a:rPr>
              <a:t>Breed Classification:</a:t>
            </a:r>
            <a:r>
              <a:rPr lang="en-US" sz="1600" dirty="0">
                <a:latin typeface="Times New Roman" panose="02020603050405020304" pitchFamily="18" charset="0"/>
                <a:cs typeface="Times New Roman" panose="02020603050405020304" pitchFamily="18" charset="0"/>
              </a:rPr>
              <a:t> Identification of specific breeds using deep learning models</a:t>
            </a:r>
          </a:p>
          <a:p>
            <a:r>
              <a:rPr lang="en-US" sz="1600" b="1" dirty="0">
                <a:latin typeface="Times New Roman" panose="02020603050405020304" pitchFamily="18" charset="0"/>
                <a:cs typeface="Times New Roman" panose="02020603050405020304" pitchFamily="18" charset="0"/>
              </a:rPr>
              <a:t>Digital Profile Creation:</a:t>
            </a:r>
            <a:r>
              <a:rPr lang="en-US" sz="1600" dirty="0">
                <a:latin typeface="Times New Roman" panose="02020603050405020304" pitchFamily="18" charset="0"/>
                <a:cs typeface="Times New Roman" panose="02020603050405020304" pitchFamily="18" charset="0"/>
              </a:rPr>
              <a:t> Creation of a unique digital identity for each animal, including image and metadata</a:t>
            </a:r>
          </a:p>
          <a:p>
            <a:r>
              <a:rPr lang="en-US" sz="1600" b="1" dirty="0">
                <a:latin typeface="Times New Roman" panose="02020603050405020304" pitchFamily="18" charset="0"/>
                <a:cs typeface="Times New Roman" panose="02020603050405020304" pitchFamily="18" charset="0"/>
              </a:rPr>
              <a:t>Duplicate Detection:</a:t>
            </a:r>
            <a:r>
              <a:rPr lang="en-US" sz="1600" dirty="0">
                <a:latin typeface="Times New Roman" panose="02020603050405020304" pitchFamily="18" charset="0"/>
                <a:cs typeface="Times New Roman" panose="02020603050405020304" pitchFamily="18" charset="0"/>
              </a:rPr>
              <a:t> Prevention of multiple registrations using image feature similarity analysis</a:t>
            </a:r>
          </a:p>
          <a:p>
            <a:r>
              <a:rPr lang="en-US" sz="1600" b="1" dirty="0">
                <a:latin typeface="Times New Roman" panose="02020603050405020304" pitchFamily="18" charset="0"/>
                <a:cs typeface="Times New Roman" panose="02020603050405020304" pitchFamily="18" charset="0"/>
              </a:rPr>
              <a:t>Visual Health Risk Analysis:</a:t>
            </a:r>
            <a:r>
              <a:rPr lang="en-US" sz="1600" dirty="0">
                <a:latin typeface="Times New Roman" panose="02020603050405020304" pitchFamily="18" charset="0"/>
                <a:cs typeface="Times New Roman" panose="02020603050405020304" pitchFamily="18" charset="0"/>
              </a:rPr>
              <a:t> Detection of basic health risk indicators from visible features</a:t>
            </a:r>
          </a:p>
          <a:p>
            <a:r>
              <a:rPr lang="en-US" sz="1600" b="1" dirty="0">
                <a:latin typeface="Times New Roman" panose="02020603050405020304" pitchFamily="18" charset="0"/>
                <a:cs typeface="Times New Roman" panose="02020603050405020304" pitchFamily="18" charset="0"/>
              </a:rPr>
              <a:t>Explainable AI:</a:t>
            </a:r>
            <a:r>
              <a:rPr lang="en-US" sz="1600" dirty="0">
                <a:latin typeface="Times New Roman" panose="02020603050405020304" pitchFamily="18" charset="0"/>
                <a:cs typeface="Times New Roman" panose="02020603050405020304" pitchFamily="18" charset="0"/>
              </a:rPr>
              <a:t> Generation of heatmaps to visually explain AI decision-making</a:t>
            </a:r>
          </a:p>
          <a:p>
            <a:pPr marL="76200" indent="0">
              <a:buNone/>
            </a:pPr>
            <a:r>
              <a:rPr lang="en-US" sz="1600" b="1" dirty="0">
                <a:latin typeface="Times New Roman" panose="02020603050405020304" pitchFamily="18" charset="0"/>
                <a:cs typeface="Times New Roman" panose="02020603050405020304" pitchFamily="18" charset="0"/>
              </a:rPr>
              <a:t>Approach</a:t>
            </a:r>
          </a:p>
          <a:p>
            <a:pPr algn="just"/>
            <a:r>
              <a:rPr lang="en-US" sz="1600" dirty="0">
                <a:latin typeface="Times New Roman" panose="02020603050405020304" pitchFamily="18" charset="0"/>
                <a:cs typeface="Times New Roman" panose="02020603050405020304" pitchFamily="18" charset="0"/>
              </a:rPr>
              <a:t>The system follows an image-based automated analysis approach, where livestock images are processed through a CNN-based deep learning model to perform classification, analysis, and decision support with improved accuracy and transparency.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66935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D4A3-60BF-F90F-88CD-BA67F03F2379}"/>
              </a:ext>
            </a:extLst>
          </p:cNvPr>
          <p:cNvSpPr>
            <a:spLocks noGrp="1"/>
          </p:cNvSpPr>
          <p:nvPr>
            <p:ph type="title"/>
          </p:nvPr>
        </p:nvSpPr>
        <p:spPr>
          <a:xfrm>
            <a:off x="802967" y="372961"/>
            <a:ext cx="7721700" cy="487500"/>
          </a:xfrm>
        </p:spPr>
        <p:txBody>
          <a:bodyPr/>
          <a:lstStyle/>
          <a:p>
            <a:r>
              <a:rPr lang="en-US" dirty="0">
                <a:solidFill>
                  <a:schemeClr val="tx1">
                    <a:lumMod val="85000"/>
                    <a:lumOff val="15000"/>
                  </a:schemeClr>
                </a:solidFill>
                <a:latin typeface="Times New Roman" panose="02020603050405020304" pitchFamily="18" charset="0"/>
                <a:cs typeface="Times New Roman" panose="02020603050405020304" pitchFamily="18" charset="0"/>
              </a:rPr>
              <a:t>System Architecture &amp; Model Design</a:t>
            </a:r>
          </a:p>
        </p:txBody>
      </p:sp>
      <p:sp>
        <p:nvSpPr>
          <p:cNvPr id="4" name="TextBox 3">
            <a:extLst>
              <a:ext uri="{FF2B5EF4-FFF2-40B4-BE49-F238E27FC236}">
                <a16:creationId xmlns:a16="http://schemas.microsoft.com/office/drawing/2014/main" id="{E0E3D296-08FF-E420-020E-B0854EA8809B}"/>
              </a:ext>
            </a:extLst>
          </p:cNvPr>
          <p:cNvSpPr txBox="1"/>
          <p:nvPr/>
        </p:nvSpPr>
        <p:spPr>
          <a:xfrm>
            <a:off x="802967" y="1324848"/>
            <a:ext cx="6096000" cy="4110741"/>
          </a:xfrm>
          <a:prstGeom prst="rect">
            <a:avLst/>
          </a:prstGeom>
          <a:noFill/>
        </p:spPr>
        <p:txBody>
          <a:bodyPr wrap="square">
            <a:spAutoFit/>
          </a:bodyPr>
          <a:lstStyle/>
          <a:p>
            <a:pPr>
              <a:lnSpc>
                <a:spcPct val="150000"/>
              </a:lnSpc>
              <a:buNone/>
            </a:pPr>
            <a:r>
              <a:rPr lang="en-US" sz="1600" b="1" dirty="0">
                <a:latin typeface="Times New Roman" panose="02020603050405020304" pitchFamily="18" charset="0"/>
                <a:cs typeface="Times New Roman" panose="02020603050405020304" pitchFamily="18" charset="0"/>
              </a:rPr>
              <a:t>Workflow:</a:t>
            </a:r>
            <a:endParaRPr lang="en-US" sz="1600" dirty="0">
              <a:latin typeface="Times New Roman" panose="02020603050405020304" pitchFamily="18" charset="0"/>
              <a:cs typeface="Times New Roman" panose="02020603050405020304" pitchFamily="18" charset="0"/>
            </a:endParaRPr>
          </a:p>
          <a:p>
            <a:pPr>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Image Input</a:t>
            </a:r>
          </a:p>
          <a:p>
            <a:pPr>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Image Preprocessing</a:t>
            </a:r>
          </a:p>
          <a:p>
            <a:pPr>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CNN-based AI Model</a:t>
            </a:r>
          </a:p>
          <a:p>
            <a:pPr>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Classification &amp; Health Analysis</a:t>
            </a:r>
          </a:p>
          <a:p>
            <a:pPr>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Duplicate Detection</a:t>
            </a:r>
          </a:p>
          <a:p>
            <a:pPr>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Results with Explainable AI</a:t>
            </a:r>
          </a:p>
          <a:p>
            <a:pPr>
              <a:lnSpc>
                <a:spcPct val="150000"/>
              </a:lnSpc>
              <a:buNone/>
            </a:pPr>
            <a:endParaRPr lang="en-US" sz="1600" b="1" dirty="0">
              <a:latin typeface="Times New Roman" panose="02020603050405020304" pitchFamily="18" charset="0"/>
              <a:cs typeface="Times New Roman" panose="02020603050405020304" pitchFamily="18" charset="0"/>
            </a:endParaRPr>
          </a:p>
          <a:p>
            <a:pPr>
              <a:lnSpc>
                <a:spcPct val="150000"/>
              </a:lnSpc>
              <a:buNone/>
            </a:pPr>
            <a:r>
              <a:rPr lang="en-US" sz="1600" b="1" dirty="0">
                <a:latin typeface="Times New Roman" panose="02020603050405020304" pitchFamily="18" charset="0"/>
                <a:cs typeface="Times New Roman" panose="02020603050405020304" pitchFamily="18" charset="0"/>
              </a:rPr>
              <a:t>Model Used:</a:t>
            </a:r>
            <a:endParaRPr lang="en-US" sz="16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Convolutional Neural Network (CNN) for feature extraction and classification</a:t>
            </a:r>
          </a:p>
        </p:txBody>
      </p:sp>
      <p:pic>
        <p:nvPicPr>
          <p:cNvPr id="6" name="Picture 5">
            <a:extLst>
              <a:ext uri="{FF2B5EF4-FFF2-40B4-BE49-F238E27FC236}">
                <a16:creationId xmlns:a16="http://schemas.microsoft.com/office/drawing/2014/main" id="{C89DFC95-8A74-E3DD-1DD4-A8119B5FF746}"/>
              </a:ext>
            </a:extLst>
          </p:cNvPr>
          <p:cNvPicPr>
            <a:picLocks noChangeAspect="1"/>
          </p:cNvPicPr>
          <p:nvPr/>
        </p:nvPicPr>
        <p:blipFill>
          <a:blip r:embed="rId2"/>
          <a:stretch>
            <a:fillRect/>
          </a:stretch>
        </p:blipFill>
        <p:spPr>
          <a:xfrm>
            <a:off x="6420464" y="1324848"/>
            <a:ext cx="5507294" cy="3996813"/>
          </a:xfrm>
          <a:prstGeom prst="rect">
            <a:avLst/>
          </a:prstGeom>
        </p:spPr>
      </p:pic>
      <p:sp>
        <p:nvSpPr>
          <p:cNvPr id="8" name="TextBox 7">
            <a:extLst>
              <a:ext uri="{FF2B5EF4-FFF2-40B4-BE49-F238E27FC236}">
                <a16:creationId xmlns:a16="http://schemas.microsoft.com/office/drawing/2014/main" id="{7F77CD9F-D317-E0D6-43FA-D87061E7C885}"/>
              </a:ext>
            </a:extLst>
          </p:cNvPr>
          <p:cNvSpPr txBox="1"/>
          <p:nvPr/>
        </p:nvSpPr>
        <p:spPr>
          <a:xfrm>
            <a:off x="6420464" y="5321661"/>
            <a:ext cx="6096000" cy="261610"/>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FIG 1: System Architecture and Model Design of AI-Based Smart Livestock Identification System</a:t>
            </a:r>
          </a:p>
        </p:txBody>
      </p:sp>
    </p:spTree>
    <p:extLst>
      <p:ext uri="{BB962C8B-B14F-4D97-AF65-F5344CB8AC3E}">
        <p14:creationId xmlns:p14="http://schemas.microsoft.com/office/powerpoint/2010/main" val="1132072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22332-940E-74E9-5A01-7A3080E6ABC7}"/>
              </a:ext>
            </a:extLst>
          </p:cNvPr>
          <p:cNvSpPr>
            <a:spLocks noGrp="1"/>
          </p:cNvSpPr>
          <p:nvPr>
            <p:ph type="title"/>
          </p:nvPr>
        </p:nvSpPr>
        <p:spPr/>
        <p:txBody>
          <a:bodyPr/>
          <a:lstStyle/>
          <a:p>
            <a:r>
              <a:rPr lang="en-US" dirty="0"/>
              <a:t>Tools &amp; Technologies Used</a:t>
            </a:r>
          </a:p>
        </p:txBody>
      </p:sp>
      <p:sp>
        <p:nvSpPr>
          <p:cNvPr id="3" name="Text Placeholder 2">
            <a:extLst>
              <a:ext uri="{FF2B5EF4-FFF2-40B4-BE49-F238E27FC236}">
                <a16:creationId xmlns:a16="http://schemas.microsoft.com/office/drawing/2014/main" id="{6EEF546C-54B5-D714-00EC-30D6613CCF7F}"/>
              </a:ext>
            </a:extLst>
          </p:cNvPr>
          <p:cNvSpPr>
            <a:spLocks noGrp="1"/>
          </p:cNvSpPr>
          <p:nvPr>
            <p:ph type="body" idx="1"/>
          </p:nvPr>
        </p:nvSpPr>
        <p:spPr/>
        <p:txBody>
          <a:bodyPr>
            <a:normAutofit lnSpcReduction="10000"/>
          </a:bodyPr>
          <a:lstStyle/>
          <a:p>
            <a:pPr marL="76200" indent="0">
              <a:lnSpc>
                <a:spcPct val="150000"/>
              </a:lnSpc>
              <a:buNone/>
            </a:pPr>
            <a:r>
              <a:rPr lang="en-US" sz="1600" b="1" dirty="0">
                <a:latin typeface="Times New Roman" panose="02020603050405020304" pitchFamily="18" charset="0"/>
                <a:cs typeface="Times New Roman" panose="02020603050405020304" pitchFamily="18" charset="0"/>
              </a:rPr>
              <a:t>AI &amp; Image Processing</a:t>
            </a:r>
          </a:p>
          <a:p>
            <a:pPr>
              <a:lnSpc>
                <a:spcPct val="150000"/>
              </a:lnSpc>
            </a:pPr>
            <a:r>
              <a:rPr lang="en-US" sz="1600" dirty="0">
                <a:latin typeface="Times New Roman" panose="02020603050405020304" pitchFamily="18" charset="0"/>
                <a:cs typeface="Times New Roman" panose="02020603050405020304" pitchFamily="18" charset="0"/>
              </a:rPr>
              <a:t>Python – Core programming language</a:t>
            </a:r>
          </a:p>
          <a:p>
            <a:pPr>
              <a:lnSpc>
                <a:spcPct val="150000"/>
              </a:lnSpc>
            </a:pPr>
            <a:r>
              <a:rPr lang="en-US" sz="1600" dirty="0">
                <a:latin typeface="Times New Roman" panose="02020603050405020304" pitchFamily="18" charset="0"/>
                <a:cs typeface="Times New Roman" panose="02020603050405020304" pitchFamily="18" charset="0"/>
              </a:rPr>
              <a:t>TensorFlow / </a:t>
            </a:r>
            <a:r>
              <a:rPr lang="en-US" sz="1600" dirty="0" err="1">
                <a:latin typeface="Times New Roman" panose="02020603050405020304" pitchFamily="18" charset="0"/>
                <a:cs typeface="Times New Roman" panose="02020603050405020304" pitchFamily="18" charset="0"/>
              </a:rPr>
              <a:t>PyTorch</a:t>
            </a:r>
            <a:r>
              <a:rPr lang="en-US" sz="1600" dirty="0">
                <a:latin typeface="Times New Roman" panose="02020603050405020304" pitchFamily="18" charset="0"/>
                <a:cs typeface="Times New Roman" panose="02020603050405020304" pitchFamily="18" charset="0"/>
              </a:rPr>
              <a:t> – Deep learning frameworks</a:t>
            </a:r>
          </a:p>
          <a:p>
            <a:pPr>
              <a:lnSpc>
                <a:spcPct val="150000"/>
              </a:lnSpc>
            </a:pPr>
            <a:r>
              <a:rPr lang="en-US" sz="1600" dirty="0">
                <a:latin typeface="Times New Roman" panose="02020603050405020304" pitchFamily="18" charset="0"/>
                <a:cs typeface="Times New Roman" panose="02020603050405020304" pitchFamily="18" charset="0"/>
              </a:rPr>
              <a:t>Convolutional Neural Networks (CNN) – Image feature extraction and classification</a:t>
            </a:r>
          </a:p>
          <a:p>
            <a:pPr>
              <a:lnSpc>
                <a:spcPct val="150000"/>
              </a:lnSpc>
            </a:pPr>
            <a:r>
              <a:rPr lang="en-US" sz="1600" dirty="0">
                <a:latin typeface="Times New Roman" panose="02020603050405020304" pitchFamily="18" charset="0"/>
                <a:cs typeface="Times New Roman" panose="02020603050405020304" pitchFamily="18" charset="0"/>
              </a:rPr>
              <a:t>OpenCV – Image preprocessing and enhancement</a:t>
            </a:r>
          </a:p>
          <a:p>
            <a:pPr marL="76200" indent="0">
              <a:lnSpc>
                <a:spcPct val="150000"/>
              </a:lnSpc>
              <a:buNone/>
            </a:pPr>
            <a:r>
              <a:rPr lang="en-US" sz="1600" b="1" dirty="0">
                <a:latin typeface="Times New Roman" panose="02020603050405020304" pitchFamily="18" charset="0"/>
                <a:cs typeface="Times New Roman" panose="02020603050405020304" pitchFamily="18" charset="0"/>
              </a:rPr>
              <a:t>User Interface</a:t>
            </a:r>
          </a:p>
          <a:p>
            <a:pPr>
              <a:lnSpc>
                <a:spcPct val="150000"/>
              </a:lnSpc>
            </a:pPr>
            <a:r>
              <a:rPr lang="en-US" sz="1600" dirty="0">
                <a:latin typeface="Times New Roman" panose="02020603050405020304" pitchFamily="18" charset="0"/>
                <a:cs typeface="Times New Roman" panose="02020603050405020304" pitchFamily="18" charset="0"/>
              </a:rPr>
              <a:t>Flutter / ReactJS – User-friendly interface for image upload and result display</a:t>
            </a:r>
          </a:p>
          <a:p>
            <a:pPr marL="76200" indent="0">
              <a:lnSpc>
                <a:spcPct val="150000"/>
              </a:lnSpc>
              <a:buNone/>
            </a:pPr>
            <a:r>
              <a:rPr lang="en-US" sz="1600" b="1" dirty="0">
                <a:latin typeface="Times New Roman" panose="02020603050405020304" pitchFamily="18" charset="0"/>
                <a:cs typeface="Times New Roman" panose="02020603050405020304" pitchFamily="18" charset="0"/>
              </a:rPr>
              <a:t>Database</a:t>
            </a:r>
          </a:p>
          <a:p>
            <a:pPr>
              <a:lnSpc>
                <a:spcPct val="150000"/>
              </a:lnSpc>
            </a:pPr>
            <a:r>
              <a:rPr lang="en-US" sz="1600" dirty="0">
                <a:latin typeface="Times New Roman" panose="02020603050405020304" pitchFamily="18" charset="0"/>
                <a:cs typeface="Times New Roman" panose="02020603050405020304" pitchFamily="18" charset="0"/>
              </a:rPr>
              <a:t>SQLite / PostgreSQL – Storage of animal images, profiles, and metadata</a:t>
            </a:r>
          </a:p>
          <a:p>
            <a:pPr marL="76200" indent="0">
              <a:lnSpc>
                <a:spcPct val="150000"/>
              </a:lnSpc>
              <a:buNone/>
            </a:pPr>
            <a:r>
              <a:rPr lang="en-US" sz="1600" b="1" dirty="0">
                <a:latin typeface="Times New Roman" panose="02020603050405020304" pitchFamily="18" charset="0"/>
                <a:cs typeface="Times New Roman" panose="02020603050405020304" pitchFamily="18" charset="0"/>
              </a:rPr>
              <a:t>Visualization</a:t>
            </a:r>
          </a:p>
          <a:p>
            <a:pPr>
              <a:lnSpc>
                <a:spcPct val="150000"/>
              </a:lnSpc>
            </a:pPr>
            <a:r>
              <a:rPr lang="en-US" sz="1600" dirty="0">
                <a:latin typeface="Times New Roman" panose="02020603050405020304" pitchFamily="18" charset="0"/>
                <a:cs typeface="Times New Roman" panose="02020603050405020304" pitchFamily="18" charset="0"/>
              </a:rPr>
              <a:t>Heatmaps (Explainable AI) – Visual explanation of AI predictions</a:t>
            </a:r>
          </a:p>
          <a:p>
            <a:pPr>
              <a:lnSpc>
                <a:spcPct val="150000"/>
              </a:lnSpc>
            </a:pPr>
            <a:r>
              <a:rPr lang="en-US" sz="1600" dirty="0">
                <a:latin typeface="Times New Roman" panose="02020603050405020304" pitchFamily="18" charset="0"/>
                <a:cs typeface="Times New Roman" panose="02020603050405020304" pitchFamily="18" charset="0"/>
              </a:rPr>
              <a:t>Result Dashboards – Display of classification and health analysis outputs</a:t>
            </a:r>
          </a:p>
          <a:p>
            <a:pPr marL="76200" indent="0">
              <a:buNone/>
            </a:pPr>
            <a:endParaRPr lang="en-US" dirty="0"/>
          </a:p>
        </p:txBody>
      </p:sp>
    </p:spTree>
    <p:extLst>
      <p:ext uri="{BB962C8B-B14F-4D97-AF65-F5344CB8AC3E}">
        <p14:creationId xmlns:p14="http://schemas.microsoft.com/office/powerpoint/2010/main" val="2848095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9E98-A623-DD0B-5ABB-1113028071BD}"/>
              </a:ext>
            </a:extLst>
          </p:cNvPr>
          <p:cNvSpPr>
            <a:spLocks noGrp="1"/>
          </p:cNvSpPr>
          <p:nvPr>
            <p:ph type="title"/>
          </p:nvPr>
        </p:nvSpPr>
        <p:spPr/>
        <p:txBody>
          <a:bodyPr/>
          <a:lstStyle/>
          <a:p>
            <a:r>
              <a:rPr lang="en-US" dirty="0"/>
              <a:t>Outcome &amp; Conclusion</a:t>
            </a:r>
          </a:p>
        </p:txBody>
      </p:sp>
      <p:sp>
        <p:nvSpPr>
          <p:cNvPr id="3" name="Text Placeholder 2">
            <a:extLst>
              <a:ext uri="{FF2B5EF4-FFF2-40B4-BE49-F238E27FC236}">
                <a16:creationId xmlns:a16="http://schemas.microsoft.com/office/drawing/2014/main" id="{A5D14A74-0D32-3BBE-C8C2-3BEA367257DA}"/>
              </a:ext>
            </a:extLst>
          </p:cNvPr>
          <p:cNvSpPr>
            <a:spLocks noGrp="1"/>
          </p:cNvSpPr>
          <p:nvPr>
            <p:ph type="body" idx="1"/>
          </p:nvPr>
        </p:nvSpPr>
        <p:spPr/>
        <p:txBody>
          <a:bodyPr/>
          <a:lstStyle/>
          <a:p>
            <a:pPr marL="76200" indent="0">
              <a:buNone/>
            </a:pPr>
            <a:r>
              <a:rPr lang="en-US" sz="1600" b="1" dirty="0">
                <a:latin typeface="Times New Roman" panose="02020603050405020304" pitchFamily="18" charset="0"/>
                <a:cs typeface="Times New Roman" panose="02020603050405020304" pitchFamily="18" charset="0"/>
              </a:rPr>
              <a:t>Outcome</a:t>
            </a:r>
          </a:p>
          <a:p>
            <a:r>
              <a:rPr lang="en-US" sz="1600" dirty="0">
                <a:latin typeface="Times New Roman" panose="02020603050405020304" pitchFamily="18" charset="0"/>
                <a:cs typeface="Times New Roman" panose="02020603050405020304" pitchFamily="18" charset="0"/>
              </a:rPr>
              <a:t>Comprehensive literature survey completed and research gaps clearly identified</a:t>
            </a:r>
          </a:p>
          <a:p>
            <a:r>
              <a:rPr lang="en-US" sz="1600" dirty="0">
                <a:latin typeface="Times New Roman" panose="02020603050405020304" pitchFamily="18" charset="0"/>
                <a:cs typeface="Times New Roman" panose="02020603050405020304" pitchFamily="18" charset="0"/>
              </a:rPr>
              <a:t>Limitations of existing livestock identification systems analyzed</a:t>
            </a:r>
          </a:p>
          <a:p>
            <a:r>
              <a:rPr lang="en-US" sz="1600" dirty="0">
                <a:latin typeface="Times New Roman" panose="02020603050405020304" pitchFamily="18" charset="0"/>
                <a:cs typeface="Times New Roman" panose="02020603050405020304" pitchFamily="18" charset="0"/>
              </a:rPr>
              <a:t>Proposed system architecture finalized based on identified gaps</a:t>
            </a:r>
          </a:p>
          <a:p>
            <a:r>
              <a:rPr lang="en-US" sz="1600" dirty="0">
                <a:latin typeface="Times New Roman" panose="02020603050405020304" pitchFamily="18" charset="0"/>
                <a:cs typeface="Times New Roman" panose="02020603050405020304" pitchFamily="18" charset="0"/>
              </a:rPr>
              <a:t>CNN-based AI model design validated for classification and feature extraction</a:t>
            </a:r>
          </a:p>
          <a:p>
            <a:r>
              <a:rPr lang="en-US" sz="1600" dirty="0">
                <a:latin typeface="Times New Roman" panose="02020603050405020304" pitchFamily="18" charset="0"/>
                <a:cs typeface="Times New Roman" panose="02020603050405020304" pitchFamily="18" charset="0"/>
              </a:rPr>
              <a:t>Health risk analysis and duplicate detection concepts finalized</a:t>
            </a:r>
          </a:p>
          <a:p>
            <a:r>
              <a:rPr lang="en-US" sz="1600" dirty="0">
                <a:latin typeface="Times New Roman" panose="02020603050405020304" pitchFamily="18" charset="0"/>
                <a:cs typeface="Times New Roman" panose="02020603050405020304" pitchFamily="18" charset="0"/>
              </a:rPr>
              <a:t>Explainable AI approach selected to improve transparency and trust</a:t>
            </a:r>
          </a:p>
          <a:p>
            <a:r>
              <a:rPr lang="en-US" sz="1600" dirty="0">
                <a:latin typeface="Times New Roman" panose="02020603050405020304" pitchFamily="18" charset="0"/>
                <a:cs typeface="Times New Roman" panose="02020603050405020304" pitchFamily="18" charset="0"/>
              </a:rPr>
              <a:t>Tools and technologies finalized for implementation phase</a:t>
            </a:r>
          </a:p>
          <a:p>
            <a:pPr marL="76200" indent="0">
              <a:buNone/>
            </a:pPr>
            <a:endParaRPr lang="en-US" sz="1600" b="1" dirty="0">
              <a:latin typeface="Times New Roman" panose="02020603050405020304" pitchFamily="18" charset="0"/>
              <a:cs typeface="Times New Roman" panose="02020603050405020304" pitchFamily="18" charset="0"/>
            </a:endParaRPr>
          </a:p>
          <a:p>
            <a:pPr marL="76200" indent="0">
              <a:buNone/>
            </a:pPr>
            <a:r>
              <a:rPr lang="en-US" sz="1600" b="1" dirty="0">
                <a:latin typeface="Times New Roman" panose="02020603050405020304" pitchFamily="18" charset="0"/>
                <a:cs typeface="Times New Roman" panose="02020603050405020304" pitchFamily="18" charset="0"/>
              </a:rPr>
              <a:t>Conclusion</a:t>
            </a:r>
          </a:p>
          <a:p>
            <a:pPr marL="76200" indent="0" algn="just">
              <a:buNone/>
            </a:pPr>
            <a:r>
              <a:rPr lang="en-US" sz="1600" dirty="0">
                <a:latin typeface="Times New Roman" panose="02020603050405020304" pitchFamily="18" charset="0"/>
                <a:cs typeface="Times New Roman" panose="02020603050405020304" pitchFamily="18" charset="0"/>
              </a:rPr>
              <a:t>The proposed AI-based smart livestock identification system provides a scalable, reliable, and explainable solution to real-world livestock management challenges. By integrating deep learning, image processing, database management, and explainable AI, the system overcomes the limitations of traditional and existing automated approaches. The finalized design is technically feasible, academically strong, and suitable for practical deployment, making it well-aligned with the objectives of the project and ready for implementation in the next phase.</a:t>
            </a:r>
          </a:p>
        </p:txBody>
      </p:sp>
    </p:spTree>
    <p:extLst>
      <p:ext uri="{BB962C8B-B14F-4D97-AF65-F5344CB8AC3E}">
        <p14:creationId xmlns:p14="http://schemas.microsoft.com/office/powerpoint/2010/main" val="576922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503</TotalTime>
  <Words>1058</Words>
  <Application>Microsoft Office PowerPoint</Application>
  <PresentationFormat>Widescreen</PresentationFormat>
  <Paragraphs>112</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Cambria</vt:lpstr>
      <vt:lpstr>Times New Roman</vt:lpstr>
      <vt:lpstr>Verdana</vt:lpstr>
      <vt:lpstr>Wingdings</vt:lpstr>
      <vt:lpstr>Bioinformatics</vt:lpstr>
      <vt:lpstr>Image based Animal Type Classification for cattle and buffaloes</vt:lpstr>
      <vt:lpstr>Content</vt:lpstr>
      <vt:lpstr>Introduction:</vt:lpstr>
      <vt:lpstr>Literature Review</vt:lpstr>
      <vt:lpstr>Research Gap &amp; Motivation</vt:lpstr>
      <vt:lpstr>Proposed System Overview</vt:lpstr>
      <vt:lpstr>System Architecture &amp; Model Design</vt:lpstr>
      <vt:lpstr>Tools &amp; Technologies Used</vt:lpstr>
      <vt:lpstr>Outcome &amp;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pothakamuri rithvik</cp:lastModifiedBy>
  <cp:revision>47</cp:revision>
  <dcterms:modified xsi:type="dcterms:W3CDTF">2026-02-05T03:58:57Z</dcterms:modified>
</cp:coreProperties>
</file>