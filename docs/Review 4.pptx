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8"/>
  </p:notesMasterIdLst>
  <p:sldIdLst>
    <p:sldId id="256" r:id="rId2"/>
    <p:sldId id="257" r:id="rId3"/>
    <p:sldId id="258" r:id="rId4"/>
    <p:sldId id="273" r:id="rId5"/>
    <p:sldId id="259" r:id="rId6"/>
    <p:sldId id="276" r:id="rId7"/>
    <p:sldId id="260" r:id="rId8"/>
    <p:sldId id="274" r:id="rId9"/>
    <p:sldId id="278" r:id="rId10"/>
    <p:sldId id="279" r:id="rId11"/>
    <p:sldId id="261" r:id="rId12"/>
    <p:sldId id="275" r:id="rId13"/>
    <p:sldId id="262" r:id="rId14"/>
    <p:sldId id="277" r:id="rId15"/>
    <p:sldId id="280" r:id="rId16"/>
    <p:sldId id="263" r:id="rId17"/>
    <p:sldId id="264" r:id="rId18"/>
    <p:sldId id="281" r:id="rId19"/>
    <p:sldId id="282" r:id="rId20"/>
    <p:sldId id="283" r:id="rId21"/>
    <p:sldId id="265" r:id="rId22"/>
    <p:sldId id="266" r:id="rId23"/>
    <p:sldId id="269" r:id="rId24"/>
    <p:sldId id="270" r:id="rId25"/>
    <p:sldId id="271" r:id="rId26"/>
    <p:sldId id="272" r:id="rId2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97DC194-C198-4E2C-BDF8-BB93FAE9738C}">
  <a:tblStyle styleId="{397DC194-C198-4E2C-BDF8-BB93FAE9738C}"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86" name="Google Shape;8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B5AB5F46-A7CD-EE55-2AF9-C98E6DD3B23C}"/>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7C7B5966-E561-D665-BB67-15B264391DA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3:notes">
            <a:extLst>
              <a:ext uri="{FF2B5EF4-FFF2-40B4-BE49-F238E27FC236}">
                <a16:creationId xmlns:a16="http://schemas.microsoft.com/office/drawing/2014/main" id="{B54BEB61-EBCE-7FB3-7110-79282A7647E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91627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E38B60C6-DF01-F6C8-E0F2-0D18E67580DF}"/>
            </a:ext>
          </a:extLst>
        </p:cNvPr>
        <p:cNvGrpSpPr/>
        <p:nvPr/>
      </p:nvGrpSpPr>
      <p:grpSpPr>
        <a:xfrm>
          <a:off x="0" y="0"/>
          <a:ext cx="0" cy="0"/>
          <a:chOff x="0" y="0"/>
          <a:chExt cx="0" cy="0"/>
        </a:xfrm>
      </p:grpSpPr>
      <p:sp>
        <p:nvSpPr>
          <p:cNvPr id="106" name="Google Shape;106;p4:notes">
            <a:extLst>
              <a:ext uri="{FF2B5EF4-FFF2-40B4-BE49-F238E27FC236}">
                <a16:creationId xmlns:a16="http://schemas.microsoft.com/office/drawing/2014/main" id="{1FD25D58-CD4A-BC64-F87C-ECD648A597F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4:notes">
            <a:extLst>
              <a:ext uri="{FF2B5EF4-FFF2-40B4-BE49-F238E27FC236}">
                <a16:creationId xmlns:a16="http://schemas.microsoft.com/office/drawing/2014/main" id="{CE5B72F1-EA9D-30B3-4984-B629212FD3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49832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bc75d11b8d_0_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g3bc75d11b8d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14A9F300-464C-2C60-AAF2-BBF2D3DB1138}"/>
            </a:ext>
          </a:extLst>
        </p:cNvPr>
        <p:cNvGrpSpPr/>
        <p:nvPr/>
      </p:nvGrpSpPr>
      <p:grpSpPr>
        <a:xfrm>
          <a:off x="0" y="0"/>
          <a:ext cx="0" cy="0"/>
          <a:chOff x="0" y="0"/>
          <a:chExt cx="0" cy="0"/>
        </a:xfrm>
      </p:grpSpPr>
      <p:sp>
        <p:nvSpPr>
          <p:cNvPr id="113" name="Google Shape;113;g3bc75d11b8d_0_7:notes">
            <a:extLst>
              <a:ext uri="{FF2B5EF4-FFF2-40B4-BE49-F238E27FC236}">
                <a16:creationId xmlns:a16="http://schemas.microsoft.com/office/drawing/2014/main" id="{6F15360B-1086-ED88-5DF1-D69ACBD83EE5}"/>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g3bc75d11b8d_0_7:notes">
            <a:extLst>
              <a:ext uri="{FF2B5EF4-FFF2-40B4-BE49-F238E27FC236}">
                <a16:creationId xmlns:a16="http://schemas.microsoft.com/office/drawing/2014/main" id="{7902DBCD-F9CF-30EF-CFD4-3FEFD345A5A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22148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CBF5DEB1-DDA6-D2CE-7C4B-58608AC4E787}"/>
            </a:ext>
          </a:extLst>
        </p:cNvPr>
        <p:cNvGrpSpPr/>
        <p:nvPr/>
      </p:nvGrpSpPr>
      <p:grpSpPr>
        <a:xfrm>
          <a:off x="0" y="0"/>
          <a:ext cx="0" cy="0"/>
          <a:chOff x="0" y="0"/>
          <a:chExt cx="0" cy="0"/>
        </a:xfrm>
      </p:grpSpPr>
      <p:sp>
        <p:nvSpPr>
          <p:cNvPr id="113" name="Google Shape;113;g3bc75d11b8d_0_7:notes">
            <a:extLst>
              <a:ext uri="{FF2B5EF4-FFF2-40B4-BE49-F238E27FC236}">
                <a16:creationId xmlns:a16="http://schemas.microsoft.com/office/drawing/2014/main" id="{598BAF1B-648C-8532-BF7F-5DE59F283F87}"/>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g3bc75d11b8d_0_7:notes">
            <a:extLst>
              <a:ext uri="{FF2B5EF4-FFF2-40B4-BE49-F238E27FC236}">
                <a16:creationId xmlns:a16="http://schemas.microsoft.com/office/drawing/2014/main" id="{CC9754DB-52CB-C1CC-6C1B-CCD05C49B0B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22905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8AD91F24-F195-9555-6222-8BD42DA1B10E}"/>
            </a:ext>
          </a:extLst>
        </p:cNvPr>
        <p:cNvGrpSpPr/>
        <p:nvPr/>
      </p:nvGrpSpPr>
      <p:grpSpPr>
        <a:xfrm>
          <a:off x="0" y="0"/>
          <a:ext cx="0" cy="0"/>
          <a:chOff x="0" y="0"/>
          <a:chExt cx="0" cy="0"/>
        </a:xfrm>
      </p:grpSpPr>
      <p:sp>
        <p:nvSpPr>
          <p:cNvPr id="113" name="Google Shape;113;g3bc75d11b8d_0_7:notes">
            <a:extLst>
              <a:ext uri="{FF2B5EF4-FFF2-40B4-BE49-F238E27FC236}">
                <a16:creationId xmlns:a16="http://schemas.microsoft.com/office/drawing/2014/main" id="{2203F640-6104-6798-D024-24476AE7B4DA}"/>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g3bc75d11b8d_0_7:notes">
            <a:extLst>
              <a:ext uri="{FF2B5EF4-FFF2-40B4-BE49-F238E27FC236}">
                <a16:creationId xmlns:a16="http://schemas.microsoft.com/office/drawing/2014/main" id="{2F3C6DA7-0B83-1D06-52FC-FF860867FF0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68947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4050FF26-FE6B-B041-EED7-29B51F5E3D68}"/>
            </a:ext>
          </a:extLst>
        </p:cNvPr>
        <p:cNvGrpSpPr/>
        <p:nvPr/>
      </p:nvGrpSpPr>
      <p:grpSpPr>
        <a:xfrm>
          <a:off x="0" y="0"/>
          <a:ext cx="0" cy="0"/>
          <a:chOff x="0" y="0"/>
          <a:chExt cx="0" cy="0"/>
        </a:xfrm>
      </p:grpSpPr>
      <p:sp>
        <p:nvSpPr>
          <p:cNvPr id="120" name="Google Shape;120;p5:notes">
            <a:extLst>
              <a:ext uri="{FF2B5EF4-FFF2-40B4-BE49-F238E27FC236}">
                <a16:creationId xmlns:a16="http://schemas.microsoft.com/office/drawing/2014/main" id="{AB83101D-367B-1B9B-B18A-E6E4B8D1F7E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5:notes">
            <a:extLst>
              <a:ext uri="{FF2B5EF4-FFF2-40B4-BE49-F238E27FC236}">
                <a16:creationId xmlns:a16="http://schemas.microsoft.com/office/drawing/2014/main" id="{B4C43C2F-7B64-3E3C-8414-244F4CD6732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002135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D7886DB4-63E6-84C8-FBA4-0CC707773180}"/>
            </a:ext>
          </a:extLst>
        </p:cNvPr>
        <p:cNvGrpSpPr/>
        <p:nvPr/>
      </p:nvGrpSpPr>
      <p:grpSpPr>
        <a:xfrm>
          <a:off x="0" y="0"/>
          <a:ext cx="0" cy="0"/>
          <a:chOff x="0" y="0"/>
          <a:chExt cx="0" cy="0"/>
        </a:xfrm>
      </p:grpSpPr>
      <p:sp>
        <p:nvSpPr>
          <p:cNvPr id="127" name="Google Shape;127;p6:notes">
            <a:extLst>
              <a:ext uri="{FF2B5EF4-FFF2-40B4-BE49-F238E27FC236}">
                <a16:creationId xmlns:a16="http://schemas.microsoft.com/office/drawing/2014/main" id="{827D004A-6735-66BA-7D34-D2FA8F6939C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6:notes">
            <a:extLst>
              <a:ext uri="{FF2B5EF4-FFF2-40B4-BE49-F238E27FC236}">
                <a16:creationId xmlns:a16="http://schemas.microsoft.com/office/drawing/2014/main" id="{4B8D04FC-9B15-40B0-424B-0675F832D33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9702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922DEA74-37F5-86F5-A0FF-610A4DB50161}"/>
            </a:ext>
          </a:extLst>
        </p:cNvPr>
        <p:cNvGrpSpPr/>
        <p:nvPr/>
      </p:nvGrpSpPr>
      <p:grpSpPr>
        <a:xfrm>
          <a:off x="0" y="0"/>
          <a:ext cx="0" cy="0"/>
          <a:chOff x="0" y="0"/>
          <a:chExt cx="0" cy="0"/>
        </a:xfrm>
      </p:grpSpPr>
      <p:sp>
        <p:nvSpPr>
          <p:cNvPr id="127" name="Google Shape;127;p6:notes">
            <a:extLst>
              <a:ext uri="{FF2B5EF4-FFF2-40B4-BE49-F238E27FC236}">
                <a16:creationId xmlns:a16="http://schemas.microsoft.com/office/drawing/2014/main" id="{7068C40B-C854-EDF2-4857-2D16F809926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6:notes">
            <a:extLst>
              <a:ext uri="{FF2B5EF4-FFF2-40B4-BE49-F238E27FC236}">
                <a16:creationId xmlns:a16="http://schemas.microsoft.com/office/drawing/2014/main" id="{6437EDE2-C602-511A-BBE4-113BE23FE36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68261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DA1A56A4-D756-5354-79F0-70B89640745E}"/>
            </a:ext>
          </a:extLst>
        </p:cNvPr>
        <p:cNvGrpSpPr/>
        <p:nvPr/>
      </p:nvGrpSpPr>
      <p:grpSpPr>
        <a:xfrm>
          <a:off x="0" y="0"/>
          <a:ext cx="0" cy="0"/>
          <a:chOff x="0" y="0"/>
          <a:chExt cx="0" cy="0"/>
        </a:xfrm>
      </p:grpSpPr>
      <p:sp>
        <p:nvSpPr>
          <p:cNvPr id="141" name="Google Shape;141;p8:notes">
            <a:extLst>
              <a:ext uri="{FF2B5EF4-FFF2-40B4-BE49-F238E27FC236}">
                <a16:creationId xmlns:a16="http://schemas.microsoft.com/office/drawing/2014/main" id="{7F4E2AFC-800D-9128-C174-28B239C2A90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8:notes">
            <a:extLst>
              <a:ext uri="{FF2B5EF4-FFF2-40B4-BE49-F238E27FC236}">
                <a16:creationId xmlns:a16="http://schemas.microsoft.com/office/drawing/2014/main" id="{83D7DC7A-D9E1-6389-1806-8A07510710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11668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BE67D87E-A807-407B-F5A8-A135F93ADE6E}"/>
            </a:ext>
          </a:extLst>
        </p:cNvPr>
        <p:cNvGrpSpPr/>
        <p:nvPr/>
      </p:nvGrpSpPr>
      <p:grpSpPr>
        <a:xfrm>
          <a:off x="0" y="0"/>
          <a:ext cx="0" cy="0"/>
          <a:chOff x="0" y="0"/>
          <a:chExt cx="0" cy="0"/>
        </a:xfrm>
      </p:grpSpPr>
      <p:sp>
        <p:nvSpPr>
          <p:cNvPr id="141" name="Google Shape;141;p8:notes">
            <a:extLst>
              <a:ext uri="{FF2B5EF4-FFF2-40B4-BE49-F238E27FC236}">
                <a16:creationId xmlns:a16="http://schemas.microsoft.com/office/drawing/2014/main" id="{FE66E903-0E1E-810B-D441-DF7A1EF6D3F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8:notes">
            <a:extLst>
              <a:ext uri="{FF2B5EF4-FFF2-40B4-BE49-F238E27FC236}">
                <a16:creationId xmlns:a16="http://schemas.microsoft.com/office/drawing/2014/main" id="{AF17C6E0-ED39-A831-9587-C8C7081D029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10199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BEEB42B8-F736-5576-41E2-4BA4EBC45E2D}"/>
            </a:ext>
          </a:extLst>
        </p:cNvPr>
        <p:cNvGrpSpPr/>
        <p:nvPr/>
      </p:nvGrpSpPr>
      <p:grpSpPr>
        <a:xfrm>
          <a:off x="0" y="0"/>
          <a:ext cx="0" cy="0"/>
          <a:chOff x="0" y="0"/>
          <a:chExt cx="0" cy="0"/>
        </a:xfrm>
      </p:grpSpPr>
      <p:sp>
        <p:nvSpPr>
          <p:cNvPr id="141" name="Google Shape;141;p8:notes">
            <a:extLst>
              <a:ext uri="{FF2B5EF4-FFF2-40B4-BE49-F238E27FC236}">
                <a16:creationId xmlns:a16="http://schemas.microsoft.com/office/drawing/2014/main" id="{DFC0F68A-7E66-DD52-697A-628A8CC2194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8:notes">
            <a:extLst>
              <a:ext uri="{FF2B5EF4-FFF2-40B4-BE49-F238E27FC236}">
                <a16:creationId xmlns:a16="http://schemas.microsoft.com/office/drawing/2014/main" id="{DE1A2F49-D8EC-1A25-A21A-0B4D561A842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27967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838200" y="6356350"/>
            <a:ext cx="100965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chemeClr val="lt1"/>
                </a:solidFill>
                <a:latin typeface="Calibri"/>
                <a:ea typeface="Calibri"/>
                <a:cs typeface="Calibri"/>
                <a:sym typeface="Calibri"/>
              </a:defRPr>
            </a:lvl1pPr>
            <a:lvl2pPr marL="0" lvl="1" indent="0" algn="r">
              <a:spcBef>
                <a:spcPts val="0"/>
              </a:spcBef>
              <a:buNone/>
              <a:defRPr sz="1200" b="0" i="0" u="none" strike="noStrike" cap="none">
                <a:solidFill>
                  <a:schemeClr val="lt1"/>
                </a:solidFill>
                <a:latin typeface="Calibri"/>
                <a:ea typeface="Calibri"/>
                <a:cs typeface="Calibri"/>
                <a:sym typeface="Calibri"/>
              </a:defRPr>
            </a:lvl2pPr>
            <a:lvl3pPr marL="0" lvl="2" indent="0" algn="r">
              <a:spcBef>
                <a:spcPts val="0"/>
              </a:spcBef>
              <a:buNone/>
              <a:defRPr sz="1200" b="0" i="0" u="none" strike="noStrike" cap="none">
                <a:solidFill>
                  <a:schemeClr val="lt1"/>
                </a:solidFill>
                <a:latin typeface="Calibri"/>
                <a:ea typeface="Calibri"/>
                <a:cs typeface="Calibri"/>
                <a:sym typeface="Calibri"/>
              </a:defRPr>
            </a:lvl3pPr>
            <a:lvl4pPr marL="0" lvl="3" indent="0" algn="r">
              <a:spcBef>
                <a:spcPts val="0"/>
              </a:spcBef>
              <a:buNone/>
              <a:defRPr sz="1200" b="0" i="0" u="none" strike="noStrike" cap="none">
                <a:solidFill>
                  <a:schemeClr val="lt1"/>
                </a:solidFill>
                <a:latin typeface="Calibri"/>
                <a:ea typeface="Calibri"/>
                <a:cs typeface="Calibri"/>
                <a:sym typeface="Calibri"/>
              </a:defRPr>
            </a:lvl4pPr>
            <a:lvl5pPr marL="0" lvl="4" indent="0" algn="r">
              <a:spcBef>
                <a:spcPts val="0"/>
              </a:spcBef>
              <a:buNone/>
              <a:defRPr sz="1200" b="0" i="0" u="none" strike="noStrike" cap="none">
                <a:solidFill>
                  <a:schemeClr val="lt1"/>
                </a:solidFill>
                <a:latin typeface="Calibri"/>
                <a:ea typeface="Calibri"/>
                <a:cs typeface="Calibri"/>
                <a:sym typeface="Calibri"/>
              </a:defRPr>
            </a:lvl5pPr>
            <a:lvl6pPr marL="0" lvl="5" indent="0" algn="r">
              <a:spcBef>
                <a:spcPts val="0"/>
              </a:spcBef>
              <a:buNone/>
              <a:defRPr sz="1200" b="0" i="0" u="none" strike="noStrike" cap="none">
                <a:solidFill>
                  <a:schemeClr val="lt1"/>
                </a:solidFill>
                <a:latin typeface="Calibri"/>
                <a:ea typeface="Calibri"/>
                <a:cs typeface="Calibri"/>
                <a:sym typeface="Calibri"/>
              </a:defRPr>
            </a:lvl6pPr>
            <a:lvl7pPr marL="0" lvl="6" indent="0" algn="r">
              <a:spcBef>
                <a:spcPts val="0"/>
              </a:spcBef>
              <a:buNone/>
              <a:defRPr sz="1200" b="0" i="0" u="none" strike="noStrike" cap="none">
                <a:solidFill>
                  <a:schemeClr val="lt1"/>
                </a:solidFill>
                <a:latin typeface="Calibri"/>
                <a:ea typeface="Calibri"/>
                <a:cs typeface="Calibri"/>
                <a:sym typeface="Calibri"/>
              </a:defRPr>
            </a:lvl7pPr>
            <a:lvl8pPr marL="0" lvl="7" indent="0" algn="r">
              <a:spcBef>
                <a:spcPts val="0"/>
              </a:spcBef>
              <a:buNone/>
              <a:defRPr sz="1200" b="0" i="0" u="none" strike="noStrike" cap="none">
                <a:solidFill>
                  <a:schemeClr val="lt1"/>
                </a:solidFill>
                <a:latin typeface="Calibri"/>
                <a:ea typeface="Calibri"/>
                <a:cs typeface="Calibri"/>
                <a:sym typeface="Calibri"/>
              </a:defRPr>
            </a:lvl8pPr>
            <a:lvl9pPr marL="0" lvl="8" indent="0" algn="r">
              <a:spcBef>
                <a:spcPts val="0"/>
              </a:spcBef>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researchgate.net/publication/399687026_Image_Based_Breed_Recognition_of_Cattle_and_Buffalos_of_India"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hyperlink" Target="https://www.researchgate.net/publication/383486759_Deep_Learning_based_Individual_Cattle_Face_Recognition_using_Data_Augmentation_and_Transfer_Learning" TargetMode="External"/><Relationship Id="rId4" Type="http://schemas.openxmlformats.org/officeDocument/2006/relationships/hyperlink" Target="https://ijirt.org/article?manuscript=190698&amp;utm_source=chatgpt.com"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aab.copernicus.org/articles/68/473/2025/"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https://pmc.ncbi.nlm.nih.gov/articles/PMC11294341/" TargetMode="External"/><Relationship Id="rId5" Type="http://schemas.openxmlformats.org/officeDocument/2006/relationships/hyperlink" Target="https://www.nature.com/articles/s41598-024-76718-x" TargetMode="External"/><Relationship Id="rId4" Type="http://schemas.openxmlformats.org/officeDocument/2006/relationships/hyperlink" Target="https://lifescienceglobal.com/pms/index.php/JBS/article/view/10227"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aab.copernicus.org/articles/68/473/2025/" TargetMode="External"/><Relationship Id="rId7" Type="http://schemas.openxmlformats.org/officeDocument/2006/relationships/hyperlink" Target="https://arxiv.org/abs/2410.12695"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hyperlink" Target="https://arxiv.org/abs/2404.00172" TargetMode="External"/><Relationship Id="rId5" Type="http://schemas.openxmlformats.org/officeDocument/2006/relationships/hyperlink" Target="https://www.nature.com/articles/s41598-024-76718-x" TargetMode="External"/><Relationship Id="rId4" Type="http://schemas.openxmlformats.org/officeDocument/2006/relationships/hyperlink" Target="https://lifescienceglobal.com/pms/index.php/JBS/article/view/10227"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p:nvPr/>
        </p:nvSpPr>
        <p:spPr>
          <a:xfrm>
            <a:off x="6525369" y="1812218"/>
            <a:ext cx="5514300" cy="2020500"/>
          </a:xfrm>
          <a:prstGeom prst="rect">
            <a:avLst/>
          </a:prstGeom>
          <a:noFill/>
          <a:ln>
            <a:noFill/>
          </a:ln>
        </p:spPr>
        <p:txBody>
          <a:bodyPr spcFirstLastPara="1" wrap="square" lIns="91425" tIns="45700" rIns="91425" bIns="45700" anchor="t" anchorCtr="0">
            <a:normAutofit/>
          </a:bodyPr>
          <a:lstStyle/>
          <a:p>
            <a:pPr marL="0" marR="0" lvl="0" indent="0" rtl="0">
              <a:spcBef>
                <a:spcPts val="0"/>
              </a:spcBef>
              <a:spcAft>
                <a:spcPts val="0"/>
              </a:spcAft>
              <a:buClr>
                <a:srgbClr val="17365D"/>
              </a:buClr>
              <a:buSzPts val="2000"/>
              <a:buFont typeface="Arial"/>
              <a:buNone/>
            </a:pPr>
            <a:r>
              <a:rPr lang="en-US" sz="2000" b="1" i="0" u="none" strike="noStrike" cap="none" dirty="0">
                <a:solidFill>
                  <a:srgbClr val="17365D"/>
                </a:solidFill>
                <a:latin typeface="Cambria" panose="02040503050406030204" pitchFamily="18" charset="0"/>
                <a:ea typeface="Cambria" panose="02040503050406030204" pitchFamily="18" charset="0"/>
                <a:cs typeface="Cambria"/>
                <a:sym typeface="Cambria"/>
              </a:rPr>
              <a:t>Under the Supervision</a:t>
            </a:r>
            <a:r>
              <a:rPr lang="en-US" sz="2000" b="1" dirty="0">
                <a:solidFill>
                  <a:srgbClr val="17365D"/>
                </a:solidFill>
                <a:latin typeface="Cambria" panose="02040503050406030204" pitchFamily="18" charset="0"/>
                <a:ea typeface="Cambria" panose="02040503050406030204" pitchFamily="18" charset="0"/>
                <a:cs typeface="Cambria"/>
                <a:sym typeface="Cambria"/>
              </a:rPr>
              <a:t>:</a:t>
            </a:r>
            <a:endParaRPr sz="1800" b="0" i="0" u="none" strike="noStrike" cap="none" dirty="0">
              <a:solidFill>
                <a:schemeClr val="dk1"/>
              </a:solidFill>
              <a:latin typeface="Cambria" panose="02040503050406030204" pitchFamily="18" charset="0"/>
              <a:ea typeface="Cambria" panose="02040503050406030204" pitchFamily="18" charset="0"/>
              <a:cs typeface="Cambria"/>
              <a:sym typeface="Cambria"/>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Cambria"/>
              <a:sym typeface="Cambria"/>
            </a:endParaRPr>
          </a:p>
          <a:p>
            <a:pPr lvl="0">
              <a:spcBef>
                <a:spcPts val="340"/>
              </a:spcBef>
              <a:buClr>
                <a:srgbClr val="17365D"/>
              </a:buClr>
              <a:buSzPts val="1700"/>
            </a:pPr>
            <a:r>
              <a:rPr lang="en-US" sz="1600" dirty="0">
                <a:latin typeface="Cambria" panose="02040503050406030204" pitchFamily="18" charset="0"/>
                <a:ea typeface="Cambria" panose="02040503050406030204" pitchFamily="18" charset="0"/>
              </a:rPr>
              <a:t> </a:t>
            </a:r>
            <a:r>
              <a:rPr lang="en-US" sz="1700" b="1" dirty="0">
                <a:solidFill>
                  <a:schemeClr val="tx1"/>
                </a:solidFill>
                <a:latin typeface="Cambria" panose="02040503050406030204" pitchFamily="18" charset="0"/>
                <a:ea typeface="Cambria" panose="02040503050406030204" pitchFamily="18" charset="0"/>
                <a:cs typeface="Times New Roman" panose="02020603050405020304" pitchFamily="18" charset="0"/>
                <a:sym typeface="Verdana"/>
              </a:rPr>
              <a:t>Mr. </a:t>
            </a:r>
            <a:r>
              <a:rPr lang="en-US" sz="1700" b="1" dirty="0" err="1">
                <a:solidFill>
                  <a:schemeClr val="tx1"/>
                </a:solidFill>
                <a:latin typeface="Cambria" panose="02040503050406030204" pitchFamily="18" charset="0"/>
                <a:ea typeface="Cambria" panose="02040503050406030204" pitchFamily="18" charset="0"/>
                <a:cs typeface="Times New Roman" panose="02020603050405020304" pitchFamily="18" charset="0"/>
                <a:sym typeface="Verdana"/>
              </a:rPr>
              <a:t>Sahabzada</a:t>
            </a:r>
            <a:r>
              <a:rPr lang="en-US" sz="1700" b="1" dirty="0">
                <a:solidFill>
                  <a:schemeClr val="tx1"/>
                </a:solidFill>
                <a:latin typeface="Cambria" panose="02040503050406030204" pitchFamily="18" charset="0"/>
                <a:ea typeface="Cambria" panose="02040503050406030204" pitchFamily="18" charset="0"/>
                <a:cs typeface="Times New Roman" panose="02020603050405020304" pitchFamily="18" charset="0"/>
                <a:sym typeface="Verdana"/>
              </a:rPr>
              <a:t> Betab Badar</a:t>
            </a:r>
            <a:endParaRPr lang="en-US" sz="1800" b="1" dirty="0">
              <a:solidFill>
                <a:schemeClr val="tx1"/>
              </a:solidFill>
              <a:latin typeface="Cambria" panose="02040503050406030204" pitchFamily="18" charset="0"/>
              <a:ea typeface="Cambria" panose="02040503050406030204" pitchFamily="18" charset="0"/>
              <a:cs typeface="Times New Roman" panose="02020603050405020304" pitchFamily="18" charset="0"/>
            </a:endParaRPr>
          </a:p>
          <a:p>
            <a:pPr lvl="0">
              <a:spcBef>
                <a:spcPts val="340"/>
              </a:spcBef>
              <a:buClr>
                <a:srgbClr val="17365D"/>
              </a:buClr>
              <a:buSzPts val="1700"/>
            </a:pPr>
            <a:r>
              <a:rPr lang="en-US" sz="1700" b="1" dirty="0">
                <a:solidFill>
                  <a:srgbClr val="17365D"/>
                </a:solidFill>
                <a:latin typeface="Cambria" panose="02040503050406030204" pitchFamily="18" charset="0"/>
                <a:ea typeface="Cambria" panose="02040503050406030204" pitchFamily="18" charset="0"/>
                <a:cs typeface="Times New Roman" panose="02020603050405020304" pitchFamily="18" charset="0"/>
                <a:sym typeface="Verdana"/>
              </a:rPr>
              <a:t> Assistant Professor</a:t>
            </a:r>
          </a:p>
          <a:p>
            <a:pPr lvl="0">
              <a:spcBef>
                <a:spcPts val="340"/>
              </a:spcBef>
              <a:buClr>
                <a:srgbClr val="17365D"/>
              </a:buClr>
              <a:buSzPts val="1700"/>
            </a:pPr>
            <a:r>
              <a:rPr lang="en-US" sz="1700" b="1" dirty="0">
                <a:solidFill>
                  <a:srgbClr val="17365D"/>
                </a:solidFill>
                <a:latin typeface="Cambria" panose="02040503050406030204" pitchFamily="18" charset="0"/>
                <a:ea typeface="Cambria" panose="02040503050406030204" pitchFamily="18" charset="0"/>
                <a:cs typeface="Times New Roman" panose="02020603050405020304" pitchFamily="18" charset="0"/>
                <a:sym typeface="Verdana"/>
              </a:rPr>
              <a:t> School of Computer Science and Engineering</a:t>
            </a:r>
            <a:endParaRPr lang="en-US" sz="1800" dirty="0">
              <a:latin typeface="Cambria" panose="02040503050406030204" pitchFamily="18" charset="0"/>
              <a:ea typeface="Cambria" panose="02040503050406030204" pitchFamily="18" charset="0"/>
              <a:cs typeface="Times New Roman" panose="02020603050405020304" pitchFamily="18" charset="0"/>
            </a:endParaRPr>
          </a:p>
          <a:p>
            <a:pPr lvl="0">
              <a:spcBef>
                <a:spcPts val="340"/>
              </a:spcBef>
              <a:buClr>
                <a:srgbClr val="17365D"/>
              </a:buClr>
              <a:buSzPts val="1700"/>
            </a:pPr>
            <a:r>
              <a:rPr lang="en-US" sz="1700" b="1" dirty="0">
                <a:solidFill>
                  <a:srgbClr val="17365D"/>
                </a:solidFill>
                <a:latin typeface="Cambria" panose="02040503050406030204" pitchFamily="18" charset="0"/>
                <a:ea typeface="Cambria" panose="02040503050406030204" pitchFamily="18" charset="0"/>
                <a:cs typeface="Times New Roman" panose="02020603050405020304" pitchFamily="18" charset="0"/>
                <a:sym typeface="Verdana"/>
              </a:rPr>
              <a:t> Presidency University</a:t>
            </a:r>
            <a:endParaRPr sz="2000" b="1" i="0" u="none" strike="noStrike" cap="none" dirty="0">
              <a:solidFill>
                <a:srgbClr val="17365D"/>
              </a:solidFill>
              <a:latin typeface="Cambria" panose="02040503050406030204" pitchFamily="18" charset="0"/>
              <a:ea typeface="Cambria" panose="02040503050406030204" pitchFamily="18" charset="0"/>
              <a:cs typeface="Cambria"/>
              <a:sym typeface="Cambria"/>
            </a:endParaRPr>
          </a:p>
        </p:txBody>
      </p:sp>
      <p:sp>
        <p:nvSpPr>
          <p:cNvPr id="89" name="Google Shape;89;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Times New Roman" panose="02020603050405020304" pitchFamily="18" charset="0"/>
                <a:sym typeface="Verdana"/>
              </a:rPr>
              <a:t>Name of the Program: </a:t>
            </a:r>
            <a:r>
              <a:rPr lang="en-US" sz="2000" b="1" dirty="0">
                <a:solidFill>
                  <a:schemeClr val="tx1"/>
                </a:solidFill>
                <a:latin typeface="Cambria" panose="02040503050406030204" pitchFamily="18" charset="0"/>
                <a:ea typeface="Cambria" panose="02040503050406030204" pitchFamily="18" charset="0"/>
                <a:cs typeface="Times New Roman" panose="02020603050405020304" pitchFamily="18" charset="0"/>
                <a:sym typeface="Verdana"/>
              </a:rPr>
              <a:t>B. Tech Computer Science and Technology (Devops)</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Times New Roman" panose="02020603050405020304" pitchFamily="18" charset="0"/>
                <a:sym typeface="Verdana"/>
              </a:rPr>
              <a:t>Name of the </a:t>
            </a:r>
            <a:r>
              <a:rPr lang="en-US" sz="2000" b="1" dirty="0" err="1">
                <a:solidFill>
                  <a:schemeClr val="accent1"/>
                </a:solidFill>
                <a:latin typeface="Cambria" panose="02040503050406030204" pitchFamily="18" charset="0"/>
                <a:ea typeface="Cambria" panose="02040503050406030204" pitchFamily="18" charset="0"/>
                <a:cs typeface="Times New Roman" panose="02020603050405020304" pitchFamily="18" charset="0"/>
                <a:sym typeface="Verdana"/>
              </a:rPr>
              <a:t>HoD</a:t>
            </a:r>
            <a:r>
              <a:rPr lang="en-US" sz="2000" b="1" dirty="0">
                <a:solidFill>
                  <a:schemeClr val="accent1"/>
                </a:solidFill>
                <a:latin typeface="Cambria" panose="02040503050406030204" pitchFamily="18" charset="0"/>
                <a:ea typeface="Cambria" panose="02040503050406030204" pitchFamily="18" charset="0"/>
                <a:cs typeface="Times New Roman" panose="02020603050405020304" pitchFamily="18" charset="0"/>
                <a:sym typeface="Verdana"/>
              </a:rPr>
              <a:t>: </a:t>
            </a:r>
            <a:r>
              <a:rPr lang="en-US" sz="2000" b="1" dirty="0">
                <a:solidFill>
                  <a:schemeClr val="tx1"/>
                </a:solidFill>
                <a:latin typeface="Cambria" panose="02040503050406030204" pitchFamily="18" charset="0"/>
                <a:ea typeface="Cambria" panose="02040503050406030204" pitchFamily="18" charset="0"/>
                <a:cs typeface="Times New Roman" panose="02020603050405020304" pitchFamily="18" charset="0"/>
                <a:sym typeface="Verdana"/>
              </a:rPr>
              <a:t>Dr. Pravinthraja S</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Times New Roman" panose="02020603050405020304" pitchFamily="18" charset="0"/>
                <a:sym typeface="Verdana"/>
              </a:rPr>
              <a:t>Name of the Program Project Coordinator: </a:t>
            </a:r>
            <a:r>
              <a:rPr lang="en-US" sz="2000" b="1" dirty="0">
                <a:solidFill>
                  <a:srgbClr val="FF0000"/>
                </a:solidFill>
                <a:latin typeface="Cambria" panose="02040503050406030204" pitchFamily="18" charset="0"/>
                <a:ea typeface="Cambria" panose="02040503050406030204" pitchFamily="18" charset="0"/>
                <a:cs typeface="Times New Roman" panose="02020603050405020304" pitchFamily="18" charset="0"/>
                <a:sym typeface="Verdana"/>
              </a:rPr>
              <a:t> </a:t>
            </a:r>
            <a:r>
              <a:rPr lang="en-US" sz="2000" b="1" dirty="0">
                <a:solidFill>
                  <a:schemeClr val="tx1"/>
                </a:solidFill>
                <a:latin typeface="Cambria" panose="02040503050406030204" pitchFamily="18" charset="0"/>
                <a:ea typeface="Cambria" panose="02040503050406030204" pitchFamily="18" charset="0"/>
                <a:cs typeface="Times New Roman" panose="02020603050405020304" pitchFamily="18" charset="0"/>
                <a:sym typeface="Verdana"/>
              </a:rPr>
              <a:t>Dr. H M Manjula</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Times New Roman" panose="02020603050405020304" pitchFamily="18" charset="0"/>
                <a:sym typeface="Verdana"/>
              </a:rPr>
              <a:t>Name of the School Project Coordinators: </a:t>
            </a:r>
            <a:r>
              <a:rPr lang="en-US" sz="2000" b="1" dirty="0">
                <a:solidFill>
                  <a:schemeClr val="tx1"/>
                </a:solidFill>
                <a:latin typeface="Cambria" panose="02040503050406030204" pitchFamily="18" charset="0"/>
                <a:ea typeface="Cambria" panose="02040503050406030204" pitchFamily="18" charset="0"/>
                <a:cs typeface="Times New Roman" panose="02020603050405020304" pitchFamily="18" charset="0"/>
                <a:sym typeface="Verdana"/>
              </a:rPr>
              <a:t>Dr. Sampath A K , Dr. Geetha A </a:t>
            </a:r>
          </a:p>
        </p:txBody>
      </p:sp>
      <p:sp>
        <p:nvSpPr>
          <p:cNvPr id="90" name="Google Shape;90;p13"/>
          <p:cNvSpPr txBox="1"/>
          <p:nvPr/>
        </p:nvSpPr>
        <p:spPr>
          <a:xfrm>
            <a:off x="838200" y="203035"/>
            <a:ext cx="10515600" cy="1560060"/>
          </a:xfrm>
          <a:prstGeom prst="rect">
            <a:avLst/>
          </a:prstGeom>
          <a:noFill/>
          <a:ln>
            <a:noFill/>
          </a:ln>
        </p:spPr>
        <p:txBody>
          <a:bodyPr spcFirstLastPara="1" wrap="square" lIns="91425" tIns="45700" rIns="91425" bIns="45700" anchor="ctr" anchorCtr="0">
            <a:noAutofit/>
          </a:bodyPr>
          <a:lstStyle/>
          <a:p>
            <a:pPr lvl="0" algn="ctr">
              <a:buClr>
                <a:srgbClr val="17365D"/>
              </a:buClr>
              <a:buSzPts val="2800"/>
            </a:pPr>
            <a:r>
              <a:rPr lang="en-US" sz="2800" b="1" dirty="0">
                <a:solidFill>
                  <a:srgbClr val="2F5496"/>
                </a:solidFill>
                <a:latin typeface="Times New Roman"/>
                <a:ea typeface="Times New Roman"/>
                <a:cs typeface="Times New Roman"/>
                <a:sym typeface="Times New Roman"/>
              </a:rPr>
              <a:t>CSE 7302</a:t>
            </a:r>
            <a:r>
              <a:rPr lang="en-US" sz="2800" b="1" i="0" u="none" strike="noStrike" cap="none" dirty="0">
                <a:solidFill>
                  <a:srgbClr val="2F5496"/>
                </a:solidFill>
                <a:latin typeface="Times New Roman"/>
                <a:ea typeface="Times New Roman"/>
                <a:cs typeface="Times New Roman"/>
                <a:sym typeface="Times New Roman"/>
              </a:rPr>
              <a:t> – University Project</a:t>
            </a:r>
            <a:br>
              <a:rPr lang="en-US" sz="2800" b="1" i="0" u="none" strike="noStrike" cap="none" dirty="0">
                <a:solidFill>
                  <a:srgbClr val="FF0000"/>
                </a:solidFill>
                <a:latin typeface="Times New Roman"/>
                <a:ea typeface="Times New Roman"/>
                <a:cs typeface="Times New Roman"/>
                <a:sym typeface="Times New Roman"/>
              </a:rPr>
            </a:br>
            <a:r>
              <a:rPr lang="en-US" sz="2400" b="1" i="0" u="none" strike="noStrike" cap="none" dirty="0">
                <a:solidFill>
                  <a:srgbClr val="0070C0"/>
                </a:solidFill>
                <a:latin typeface="Times New Roman"/>
                <a:ea typeface="Times New Roman"/>
                <a:cs typeface="Times New Roman"/>
                <a:sym typeface="Times New Roman"/>
              </a:rPr>
              <a:t>Review- 4 Presentation </a:t>
            </a:r>
            <a:br>
              <a:rPr lang="en-US" sz="2400" b="1" i="0" u="none" strike="noStrike" cap="none" dirty="0">
                <a:solidFill>
                  <a:srgbClr val="0070C0"/>
                </a:solidFill>
                <a:latin typeface="Times New Roman"/>
                <a:ea typeface="Times New Roman"/>
                <a:cs typeface="Times New Roman"/>
                <a:sym typeface="Times New Roman"/>
              </a:rPr>
            </a:br>
            <a:r>
              <a:rPr lang="en-US" sz="2400" b="1" dirty="0">
                <a:solidFill>
                  <a:schemeClr val="accent1"/>
                </a:solidFill>
                <a:latin typeface="Times New Roman" panose="02020603050405020304" pitchFamily="18" charset="0"/>
                <a:cs typeface="Times New Roman" panose="02020603050405020304" pitchFamily="18" charset="0"/>
              </a:rPr>
              <a:t>Image based Animal Type Classification for cattle and buffaloes</a:t>
            </a:r>
            <a:br>
              <a:rPr lang="en-US" sz="2400" b="1" i="0" u="none" strike="noStrike" cap="none" dirty="0">
                <a:solidFill>
                  <a:srgbClr val="0070C0"/>
                </a:solidFill>
                <a:latin typeface="Times New Roman"/>
                <a:ea typeface="Times New Roman"/>
                <a:cs typeface="Times New Roman"/>
                <a:sym typeface="Times New Roman"/>
              </a:rPr>
            </a:br>
            <a:endParaRPr sz="2400" b="1" i="0" u="none" strike="noStrike" cap="none" dirty="0">
              <a:solidFill>
                <a:srgbClr val="17365D"/>
              </a:solidFill>
              <a:latin typeface="Times New Roman"/>
              <a:ea typeface="Times New Roman"/>
              <a:cs typeface="Times New Roman"/>
              <a:sym typeface="Times New Roman"/>
            </a:endParaRPr>
          </a:p>
        </p:txBody>
      </p:sp>
      <p:graphicFrame>
        <p:nvGraphicFramePr>
          <p:cNvPr id="91" name="Google Shape;91;p13"/>
          <p:cNvGraphicFramePr/>
          <p:nvPr>
            <p:extLst>
              <p:ext uri="{D42A27DB-BD31-4B8C-83A1-F6EECF244321}">
                <p14:modId xmlns:p14="http://schemas.microsoft.com/office/powerpoint/2010/main" val="4061353776"/>
              </p:ext>
            </p:extLst>
          </p:nvPr>
        </p:nvGraphicFramePr>
        <p:xfrm>
          <a:off x="601909" y="1911875"/>
          <a:ext cx="5228620" cy="1828850"/>
        </p:xfrm>
        <a:graphic>
          <a:graphicData uri="http://schemas.openxmlformats.org/drawingml/2006/table">
            <a:tbl>
              <a:tblPr firstRow="1" bandRow="1">
                <a:noFill/>
                <a:tableStyleId>{397DC194-C198-4E2C-BDF8-BB93FAE9738C}</a:tableStyleId>
              </a:tblPr>
              <a:tblGrid>
                <a:gridCol w="1804420">
                  <a:extLst>
                    <a:ext uri="{9D8B030D-6E8A-4147-A177-3AD203B41FA5}">
                      <a16:colId xmlns:a16="http://schemas.microsoft.com/office/drawing/2014/main" val="20000"/>
                    </a:ext>
                  </a:extLst>
                </a:gridCol>
                <a:gridCol w="3424200">
                  <a:extLst>
                    <a:ext uri="{9D8B030D-6E8A-4147-A177-3AD203B41FA5}">
                      <a16:colId xmlns:a16="http://schemas.microsoft.com/office/drawing/2014/main" val="20001"/>
                    </a:ext>
                  </a:extLst>
                </a:gridCol>
              </a:tblGrid>
              <a:tr h="241258">
                <a:tc gridSpan="2">
                  <a:txBody>
                    <a:bodyPr/>
                    <a:lstStyle/>
                    <a:p>
                      <a:pPr marL="0" marR="0" lvl="0" indent="0" algn="ctr" rtl="0">
                        <a:spcBef>
                          <a:spcPts val="0"/>
                        </a:spcBef>
                        <a:spcAft>
                          <a:spcPts val="0"/>
                        </a:spcAft>
                        <a:buNone/>
                      </a:pPr>
                      <a:r>
                        <a:rPr lang="en-US" sz="1800" u="none" strike="noStrike" cap="none">
                          <a:latin typeface="Cambria"/>
                          <a:ea typeface="Cambria"/>
                          <a:cs typeface="Cambria"/>
                          <a:sym typeface="Cambria"/>
                        </a:rPr>
                        <a:t>Student Details</a:t>
                      </a:r>
                      <a:endParaRPr/>
                    </a:p>
                  </a:txBody>
                  <a:tcPr marL="91450" marR="91450" marT="45725" marB="45725"/>
                </a:tc>
                <a:tc hMerge="1">
                  <a:txBody>
                    <a:bodyPr/>
                    <a:lstStyle/>
                    <a:p>
                      <a:endParaRPr lang="en-US"/>
                    </a:p>
                  </a:txBody>
                  <a:tcPr/>
                </a:tc>
                <a:extLst>
                  <a:ext uri="{0D108BD9-81ED-4DB2-BD59-A6C34878D82A}">
                    <a16:rowId xmlns:a16="http://schemas.microsoft.com/office/drawing/2014/main" val="10000"/>
                  </a:ext>
                </a:extLst>
              </a:tr>
              <a:tr h="241258">
                <a:tc>
                  <a:txBody>
                    <a:bodyPr/>
                    <a:lstStyle/>
                    <a:p>
                      <a:pPr marL="0" marR="0" lvl="0" indent="0" algn="l" rtl="0">
                        <a:spcBef>
                          <a:spcPts val="0"/>
                        </a:spcBef>
                        <a:spcAft>
                          <a:spcPts val="0"/>
                        </a:spcAft>
                        <a:buNone/>
                      </a:pPr>
                      <a:r>
                        <a:rPr lang="en-US" sz="1800" b="1" u="none" strike="noStrike" cap="none" dirty="0">
                          <a:latin typeface="Cambria"/>
                          <a:ea typeface="Cambria"/>
                          <a:cs typeface="Cambria"/>
                          <a:sym typeface="Cambria"/>
                        </a:rPr>
                        <a:t>Name</a:t>
                      </a:r>
                      <a:endParaRPr dirty="0"/>
                    </a:p>
                  </a:txBody>
                  <a:tcPr marL="91450" marR="91450" marT="45725" marB="45725"/>
                </a:tc>
                <a:tc>
                  <a:txBody>
                    <a:bodyPr/>
                    <a:lstStyle/>
                    <a:p>
                      <a:pPr marL="0" marR="0" lvl="0" indent="0" algn="ctr" rtl="0">
                        <a:spcBef>
                          <a:spcPts val="0"/>
                        </a:spcBef>
                        <a:spcAft>
                          <a:spcPts val="0"/>
                        </a:spcAft>
                        <a:buNone/>
                      </a:pPr>
                      <a:r>
                        <a:rPr lang="en-US" sz="1800" b="1" u="none" strike="noStrike" cap="none" dirty="0">
                          <a:latin typeface="Cambria"/>
                          <a:ea typeface="Cambria"/>
                          <a:cs typeface="Cambria"/>
                          <a:sym typeface="Cambria"/>
                        </a:rPr>
                        <a:t>Roll No</a:t>
                      </a:r>
                      <a:endParaRPr b="1" dirty="0"/>
                    </a:p>
                  </a:txBody>
                  <a:tcPr marL="91450" marR="91450" marT="45725" marB="45725"/>
                </a:tc>
                <a:extLst>
                  <a:ext uri="{0D108BD9-81ED-4DB2-BD59-A6C34878D82A}">
                    <a16:rowId xmlns:a16="http://schemas.microsoft.com/office/drawing/2014/main" val="10001"/>
                  </a:ext>
                </a:extLst>
              </a:tr>
              <a:tr h="241258">
                <a:tc>
                  <a:txBody>
                    <a:bodyPr/>
                    <a:lstStyle/>
                    <a:p>
                      <a:pPr marL="0" marR="0" lvl="0" indent="0" algn="l" rtl="0">
                        <a:spcBef>
                          <a:spcPts val="0"/>
                        </a:spcBef>
                        <a:spcAft>
                          <a:spcPts val="0"/>
                        </a:spcAft>
                        <a:buNone/>
                      </a:pPr>
                      <a:r>
                        <a:rPr lang="en-US" sz="1800" b="0" u="none" strike="noStrike" cap="none" dirty="0">
                          <a:latin typeface="Cambria"/>
                          <a:ea typeface="Cambria"/>
                          <a:sym typeface="Cambria"/>
                        </a:rPr>
                        <a:t>Harshitha. KJ</a:t>
                      </a:r>
                      <a:endParaRPr b="0" dirty="0"/>
                    </a:p>
                  </a:txBody>
                  <a:tcPr marL="91450" marR="91450" marT="45725" marB="45725"/>
                </a:tc>
                <a:tc>
                  <a:txBody>
                    <a:bodyPr/>
                    <a:lstStyle/>
                    <a:p>
                      <a:pPr marL="0" marR="0" lvl="0" indent="0" algn="ctr" rtl="0">
                        <a:spcBef>
                          <a:spcPts val="0"/>
                        </a:spcBef>
                        <a:spcAft>
                          <a:spcPts val="0"/>
                        </a:spcAft>
                        <a:buNone/>
                      </a:pPr>
                      <a:r>
                        <a:rPr lang="en-US" sz="1800" u="none" strike="noStrike" cap="none" dirty="0">
                          <a:latin typeface="Cambria"/>
                          <a:ea typeface="Cambria"/>
                          <a:cs typeface="Cambria"/>
                          <a:sym typeface="Cambria"/>
                        </a:rPr>
                        <a:t>20221CDV0026</a:t>
                      </a:r>
                      <a:endParaRPr dirty="0"/>
                    </a:p>
                  </a:txBody>
                  <a:tcPr marL="91450" marR="91450" marT="45725" marB="45725"/>
                </a:tc>
                <a:extLst>
                  <a:ext uri="{0D108BD9-81ED-4DB2-BD59-A6C34878D82A}">
                    <a16:rowId xmlns:a16="http://schemas.microsoft.com/office/drawing/2014/main" val="10002"/>
                  </a:ext>
                </a:extLst>
              </a:tr>
              <a:tr h="241258">
                <a:tc>
                  <a:txBody>
                    <a:bodyPr/>
                    <a:lstStyle/>
                    <a:p>
                      <a:pPr marL="0" marR="0" lvl="0" indent="0" algn="l" rtl="0">
                        <a:spcBef>
                          <a:spcPts val="0"/>
                        </a:spcBef>
                        <a:spcAft>
                          <a:spcPts val="0"/>
                        </a:spcAft>
                        <a:buNone/>
                      </a:pPr>
                      <a:r>
                        <a:rPr lang="en-US" sz="1800" b="0" u="none" strike="noStrike" cap="none" dirty="0">
                          <a:latin typeface="Cambria"/>
                          <a:ea typeface="Cambria"/>
                          <a:cs typeface="Cambria"/>
                          <a:sym typeface="Cambria"/>
                        </a:rPr>
                        <a:t>Susmitha.S</a:t>
                      </a:r>
                      <a:endParaRPr b="0" dirty="0"/>
                    </a:p>
                  </a:txBody>
                  <a:tcPr marL="91450" marR="91450" marT="45725" marB="45725"/>
                </a:tc>
                <a:tc>
                  <a:txBody>
                    <a:bodyPr/>
                    <a:lstStyle/>
                    <a:p>
                      <a:pPr marL="0" marR="0" lvl="0" indent="0" algn="ctr" rtl="0">
                        <a:spcBef>
                          <a:spcPts val="0"/>
                        </a:spcBef>
                        <a:spcAft>
                          <a:spcPts val="0"/>
                        </a:spcAft>
                        <a:buNone/>
                      </a:pPr>
                      <a:r>
                        <a:rPr lang="en-US" sz="1800" u="none" strike="noStrike" cap="none" dirty="0">
                          <a:latin typeface="Cambria"/>
                          <a:ea typeface="Cambria"/>
                          <a:cs typeface="Cambria"/>
                          <a:sym typeface="Cambria"/>
                        </a:rPr>
                        <a:t>20221CDV0038</a:t>
                      </a:r>
                      <a:endParaRPr dirty="0"/>
                    </a:p>
                  </a:txBody>
                  <a:tcPr marL="91450" marR="91450" marT="45725" marB="45725"/>
                </a:tc>
                <a:extLst>
                  <a:ext uri="{0D108BD9-81ED-4DB2-BD59-A6C34878D82A}">
                    <a16:rowId xmlns:a16="http://schemas.microsoft.com/office/drawing/2014/main" val="10003"/>
                  </a:ext>
                </a:extLst>
              </a:tr>
              <a:tr h="238953">
                <a:tc>
                  <a:txBody>
                    <a:bodyPr/>
                    <a:lstStyle/>
                    <a:p>
                      <a:pPr marL="0" marR="0" lvl="0" indent="0" algn="l" rtl="0">
                        <a:spcBef>
                          <a:spcPts val="0"/>
                        </a:spcBef>
                        <a:spcAft>
                          <a:spcPts val="0"/>
                        </a:spcAft>
                        <a:buNone/>
                      </a:pPr>
                      <a:r>
                        <a:rPr lang="en-US" sz="1800" b="0" dirty="0">
                          <a:latin typeface="Cambria" panose="02040503050406030204" pitchFamily="18" charset="0"/>
                          <a:ea typeface="Cambria" panose="02040503050406030204" pitchFamily="18" charset="0"/>
                        </a:rPr>
                        <a:t>Greeshma</a:t>
                      </a:r>
                      <a:endParaRPr sz="1800" b="0" dirty="0">
                        <a:latin typeface="Cambria" panose="02040503050406030204" pitchFamily="18" charset="0"/>
                        <a:ea typeface="Cambria" panose="02040503050406030204" pitchFamily="18" charset="0"/>
                      </a:endParaRPr>
                    </a:p>
                  </a:txBody>
                  <a:tcPr marL="91450" marR="91450" marT="45725" marB="45725"/>
                </a:tc>
                <a:tc>
                  <a:txBody>
                    <a:bodyPr/>
                    <a:lstStyle/>
                    <a:p>
                      <a:pPr marL="0" marR="0" lvl="0" indent="0" algn="ctr" rtl="0">
                        <a:spcBef>
                          <a:spcPts val="0"/>
                        </a:spcBef>
                        <a:spcAft>
                          <a:spcPts val="0"/>
                        </a:spcAft>
                        <a:buNone/>
                      </a:pPr>
                      <a:r>
                        <a:rPr lang="en-US" sz="1800" dirty="0">
                          <a:latin typeface="Cambria" panose="02040503050406030204" pitchFamily="18" charset="0"/>
                          <a:ea typeface="Cambria" panose="02040503050406030204" pitchFamily="18" charset="0"/>
                        </a:rPr>
                        <a:t>20221CDV0040</a:t>
                      </a:r>
                      <a:endParaRPr sz="1800" dirty="0">
                        <a:latin typeface="Cambria" panose="02040503050406030204" pitchFamily="18" charset="0"/>
                        <a:ea typeface="Cambria" panose="02040503050406030204" pitchFamily="18" charset="0"/>
                      </a:endParaRPr>
                    </a:p>
                  </a:txBody>
                  <a:tcPr marL="91450" marR="91450" marT="45725" marB="45725"/>
                </a:tc>
                <a:extLst>
                  <a:ext uri="{0D108BD9-81ED-4DB2-BD59-A6C34878D82A}">
                    <a16:rowId xmlns:a16="http://schemas.microsoft.com/office/drawing/2014/main" val="1027476810"/>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81626" y="441786"/>
            <a:ext cx="10668000" cy="487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17365D"/>
              </a:buClr>
              <a:buSzPts val="2800"/>
              <a:buFont typeface="Verdana"/>
              <a:buNone/>
            </a:pPr>
            <a:r>
              <a:rPr lang="en-US" sz="5000" b="1" dirty="0">
                <a:solidFill>
                  <a:schemeClr val="accent1"/>
                </a:solidFill>
                <a:latin typeface="Times New Roman"/>
                <a:ea typeface="Times New Roman"/>
                <a:cs typeface="Times New Roman"/>
                <a:sym typeface="Times New Roman"/>
              </a:rPr>
              <a:t>C</a:t>
            </a:r>
            <a:r>
              <a:rPr lang="en-US" sz="3200" b="1" dirty="0">
                <a:solidFill>
                  <a:schemeClr val="accent1"/>
                </a:solidFill>
                <a:latin typeface="Times New Roman"/>
                <a:ea typeface="Times New Roman"/>
                <a:cs typeface="Times New Roman"/>
                <a:sym typeface="Times New Roman"/>
              </a:rPr>
              <a:t>ontent:</a:t>
            </a:r>
          </a:p>
        </p:txBody>
      </p:sp>
      <p:sp>
        <p:nvSpPr>
          <p:cNvPr id="97" name="Google Shape;97;p14"/>
          <p:cNvSpPr txBox="1">
            <a:spLocks noGrp="1"/>
          </p:cNvSpPr>
          <p:nvPr>
            <p:ph type="body" idx="1"/>
          </p:nvPr>
        </p:nvSpPr>
        <p:spPr>
          <a:xfrm>
            <a:off x="693174" y="1155743"/>
            <a:ext cx="10668000" cy="4271209"/>
          </a:xfrm>
          <a:prstGeom prst="rect">
            <a:avLst/>
          </a:prstGeom>
          <a:noFill/>
          <a:ln>
            <a:noFill/>
          </a:ln>
        </p:spPr>
        <p:txBody>
          <a:bodyPr spcFirstLastPara="1" wrap="square" lIns="91425" tIns="45700" rIns="91425" bIns="45700" anchor="t" anchorCtr="0">
            <a:noAutofit/>
          </a:bodyPr>
          <a:lstStyle/>
          <a:p>
            <a:pPr marL="609600" indent="-457200" algn="just">
              <a:lnSpc>
                <a:spcPct val="100000"/>
              </a:lnSpc>
              <a:spcBef>
                <a:spcPts val="0"/>
              </a:spcBef>
              <a:buFont typeface="+mj-lt"/>
              <a:buAutoNum type="arabicPeriod"/>
            </a:pPr>
            <a:r>
              <a:rPr lang="en-US" sz="2200" dirty="0">
                <a:latin typeface="Times New Roman" panose="02020603050405020304" pitchFamily="18" charset="0"/>
                <a:cs typeface="Times New Roman" panose="02020603050405020304" pitchFamily="18" charset="0"/>
              </a:rPr>
              <a:t>Introduction</a:t>
            </a:r>
          </a:p>
          <a:p>
            <a:pPr marL="609600" indent="-457200" algn="just">
              <a:lnSpc>
                <a:spcPct val="100000"/>
              </a:lnSpc>
              <a:spcBef>
                <a:spcPts val="0"/>
              </a:spcBef>
              <a:buFont typeface="+mj-lt"/>
              <a:buAutoNum type="arabicPeriod"/>
            </a:pPr>
            <a:r>
              <a:rPr lang="en-US" sz="2200" dirty="0">
                <a:latin typeface="Times New Roman" panose="02020603050405020304" pitchFamily="18" charset="0"/>
                <a:cs typeface="Times New Roman" panose="02020603050405020304" pitchFamily="18" charset="0"/>
              </a:rPr>
              <a:t>Literature Survey</a:t>
            </a:r>
          </a:p>
          <a:p>
            <a:pPr marL="609600" indent="-457200" algn="just">
              <a:lnSpc>
                <a:spcPct val="100000"/>
              </a:lnSpc>
              <a:spcBef>
                <a:spcPts val="0"/>
              </a:spcBef>
              <a:buFont typeface="+mj-lt"/>
              <a:buAutoNum type="arabicPeriod"/>
            </a:pPr>
            <a:r>
              <a:rPr lang="en-US" sz="2200" dirty="0">
                <a:latin typeface="Times New Roman" panose="02020603050405020304" pitchFamily="18" charset="0"/>
                <a:cs typeface="Times New Roman" panose="02020603050405020304" pitchFamily="18" charset="0"/>
              </a:rPr>
              <a:t>Research Gap</a:t>
            </a:r>
          </a:p>
          <a:p>
            <a:pPr marL="609600" indent="-457200" algn="just">
              <a:lnSpc>
                <a:spcPct val="100000"/>
              </a:lnSpc>
              <a:spcBef>
                <a:spcPts val="0"/>
              </a:spcBef>
              <a:buFont typeface="+mj-lt"/>
              <a:buAutoNum type="arabicPeriod"/>
            </a:pPr>
            <a:r>
              <a:rPr lang="en-US" sz="2200" dirty="0">
                <a:latin typeface="Times New Roman" panose="02020603050405020304" pitchFamily="18" charset="0"/>
                <a:cs typeface="Times New Roman" panose="02020603050405020304" pitchFamily="18" charset="0"/>
              </a:rPr>
              <a:t>Challenges faced in project</a:t>
            </a:r>
          </a:p>
          <a:p>
            <a:pPr marL="609600" indent="-457200" algn="just">
              <a:lnSpc>
                <a:spcPct val="100000"/>
              </a:lnSpc>
              <a:spcBef>
                <a:spcPts val="0"/>
              </a:spcBef>
              <a:buFont typeface="+mj-lt"/>
              <a:buAutoNum type="arabicPeriod"/>
            </a:pPr>
            <a:r>
              <a:rPr lang="en-US" sz="2200" dirty="0">
                <a:latin typeface="Times New Roman" panose="02020603050405020304" pitchFamily="18" charset="0"/>
                <a:cs typeface="Times New Roman" panose="02020603050405020304" pitchFamily="18" charset="0"/>
              </a:rPr>
              <a:t>Proposed System Design</a:t>
            </a:r>
          </a:p>
          <a:p>
            <a:pPr marL="609600" indent="-457200" algn="just">
              <a:lnSpc>
                <a:spcPct val="100000"/>
              </a:lnSpc>
              <a:spcBef>
                <a:spcPts val="0"/>
              </a:spcBef>
              <a:buFont typeface="+mj-lt"/>
              <a:buAutoNum type="arabicPeriod"/>
            </a:pPr>
            <a:r>
              <a:rPr lang="en-US" sz="2200" dirty="0">
                <a:latin typeface="Times New Roman" panose="02020603050405020304" pitchFamily="18" charset="0"/>
                <a:cs typeface="Times New Roman" panose="02020603050405020304" pitchFamily="18" charset="0"/>
              </a:rPr>
              <a:t>Advantages of proposed system/work</a:t>
            </a:r>
          </a:p>
          <a:p>
            <a:pPr marL="609600" indent="-457200" algn="just">
              <a:lnSpc>
                <a:spcPct val="100000"/>
              </a:lnSpc>
              <a:spcBef>
                <a:spcPts val="0"/>
              </a:spcBef>
              <a:buFont typeface="+mj-lt"/>
              <a:buAutoNum type="arabicPeriod"/>
            </a:pPr>
            <a:r>
              <a:rPr lang="en-US" sz="2200" dirty="0">
                <a:latin typeface="Times New Roman" panose="02020603050405020304" pitchFamily="18" charset="0"/>
                <a:cs typeface="Times New Roman" panose="02020603050405020304" pitchFamily="18" charset="0"/>
              </a:rPr>
              <a:t>Tools &amp; Technologies</a:t>
            </a:r>
          </a:p>
          <a:p>
            <a:pPr marL="609600" indent="-457200" algn="just">
              <a:lnSpc>
                <a:spcPct val="100000"/>
              </a:lnSpc>
              <a:spcBef>
                <a:spcPts val="0"/>
              </a:spcBef>
              <a:buFont typeface="+mj-lt"/>
              <a:buAutoNum type="arabicPeriod"/>
            </a:pPr>
            <a:r>
              <a:rPr lang="en-US" sz="2200" dirty="0">
                <a:latin typeface="Times New Roman" panose="02020603050405020304" pitchFamily="18" charset="0"/>
                <a:cs typeface="Times New Roman" panose="02020603050405020304" pitchFamily="18" charset="0"/>
              </a:rPr>
              <a:t>References</a:t>
            </a:r>
          </a:p>
          <a:p>
            <a:pPr marL="609600" indent="-457200" algn="just">
              <a:lnSpc>
                <a:spcPct val="100000"/>
              </a:lnSpc>
              <a:spcBef>
                <a:spcPts val="0"/>
              </a:spcBef>
              <a:buFont typeface="+mj-lt"/>
              <a:buAutoNum type="arabicPeriod"/>
            </a:pPr>
            <a:r>
              <a:rPr lang="en-US" sz="2200" dirty="0">
                <a:latin typeface="Times New Roman" panose="02020603050405020304" pitchFamily="18" charset="0"/>
                <a:cs typeface="Times New Roman" panose="02020603050405020304" pitchFamily="18" charset="0"/>
              </a:rPr>
              <a:t>Conclusion</a:t>
            </a:r>
          </a:p>
          <a:p>
            <a:pPr marL="609600" indent="-457200" algn="just">
              <a:lnSpc>
                <a:spcPct val="100000"/>
              </a:lnSpc>
              <a:spcBef>
                <a:spcPts val="0"/>
              </a:spcBef>
              <a:buFont typeface="+mj-lt"/>
              <a:buAutoNum type="arabicPeriod"/>
            </a:pPr>
            <a:r>
              <a:rPr lang="en-US" sz="2200" dirty="0">
                <a:latin typeface="Times New Roman" panose="02020603050405020304" pitchFamily="18" charset="0"/>
                <a:cs typeface="Times New Roman" panose="02020603050405020304" pitchFamily="18" charset="0"/>
              </a:rPr>
              <a:t>Review Timeline</a:t>
            </a:r>
          </a:p>
          <a:p>
            <a:pPr marL="609600" indent="-457200" algn="just">
              <a:lnSpc>
                <a:spcPct val="100000"/>
              </a:lnSpc>
              <a:spcBef>
                <a:spcPts val="0"/>
              </a:spcBef>
              <a:buFont typeface="+mj-lt"/>
              <a:buAutoNum type="arabicPeriod"/>
            </a:pPr>
            <a:r>
              <a:rPr lang="en-US" sz="2200" dirty="0" err="1">
                <a:latin typeface="Times New Roman" panose="02020603050405020304" pitchFamily="18" charset="0"/>
                <a:cs typeface="Times New Roman" panose="02020603050405020304" pitchFamily="18" charset="0"/>
              </a:rPr>
              <a:t>Github</a:t>
            </a:r>
            <a:r>
              <a:rPr lang="en-US" sz="2200" dirty="0">
                <a:latin typeface="Times New Roman" panose="02020603050405020304" pitchFamily="18" charset="0"/>
                <a:cs typeface="Times New Roman" panose="02020603050405020304" pitchFamily="18" charset="0"/>
              </a:rPr>
              <a:t> Link</a:t>
            </a:r>
          </a:p>
          <a:p>
            <a:pPr marL="152400" lvl="0" indent="0" algn="just">
              <a:lnSpc>
                <a:spcPct val="200000"/>
              </a:lnSpc>
              <a:spcBef>
                <a:spcPts val="0"/>
              </a:spcBef>
              <a:buSzPts val="2400"/>
              <a:buNone/>
            </a:pPr>
            <a:endParaRPr lang="en-US" sz="2200" dirty="0">
              <a:latin typeface="Cambria" panose="02040503050406030204" pitchFamily="18" charset="0"/>
              <a:ea typeface="Cambria" panose="02040503050406030204" pitchFamily="18" charset="0"/>
            </a:endParaRPr>
          </a:p>
          <a:p>
            <a:pPr marL="609600" lvl="0" indent="-457200" algn="just">
              <a:lnSpc>
                <a:spcPct val="200000"/>
              </a:lnSpc>
              <a:spcBef>
                <a:spcPts val="0"/>
              </a:spcBef>
              <a:buSzPts val="2400"/>
              <a:buFont typeface="+mj-lt"/>
              <a:buAutoNum type="arabicPeriod"/>
            </a:pPr>
            <a:endParaRPr lang="en-US" sz="2200" dirty="0">
              <a:latin typeface="Cambria" panose="02040503050406030204" pitchFamily="18" charset="0"/>
              <a:ea typeface="Cambria" panose="02040503050406030204" pitchFamily="18" charset="0"/>
            </a:endParaRPr>
          </a:p>
          <a:p>
            <a:pPr marL="152400" lvl="0" indent="0" algn="just">
              <a:lnSpc>
                <a:spcPct val="200000"/>
              </a:lnSpc>
              <a:spcBef>
                <a:spcPts val="0"/>
              </a:spcBef>
              <a:buSzPts val="2400"/>
              <a:buNone/>
            </a:pPr>
            <a:endParaRPr lang="en-US" sz="2200"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5"/>
          <p:cNvSpPr txBox="1">
            <a:spLocks noGrp="1"/>
          </p:cNvSpPr>
          <p:nvPr>
            <p:ph type="title"/>
          </p:nvPr>
        </p:nvSpPr>
        <p:spPr>
          <a:xfrm>
            <a:off x="838200" y="365126"/>
            <a:ext cx="10515600" cy="679800"/>
          </a:xfrm>
          <a:prstGeom prst="rect">
            <a:avLst/>
          </a:prstGeom>
          <a:noFill/>
          <a:ln>
            <a:noFill/>
          </a:ln>
        </p:spPr>
        <p:txBody>
          <a:bodyPr spcFirstLastPara="1" wrap="square" lIns="91425" tIns="45700" rIns="91425" bIns="45700" anchor="ctr" anchorCtr="0">
            <a:normAutofit/>
          </a:bodyPr>
          <a:lstStyle/>
          <a:p>
            <a:pPr lvl="0">
              <a:buClr>
                <a:srgbClr val="0070C0"/>
              </a:buClr>
              <a:buSzPct val="56692"/>
            </a:pP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I</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ntroduction:</a:t>
            </a:r>
            <a:endParaRPr lang="en-US" sz="3200" dirty="0">
              <a:solidFill>
                <a:schemeClr val="accent1"/>
              </a:solidFill>
              <a:latin typeface="Times New Roman" panose="02020603050405020304" pitchFamily="18" charset="0"/>
              <a:cs typeface="Times New Roman" panose="02020603050405020304" pitchFamily="18" charset="0"/>
            </a:endParaRPr>
          </a:p>
        </p:txBody>
      </p:sp>
      <p:sp>
        <p:nvSpPr>
          <p:cNvPr id="103" name="Google Shape;103;p15"/>
          <p:cNvSpPr txBox="1">
            <a:spLocks noGrp="1"/>
          </p:cNvSpPr>
          <p:nvPr>
            <p:ph type="body" idx="1"/>
          </p:nvPr>
        </p:nvSpPr>
        <p:spPr>
          <a:xfrm>
            <a:off x="326923" y="1044926"/>
            <a:ext cx="10515600" cy="4613700"/>
          </a:xfrm>
          <a:prstGeom prst="rect">
            <a:avLst/>
          </a:prstGeom>
          <a:noFill/>
          <a:ln>
            <a:noFill/>
          </a:ln>
        </p:spPr>
        <p:txBody>
          <a:bodyPr spcFirstLastPara="1" wrap="square" lIns="91425" tIns="45700" rIns="91425" bIns="45700" anchor="t" anchorCtr="0">
            <a:noAutofit/>
          </a:bodyPr>
          <a:lstStyle/>
          <a:p>
            <a:pPr marL="571500" lvl="0" indent="-457200" algn="just" eaLnBrk="0" fontAlgn="base" hangingPunct="0">
              <a:lnSpc>
                <a:spcPct val="100000"/>
              </a:lnSpc>
              <a:spcBef>
                <a:spcPct val="0"/>
              </a:spcBef>
              <a:spcAft>
                <a:spcPct val="0"/>
              </a:spcAft>
              <a:buClrTx/>
              <a:buFont typeface="+mj-lt"/>
              <a:buAutoNum type="arabicPeriod"/>
            </a:pPr>
            <a:r>
              <a:rPr lang="en-US" altLang="en-US" sz="2200" dirty="0">
                <a:solidFill>
                  <a:schemeClr val="tx1"/>
                </a:solidFill>
                <a:latin typeface="Times New Roman" panose="02020603050405020304" pitchFamily="18" charset="0"/>
                <a:cs typeface="Times New Roman" panose="02020603050405020304" pitchFamily="18" charset="0"/>
              </a:rPr>
              <a:t>Livestock such as cattle and buffaloes play a vital role in agriculture, dairy production, and the rural economy.</a:t>
            </a:r>
          </a:p>
          <a:p>
            <a:pPr marL="1485900" lvl="0" indent="-1371600" algn="just" eaLnBrk="0" fontAlgn="base" hangingPunct="0">
              <a:lnSpc>
                <a:spcPct val="100000"/>
              </a:lnSpc>
              <a:spcBef>
                <a:spcPct val="0"/>
              </a:spcBef>
              <a:spcAft>
                <a:spcPct val="0"/>
              </a:spcAft>
              <a:buClrTx/>
              <a:buFont typeface="+mj-lt"/>
              <a:buAutoNum type="arabicPeriod"/>
            </a:pPr>
            <a:endParaRPr lang="en-US" altLang="en-US" sz="2200" dirty="0">
              <a:solidFill>
                <a:schemeClr val="tx1"/>
              </a:solidFill>
              <a:latin typeface="Times New Roman" panose="02020603050405020304" pitchFamily="18" charset="0"/>
              <a:cs typeface="Times New Roman" panose="02020603050405020304" pitchFamily="18" charset="0"/>
            </a:endParaRPr>
          </a:p>
          <a:p>
            <a:pPr marL="571500" lvl="0" indent="-457200" algn="just" eaLnBrk="0" fontAlgn="base" hangingPunct="0">
              <a:lnSpc>
                <a:spcPct val="100000"/>
              </a:lnSpc>
              <a:spcBef>
                <a:spcPct val="0"/>
              </a:spcBef>
              <a:spcAft>
                <a:spcPct val="0"/>
              </a:spcAft>
              <a:buClrTx/>
              <a:buFont typeface="+mj-lt"/>
              <a:buAutoNum type="arabicPeriod"/>
            </a:pPr>
            <a:r>
              <a:rPr lang="en-US" altLang="en-US" sz="2200" dirty="0">
                <a:solidFill>
                  <a:schemeClr val="tx1"/>
                </a:solidFill>
                <a:latin typeface="Times New Roman" panose="02020603050405020304" pitchFamily="18" charset="0"/>
                <a:cs typeface="Times New Roman" panose="02020603050405020304" pitchFamily="18" charset="0"/>
              </a:rPr>
              <a:t>Proper identification of animal type is important for farm management, breeding, health monitoring, and insurance.</a:t>
            </a:r>
          </a:p>
          <a:p>
            <a:pPr marL="571500" lvl="0" indent="-457200" algn="just" eaLnBrk="0" fontAlgn="base" hangingPunct="0">
              <a:lnSpc>
                <a:spcPct val="100000"/>
              </a:lnSpc>
              <a:spcBef>
                <a:spcPct val="0"/>
              </a:spcBef>
              <a:spcAft>
                <a:spcPct val="0"/>
              </a:spcAft>
              <a:buClrTx/>
              <a:buFont typeface="+mj-lt"/>
              <a:buAutoNum type="arabicPeriod"/>
            </a:pPr>
            <a:endParaRPr lang="en-US" altLang="en-US" sz="2200" dirty="0">
              <a:solidFill>
                <a:schemeClr val="tx1"/>
              </a:solidFill>
              <a:latin typeface="Times New Roman" panose="02020603050405020304" pitchFamily="18" charset="0"/>
              <a:cs typeface="Times New Roman" panose="02020603050405020304" pitchFamily="18" charset="0"/>
            </a:endParaRPr>
          </a:p>
          <a:p>
            <a:pPr marL="571500" lvl="0" indent="-457200" algn="just" eaLnBrk="0" fontAlgn="base" hangingPunct="0">
              <a:lnSpc>
                <a:spcPct val="100000"/>
              </a:lnSpc>
              <a:spcBef>
                <a:spcPct val="0"/>
              </a:spcBef>
              <a:spcAft>
                <a:spcPct val="0"/>
              </a:spcAft>
              <a:buClrTx/>
              <a:buFont typeface="+mj-lt"/>
              <a:buAutoNum type="arabicPeriod"/>
            </a:pPr>
            <a:r>
              <a:rPr lang="en-US" altLang="en-US" sz="2200" dirty="0">
                <a:solidFill>
                  <a:schemeClr val="tx1"/>
                </a:solidFill>
                <a:latin typeface="Times New Roman" panose="02020603050405020304" pitchFamily="18" charset="0"/>
                <a:cs typeface="Times New Roman" panose="02020603050405020304" pitchFamily="18" charset="0"/>
              </a:rPr>
              <a:t>With the growth of artificial intelligence, computer vision can be used to automatically identify animals from images.</a:t>
            </a:r>
          </a:p>
          <a:p>
            <a:pPr marL="1485900" lvl="0" indent="-1371600" algn="just" eaLnBrk="0" fontAlgn="base" hangingPunct="0">
              <a:lnSpc>
                <a:spcPct val="100000"/>
              </a:lnSpc>
              <a:spcBef>
                <a:spcPct val="0"/>
              </a:spcBef>
              <a:spcAft>
                <a:spcPct val="0"/>
              </a:spcAft>
              <a:buClrTx/>
              <a:buFont typeface="+mj-lt"/>
              <a:buAutoNum type="arabicPeriod"/>
            </a:pPr>
            <a:endParaRPr lang="en-US" altLang="en-US" sz="2200" dirty="0">
              <a:solidFill>
                <a:schemeClr val="tx1"/>
              </a:solidFill>
              <a:latin typeface="Times New Roman" panose="02020603050405020304" pitchFamily="18" charset="0"/>
              <a:cs typeface="Times New Roman" panose="02020603050405020304" pitchFamily="18" charset="0"/>
            </a:endParaRPr>
          </a:p>
          <a:p>
            <a:pPr marL="571500" lvl="0" indent="-457200" algn="just" eaLnBrk="0" fontAlgn="base" hangingPunct="0">
              <a:lnSpc>
                <a:spcPct val="100000"/>
              </a:lnSpc>
              <a:spcBef>
                <a:spcPct val="0"/>
              </a:spcBef>
              <a:spcAft>
                <a:spcPct val="0"/>
              </a:spcAft>
              <a:buClrTx/>
              <a:buFont typeface="+mj-lt"/>
              <a:buAutoNum type="arabicPeriod"/>
            </a:pPr>
            <a:r>
              <a:rPr lang="en-US" altLang="en-US" sz="2200" dirty="0">
                <a:solidFill>
                  <a:schemeClr val="tx1"/>
                </a:solidFill>
                <a:latin typeface="Times New Roman" panose="02020603050405020304" pitchFamily="18" charset="0"/>
                <a:cs typeface="Times New Roman" panose="02020603050405020304" pitchFamily="18" charset="0"/>
              </a:rPr>
              <a:t>Image-based classification helps in distinguishing between cattle and buffaloes based on their visual features.</a:t>
            </a:r>
          </a:p>
          <a:p>
            <a:pPr marL="571500" lvl="0" indent="-457200" algn="just" eaLnBrk="0" fontAlgn="base" hangingPunct="0">
              <a:lnSpc>
                <a:spcPct val="100000"/>
              </a:lnSpc>
              <a:spcBef>
                <a:spcPct val="0"/>
              </a:spcBef>
              <a:spcAft>
                <a:spcPct val="0"/>
              </a:spcAft>
              <a:buClrTx/>
              <a:buFont typeface="+mj-lt"/>
              <a:buAutoNum type="arabicPeriod"/>
            </a:pPr>
            <a:endParaRPr lang="en-US" altLang="en-US" sz="2200" dirty="0">
              <a:solidFill>
                <a:schemeClr val="tx1"/>
              </a:solidFill>
              <a:latin typeface="Times New Roman" panose="02020603050405020304" pitchFamily="18" charset="0"/>
              <a:cs typeface="Times New Roman" panose="02020603050405020304" pitchFamily="18" charset="0"/>
            </a:endParaRPr>
          </a:p>
          <a:p>
            <a:pPr marL="571500" lvl="0" indent="-457200" algn="just" eaLnBrk="0" fontAlgn="base" hangingPunct="0">
              <a:lnSpc>
                <a:spcPct val="100000"/>
              </a:lnSpc>
              <a:spcBef>
                <a:spcPct val="0"/>
              </a:spcBef>
              <a:spcAft>
                <a:spcPct val="0"/>
              </a:spcAft>
              <a:buClrTx/>
              <a:buFont typeface="+mj-lt"/>
              <a:buAutoNum type="arabicPeriod"/>
            </a:pPr>
            <a:r>
              <a:rPr lang="en-US" altLang="en-US" sz="2200" dirty="0">
                <a:solidFill>
                  <a:schemeClr val="tx1"/>
                </a:solidFill>
                <a:latin typeface="Times New Roman" panose="02020603050405020304" pitchFamily="18" charset="0"/>
                <a:cs typeface="Times New Roman" panose="02020603050405020304" pitchFamily="18" charset="0"/>
              </a:rPr>
              <a:t>This system uses digital images of animals as input for classification.</a:t>
            </a:r>
          </a:p>
          <a:p>
            <a:pPr marL="1485900" lvl="0" indent="-1371600" algn="just" eaLnBrk="0" fontAlgn="base" hangingPunct="0">
              <a:lnSpc>
                <a:spcPct val="100000"/>
              </a:lnSpc>
              <a:spcBef>
                <a:spcPct val="0"/>
              </a:spcBef>
              <a:spcAft>
                <a:spcPct val="0"/>
              </a:spcAft>
              <a:buClrTx/>
              <a:buFont typeface="+mj-lt"/>
              <a:buAutoNum type="arabicPeriod"/>
            </a:pPr>
            <a:endParaRPr lang="en-US" altLang="en-US" sz="2200" dirty="0">
              <a:solidFill>
                <a:schemeClr val="tx1"/>
              </a:solidFill>
              <a:latin typeface="Times New Roman" panose="02020603050405020304" pitchFamily="18" charset="0"/>
              <a:cs typeface="Times New Roman" panose="02020603050405020304" pitchFamily="18" charset="0"/>
            </a:endParaRPr>
          </a:p>
          <a:p>
            <a:pPr marL="1485900" lvl="0" indent="-1371600" algn="just" eaLnBrk="0" fontAlgn="base" hangingPunct="0">
              <a:lnSpc>
                <a:spcPct val="100000"/>
              </a:lnSpc>
              <a:spcBef>
                <a:spcPct val="0"/>
              </a:spcBef>
              <a:spcAft>
                <a:spcPct val="0"/>
              </a:spcAft>
              <a:buClrTx/>
              <a:buFont typeface="+mj-lt"/>
              <a:buAutoNum type="arabicPeriod"/>
            </a:pPr>
            <a:endParaRPr lang="en-US" altLang="en-US" sz="2200" dirty="0">
              <a:solidFill>
                <a:schemeClr val="tx1"/>
              </a:solidFill>
              <a:latin typeface="Times New Roman" panose="02020603050405020304" pitchFamily="18" charset="0"/>
              <a:cs typeface="Times New Roman" panose="02020603050405020304" pitchFamily="18" charset="0"/>
            </a:endParaRPr>
          </a:p>
          <a:p>
            <a:pPr marL="1485900" lvl="0" indent="-1371600" algn="just" eaLnBrk="0" fontAlgn="base" hangingPunct="0">
              <a:lnSpc>
                <a:spcPct val="100000"/>
              </a:lnSpc>
              <a:spcBef>
                <a:spcPct val="0"/>
              </a:spcBef>
              <a:spcAft>
                <a:spcPct val="0"/>
              </a:spcAft>
              <a:buClrTx/>
              <a:buFont typeface="+mj-lt"/>
              <a:buAutoNum type="arabicPeriod"/>
            </a:pPr>
            <a:endParaRPr lang="en-US" altLang="en-US" sz="2200" dirty="0">
              <a:solidFill>
                <a:schemeClr val="tx1"/>
              </a:solidFill>
              <a:latin typeface="Times New Roman" panose="02020603050405020304" pitchFamily="18" charset="0"/>
              <a:cs typeface="Times New Roman" panose="02020603050405020304" pitchFamily="18" charset="0"/>
            </a:endParaRPr>
          </a:p>
          <a:p>
            <a:pPr marL="1485900" lvl="0" indent="-1371600" algn="just" eaLnBrk="0" fontAlgn="base" hangingPunct="0">
              <a:lnSpc>
                <a:spcPct val="100000"/>
              </a:lnSpc>
              <a:spcBef>
                <a:spcPct val="0"/>
              </a:spcBef>
              <a:spcAft>
                <a:spcPct val="0"/>
              </a:spcAft>
              <a:buClrTx/>
              <a:buFont typeface="+mj-lt"/>
              <a:buAutoNum type="arabicPeriod"/>
            </a:pPr>
            <a:endParaRPr lang="en-US" altLang="en-US" sz="2200" dirty="0">
              <a:solidFill>
                <a:schemeClr val="tx1"/>
              </a:solidFill>
              <a:latin typeface="Times New Roman" panose="02020603050405020304" pitchFamily="18" charset="0"/>
              <a:cs typeface="Times New Roman" panose="02020603050405020304" pitchFamily="18" charset="0"/>
            </a:endParaRPr>
          </a:p>
          <a:p>
            <a:pPr marL="1485900" lvl="0" indent="-1371600" algn="just" eaLnBrk="0" fontAlgn="base" hangingPunct="0">
              <a:lnSpc>
                <a:spcPct val="100000"/>
              </a:lnSpc>
              <a:spcBef>
                <a:spcPct val="0"/>
              </a:spcBef>
              <a:spcAft>
                <a:spcPct val="0"/>
              </a:spcAft>
              <a:buClrTx/>
              <a:buFont typeface="+mj-lt"/>
              <a:buAutoNum type="arabicPeriod"/>
            </a:pPr>
            <a:endParaRPr lang="en-US" altLang="en-US" sz="2200" dirty="0">
              <a:solidFill>
                <a:schemeClr val="tx1"/>
              </a:solidFill>
              <a:latin typeface="Times New Roman" panose="02020603050405020304" pitchFamily="18" charset="0"/>
              <a:cs typeface="Times New Roman" panose="02020603050405020304" pitchFamily="18" charset="0"/>
            </a:endParaRPr>
          </a:p>
          <a:p>
            <a:pPr marL="1485900" lvl="0" indent="-1371600" algn="just" eaLnBrk="0" fontAlgn="base" hangingPunct="0">
              <a:lnSpc>
                <a:spcPct val="100000"/>
              </a:lnSpc>
              <a:spcBef>
                <a:spcPct val="0"/>
              </a:spcBef>
              <a:spcAft>
                <a:spcPct val="0"/>
              </a:spcAft>
              <a:buClrTx/>
              <a:buFont typeface="+mj-lt"/>
              <a:buAutoNum type="arabicPeriod"/>
            </a:pPr>
            <a:endParaRPr lang="en-US" altLang="en-US" sz="2200" dirty="0">
              <a:solidFill>
                <a:schemeClr val="tx1"/>
              </a:solidFill>
              <a:latin typeface="Times New Roman" panose="02020603050405020304" pitchFamily="18" charset="0"/>
              <a:cs typeface="Times New Roman" panose="02020603050405020304" pitchFamily="18" charset="0"/>
            </a:endParaRPr>
          </a:p>
          <a:p>
            <a:pPr marL="1485900" lvl="0" indent="-1371600" algn="just" eaLnBrk="0" fontAlgn="base" hangingPunct="0">
              <a:lnSpc>
                <a:spcPct val="100000"/>
              </a:lnSpc>
              <a:spcBef>
                <a:spcPct val="0"/>
              </a:spcBef>
              <a:spcAft>
                <a:spcPct val="0"/>
              </a:spcAft>
              <a:buClrTx/>
              <a:buFont typeface="+mj-lt"/>
              <a:buAutoNum type="arabicPeriod"/>
            </a:pPr>
            <a:endParaRPr lang="en-US" altLang="en-US" sz="2200" dirty="0">
              <a:solidFill>
                <a:schemeClr val="tx1"/>
              </a:solidFill>
              <a:latin typeface="Times New Roman" panose="02020603050405020304" pitchFamily="18" charset="0"/>
              <a:cs typeface="Times New Roman" panose="02020603050405020304" pitchFamily="18" charset="0"/>
            </a:endParaRPr>
          </a:p>
          <a:p>
            <a:pPr marL="1485900" lvl="0" indent="-1371600" algn="just" eaLnBrk="0" fontAlgn="base" hangingPunct="0">
              <a:lnSpc>
                <a:spcPct val="100000"/>
              </a:lnSpc>
              <a:spcBef>
                <a:spcPct val="0"/>
              </a:spcBef>
              <a:spcAft>
                <a:spcPct val="0"/>
              </a:spcAft>
              <a:buClrTx/>
              <a:buFont typeface="+mj-lt"/>
              <a:buAutoNum type="arabicPeriod"/>
            </a:pPr>
            <a:endParaRPr lang="en-US" altLang="en-US" sz="2200" dirty="0">
              <a:solidFill>
                <a:schemeClr val="tx1"/>
              </a:solidFill>
              <a:latin typeface="Times New Roman" panose="02020603050405020304" pitchFamily="18" charset="0"/>
              <a:cs typeface="Times New Roman" panose="02020603050405020304" pitchFamily="18" charset="0"/>
            </a:endParaRPr>
          </a:p>
          <a:p>
            <a:pPr marL="1485900" indent="-1371600" algn="just">
              <a:lnSpc>
                <a:spcPct val="100000"/>
              </a:lnSpc>
              <a:buFont typeface="+mj-lt"/>
              <a:buAutoNum type="arabicPeriod"/>
            </a:pPr>
            <a:endParaRPr lang="en-IN" sz="2200" dirty="0">
              <a:latin typeface="Times New Roman" panose="02020603050405020304" pitchFamily="18" charset="0"/>
              <a:cs typeface="Times New Roman" panose="02020603050405020304" pitchFamily="18" charset="0"/>
            </a:endParaRPr>
          </a:p>
        </p:txBody>
      </p:sp>
      <p:sp>
        <p:nvSpPr>
          <p:cNvPr id="104" name="Google Shape;10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5431CD5E-6ADD-AB6F-4B14-1FB6C9C41300}"/>
            </a:ext>
          </a:extLst>
        </p:cNvPr>
        <p:cNvGrpSpPr/>
        <p:nvPr/>
      </p:nvGrpSpPr>
      <p:grpSpPr>
        <a:xfrm>
          <a:off x="0" y="0"/>
          <a:ext cx="0" cy="0"/>
          <a:chOff x="0" y="0"/>
          <a:chExt cx="0" cy="0"/>
        </a:xfrm>
      </p:grpSpPr>
      <p:sp>
        <p:nvSpPr>
          <p:cNvPr id="102" name="Google Shape;102;p15">
            <a:extLst>
              <a:ext uri="{FF2B5EF4-FFF2-40B4-BE49-F238E27FC236}">
                <a16:creationId xmlns:a16="http://schemas.microsoft.com/office/drawing/2014/main" id="{830AC9D8-C140-0B63-1239-AB677415D802}"/>
              </a:ext>
            </a:extLst>
          </p:cNvPr>
          <p:cNvSpPr txBox="1">
            <a:spLocks noGrp="1"/>
          </p:cNvSpPr>
          <p:nvPr>
            <p:ph type="title"/>
          </p:nvPr>
        </p:nvSpPr>
        <p:spPr>
          <a:xfrm>
            <a:off x="838200" y="365126"/>
            <a:ext cx="10515600" cy="679800"/>
          </a:xfrm>
          <a:prstGeom prst="rect">
            <a:avLst/>
          </a:prstGeom>
          <a:noFill/>
          <a:ln>
            <a:noFill/>
          </a:ln>
        </p:spPr>
        <p:txBody>
          <a:bodyPr spcFirstLastPara="1" wrap="square" lIns="91425" tIns="45700" rIns="91425" bIns="45700" anchor="ctr" anchorCtr="0">
            <a:normAutofit/>
          </a:bodyPr>
          <a:lstStyle/>
          <a:p>
            <a:pPr lvl="0">
              <a:buClr>
                <a:srgbClr val="0070C0"/>
              </a:buClr>
              <a:buSzPct val="56692"/>
            </a:pP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I</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ntroduction </a:t>
            </a: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C</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ontinued:</a:t>
            </a:r>
            <a:endParaRPr lang="en-US" sz="3200" dirty="0">
              <a:solidFill>
                <a:schemeClr val="accent1"/>
              </a:solidFill>
              <a:latin typeface="Times New Roman" panose="02020603050405020304" pitchFamily="18" charset="0"/>
              <a:cs typeface="Times New Roman" panose="02020603050405020304" pitchFamily="18" charset="0"/>
            </a:endParaRPr>
          </a:p>
        </p:txBody>
      </p:sp>
      <p:sp>
        <p:nvSpPr>
          <p:cNvPr id="103" name="Google Shape;103;p15">
            <a:extLst>
              <a:ext uri="{FF2B5EF4-FFF2-40B4-BE49-F238E27FC236}">
                <a16:creationId xmlns:a16="http://schemas.microsoft.com/office/drawing/2014/main" id="{38368075-7324-656D-A11D-CC0C8165AD73}"/>
              </a:ext>
            </a:extLst>
          </p:cNvPr>
          <p:cNvSpPr txBox="1">
            <a:spLocks noGrp="1"/>
          </p:cNvSpPr>
          <p:nvPr>
            <p:ph type="body" idx="1"/>
          </p:nvPr>
        </p:nvSpPr>
        <p:spPr>
          <a:xfrm>
            <a:off x="326923" y="1044926"/>
            <a:ext cx="10515600" cy="4613700"/>
          </a:xfrm>
          <a:prstGeom prst="rect">
            <a:avLst/>
          </a:prstGeom>
          <a:noFill/>
          <a:ln>
            <a:noFill/>
          </a:ln>
        </p:spPr>
        <p:txBody>
          <a:bodyPr spcFirstLastPara="1" wrap="square" lIns="91425" tIns="45700" rIns="91425" bIns="45700" anchor="t" anchorCtr="0">
            <a:noAutofit/>
          </a:bodyPr>
          <a:lstStyle/>
          <a:p>
            <a:pPr marL="114300" lvl="0" indent="0" algn="just" eaLnBrk="0" fontAlgn="base" hangingPunct="0">
              <a:spcBef>
                <a:spcPct val="0"/>
              </a:spcBef>
              <a:spcAft>
                <a:spcPct val="0"/>
              </a:spcAft>
              <a:buClrTx/>
              <a:buNone/>
            </a:pPr>
            <a:endParaRPr lang="en-US" altLang="en-US" sz="2200" dirty="0">
              <a:solidFill>
                <a:schemeClr val="tx1"/>
              </a:solidFill>
              <a:latin typeface="Times New Roman" panose="02020603050405020304" pitchFamily="18" charset="0"/>
              <a:cs typeface="Times New Roman" panose="02020603050405020304" pitchFamily="18" charset="0"/>
            </a:endParaRPr>
          </a:p>
          <a:p>
            <a:pPr marL="114300" lvl="0" indent="0" eaLnBrk="0" fontAlgn="base" hangingPunct="0">
              <a:spcBef>
                <a:spcPct val="0"/>
              </a:spcBef>
              <a:spcAft>
                <a:spcPct val="0"/>
              </a:spcAft>
              <a:buClrTx/>
              <a:buNone/>
            </a:pPr>
            <a:r>
              <a:rPr lang="en-US" altLang="en-US" sz="2200" dirty="0">
                <a:solidFill>
                  <a:schemeClr val="tx1"/>
                </a:solidFill>
                <a:latin typeface="Times New Roman" panose="02020603050405020304" pitchFamily="18" charset="0"/>
                <a:cs typeface="Times New Roman" panose="02020603050405020304" pitchFamily="18" charset="0"/>
              </a:rPr>
              <a:t>6.   Machine learning and deep learning techniques analyze patterns such as shape, texture,                             horns, and body structure.</a:t>
            </a:r>
          </a:p>
        </p:txBody>
      </p:sp>
      <p:sp>
        <p:nvSpPr>
          <p:cNvPr id="104" name="Google Shape;104;p15">
            <a:extLst>
              <a:ext uri="{FF2B5EF4-FFF2-40B4-BE49-F238E27FC236}">
                <a16:creationId xmlns:a16="http://schemas.microsoft.com/office/drawing/2014/main" id="{CF3BACBC-37AA-6A71-D32C-830A3162F60E}"/>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2889899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lvl="0">
              <a:buClr>
                <a:srgbClr val="2F5496"/>
              </a:buClr>
              <a:buSzPts val="3200"/>
            </a:pP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L</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iterature </a:t>
            </a: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R</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eview:</a:t>
            </a:r>
            <a:endParaRPr lang="en-US" sz="3200" dirty="0">
              <a:solidFill>
                <a:schemeClr val="accent1"/>
              </a:solidFill>
            </a:endParaRPr>
          </a:p>
        </p:txBody>
      </p:sp>
      <p:sp>
        <p:nvSpPr>
          <p:cNvPr id="111" name="Google Shape;111;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6" name="TextBox 5">
            <a:extLst>
              <a:ext uri="{FF2B5EF4-FFF2-40B4-BE49-F238E27FC236}">
                <a16:creationId xmlns:a16="http://schemas.microsoft.com/office/drawing/2014/main" id="{3AC0D418-70A0-10AD-EE0D-F3D9369098E5}"/>
              </a:ext>
            </a:extLst>
          </p:cNvPr>
          <p:cNvSpPr txBox="1"/>
          <p:nvPr/>
        </p:nvSpPr>
        <p:spPr>
          <a:xfrm>
            <a:off x="491613" y="1184366"/>
            <a:ext cx="10862187" cy="4493538"/>
          </a:xfrm>
          <a:prstGeom prst="rect">
            <a:avLst/>
          </a:prstGeom>
          <a:noFill/>
        </p:spPr>
        <p:txBody>
          <a:bodyPr wrap="square" rtlCol="0">
            <a:spAutoFit/>
          </a:bodyPr>
          <a:lstStyle/>
          <a:p>
            <a:pPr marL="342900" indent="-342900" algn="just">
              <a:buFont typeface="+mj-lt"/>
              <a:buAutoNum type="arabicPeriod"/>
            </a:pPr>
            <a:r>
              <a:rPr lang="en-US" sz="2200" dirty="0">
                <a:latin typeface="Times New Roman" panose="02020603050405020304" pitchFamily="18" charset="0"/>
                <a:cs typeface="Times New Roman" panose="02020603050405020304" pitchFamily="18" charset="0"/>
              </a:rPr>
              <a:t>Recent research demonstrates that Convolutional Neural Network (CNN) based deep learning models are highly effective for livestock image classification, achieving good accuracy in identifying animal species such as cows, buffaloes, sheep, and goats.</a:t>
            </a:r>
          </a:p>
          <a:p>
            <a:pPr marL="342900" indent="-342900" algn="just">
              <a:buFont typeface="+mj-lt"/>
              <a:buAutoNum type="arabicPeriod"/>
            </a:pPr>
            <a:endParaRPr lang="en-US" sz="22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2200" dirty="0">
                <a:latin typeface="Times New Roman" panose="02020603050405020304" pitchFamily="18" charset="0"/>
                <a:cs typeface="Times New Roman" panose="02020603050405020304" pitchFamily="18" charset="0"/>
              </a:rPr>
              <a:t>Most existing studies primarily focus on animal type identification or breed classification using supervised learning techniques. These works mainly address classification accuracy but do not extend toward complete livestock management solutions.</a:t>
            </a:r>
          </a:p>
          <a:p>
            <a:pPr marL="342900" indent="-342900" algn="just">
              <a:buFont typeface="+mj-lt"/>
              <a:buAutoNum type="arabicPeriod"/>
            </a:pPr>
            <a:endParaRPr lang="en-US" sz="22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2200" dirty="0">
                <a:latin typeface="Times New Roman" panose="02020603050405020304" pitchFamily="18" charset="0"/>
                <a:cs typeface="Times New Roman" panose="02020603050405020304" pitchFamily="18" charset="0"/>
              </a:rPr>
              <a:t>Only a limited number of studies attempt health analysis using visual features, and even these are restricted to basic symptom detection without systematic validation or explainability.</a:t>
            </a:r>
          </a:p>
          <a:p>
            <a:pPr marL="342900" indent="-342900" algn="just">
              <a:buFont typeface="+mj-lt"/>
              <a:buAutoNum type="arabicPeriod"/>
            </a:pPr>
            <a:endParaRPr lang="en-US" sz="2200" dirty="0">
              <a:latin typeface="Times New Roman" panose="02020603050405020304" pitchFamily="18" charset="0"/>
              <a:cs typeface="Times New Roman" panose="02020603050405020304" pitchFamily="18" charset="0"/>
            </a:endParaRPr>
          </a:p>
          <a:p>
            <a:pPr algn="just"/>
            <a:endParaRPr lang="en-IN"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8CE3C30F-3204-2E25-4D75-E59748C50E86}"/>
            </a:ext>
          </a:extLst>
        </p:cNvPr>
        <p:cNvGrpSpPr/>
        <p:nvPr/>
      </p:nvGrpSpPr>
      <p:grpSpPr>
        <a:xfrm>
          <a:off x="0" y="0"/>
          <a:ext cx="0" cy="0"/>
          <a:chOff x="0" y="0"/>
          <a:chExt cx="0" cy="0"/>
        </a:xfrm>
      </p:grpSpPr>
      <p:sp>
        <p:nvSpPr>
          <p:cNvPr id="109" name="Google Shape;109;p16">
            <a:extLst>
              <a:ext uri="{FF2B5EF4-FFF2-40B4-BE49-F238E27FC236}">
                <a16:creationId xmlns:a16="http://schemas.microsoft.com/office/drawing/2014/main" id="{375BCCFC-7A2B-2EA1-0049-ABB2156C520B}"/>
              </a:ext>
            </a:extLst>
          </p:cNvPr>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lvl="0">
              <a:buClr>
                <a:srgbClr val="2F5496"/>
              </a:buClr>
              <a:buSzPts val="3200"/>
            </a:pP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L</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iterature </a:t>
            </a: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R</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eview </a:t>
            </a: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C</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ontinued:</a:t>
            </a:r>
            <a:endParaRPr lang="en-US" sz="3200" dirty="0">
              <a:solidFill>
                <a:schemeClr val="accent1"/>
              </a:solidFill>
            </a:endParaRPr>
          </a:p>
        </p:txBody>
      </p:sp>
      <p:sp>
        <p:nvSpPr>
          <p:cNvPr id="111" name="Google Shape;111;p16">
            <a:extLst>
              <a:ext uri="{FF2B5EF4-FFF2-40B4-BE49-F238E27FC236}">
                <a16:creationId xmlns:a16="http://schemas.microsoft.com/office/drawing/2014/main" id="{921C2A80-6ED2-0496-0EB9-554021520EFE}"/>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6" name="TextBox 5">
            <a:extLst>
              <a:ext uri="{FF2B5EF4-FFF2-40B4-BE49-F238E27FC236}">
                <a16:creationId xmlns:a16="http://schemas.microsoft.com/office/drawing/2014/main" id="{30C199B8-4A25-509D-81C6-B98AF1F9FAAC}"/>
              </a:ext>
            </a:extLst>
          </p:cNvPr>
          <p:cNvSpPr txBox="1"/>
          <p:nvPr/>
        </p:nvSpPr>
        <p:spPr>
          <a:xfrm>
            <a:off x="491613" y="1184366"/>
            <a:ext cx="10862187" cy="1107996"/>
          </a:xfrm>
          <a:prstGeom prst="rect">
            <a:avLst/>
          </a:prstGeom>
          <a:noFill/>
        </p:spPr>
        <p:txBody>
          <a:bodyPr wrap="square" rtlCol="0">
            <a:spAutoFit/>
          </a:bodyPr>
          <a:lstStyle/>
          <a:p>
            <a:pPr algn="just"/>
            <a:r>
              <a:rPr lang="en-US" sz="2200" dirty="0">
                <a:latin typeface="Times New Roman" panose="02020603050405020304" pitchFamily="18" charset="0"/>
                <a:cs typeface="Times New Roman" panose="02020603050405020304" pitchFamily="18" charset="0"/>
              </a:rPr>
              <a:t>4.  Additionally, many current livestock management systems rely on manual record keeping  or RFID-based identification, which increases operational cost, requires physical tagging, and is prone to duplication, data inconsistency, and human error.</a:t>
            </a:r>
          </a:p>
        </p:txBody>
      </p:sp>
    </p:spTree>
    <p:extLst>
      <p:ext uri="{BB962C8B-B14F-4D97-AF65-F5344CB8AC3E}">
        <p14:creationId xmlns:p14="http://schemas.microsoft.com/office/powerpoint/2010/main" val="2571915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7"/>
          <p:cNvSpPr txBox="1">
            <a:spLocks noGrp="1"/>
          </p:cNvSpPr>
          <p:nvPr>
            <p:ph type="title"/>
          </p:nvPr>
        </p:nvSpPr>
        <p:spPr>
          <a:xfrm>
            <a:off x="838200" y="365125"/>
            <a:ext cx="10515600" cy="819300"/>
          </a:xfrm>
          <a:prstGeom prst="rect">
            <a:avLst/>
          </a:prstGeom>
          <a:noFill/>
          <a:ln>
            <a:noFill/>
          </a:ln>
        </p:spPr>
        <p:txBody>
          <a:bodyPr spcFirstLastPara="1" wrap="square" lIns="91425" tIns="45700" rIns="91425" bIns="45700" anchor="ctr" anchorCtr="0">
            <a:normAutofit/>
          </a:bodyPr>
          <a:lstStyle/>
          <a:p>
            <a:pPr lvl="0">
              <a:buClr>
                <a:srgbClr val="2F5496"/>
              </a:buClr>
              <a:buSzPts val="3200"/>
            </a:pP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R</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esearch </a:t>
            </a: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G</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ap &amp; </a:t>
            </a: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M</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otivation:</a:t>
            </a:r>
            <a:endParaRPr lang="en-US" sz="3200" dirty="0">
              <a:solidFill>
                <a:schemeClr val="accent1"/>
              </a:solidFill>
              <a:latin typeface="Times New Roman" panose="02020603050405020304" pitchFamily="18" charset="0"/>
              <a:cs typeface="Times New Roman" panose="02020603050405020304" pitchFamily="18" charset="0"/>
            </a:endParaRPr>
          </a:p>
        </p:txBody>
      </p:sp>
      <p:sp>
        <p:nvSpPr>
          <p:cNvPr id="117" name="Google Shape;117;p17"/>
          <p:cNvSpPr txBox="1">
            <a:spLocks noGrp="1"/>
          </p:cNvSpPr>
          <p:nvPr>
            <p:ph type="body" idx="1"/>
          </p:nvPr>
        </p:nvSpPr>
        <p:spPr>
          <a:xfrm>
            <a:off x="838200" y="1184367"/>
            <a:ext cx="10515600" cy="4058100"/>
          </a:xfrm>
          <a:prstGeom prst="rect">
            <a:avLst/>
          </a:prstGeom>
          <a:noFill/>
          <a:ln>
            <a:noFill/>
          </a:ln>
        </p:spPr>
        <p:txBody>
          <a:bodyPr spcFirstLastPara="1" wrap="square" lIns="91425" tIns="45700" rIns="91425" bIns="45700" anchor="t" anchorCtr="0">
            <a:noAutofit/>
          </a:bodyPr>
          <a:lstStyle/>
          <a:p>
            <a:pPr marL="76200" indent="0" algn="just">
              <a:buNone/>
            </a:pPr>
            <a:r>
              <a:rPr lang="en-US" sz="2200" b="1" dirty="0">
                <a:latin typeface="Times New Roman" panose="02020603050405020304" pitchFamily="18" charset="0"/>
                <a:cs typeface="Times New Roman" panose="02020603050405020304" pitchFamily="18" charset="0"/>
              </a:rPr>
              <a:t>Identified Research Gaps</a:t>
            </a:r>
          </a:p>
          <a:p>
            <a:pPr marL="571500" indent="-457200" algn="just">
              <a:buFont typeface="+mj-lt"/>
              <a:buAutoNum type="arabicPeriod"/>
            </a:pPr>
            <a:r>
              <a:rPr lang="en-US" sz="2200" dirty="0">
                <a:latin typeface="Times New Roman" panose="02020603050405020304" pitchFamily="18" charset="0"/>
                <a:cs typeface="Times New Roman" panose="02020603050405020304" pitchFamily="18" charset="0"/>
              </a:rPr>
              <a:t>Existing systems do not provide a unique and persistent digital identity for each livestock animal.</a:t>
            </a:r>
          </a:p>
          <a:p>
            <a:pPr marL="571500" indent="-457200" algn="just">
              <a:buFont typeface="+mj-lt"/>
              <a:buAutoNum type="arabicPeriod"/>
            </a:pPr>
            <a:r>
              <a:rPr lang="en-US" sz="2200" dirty="0">
                <a:latin typeface="Times New Roman" panose="02020603050405020304" pitchFamily="18" charset="0"/>
                <a:cs typeface="Times New Roman" panose="02020603050405020304" pitchFamily="18" charset="0"/>
              </a:rPr>
              <a:t>There is no effective duplicate or fraud detection mechanism, leading to multiple registrations and misuse of records.</a:t>
            </a:r>
          </a:p>
          <a:p>
            <a:pPr marL="571500" indent="-457200" algn="just">
              <a:buFont typeface="+mj-lt"/>
              <a:buAutoNum type="arabicPeriod"/>
            </a:pPr>
            <a:r>
              <a:rPr lang="en-US" sz="2200" dirty="0">
                <a:latin typeface="Times New Roman" panose="02020603050405020304" pitchFamily="18" charset="0"/>
                <a:cs typeface="Times New Roman" panose="02020603050405020304" pitchFamily="18" charset="0"/>
              </a:rPr>
              <a:t>Health analysis is either very limited or completely absent, especially in terms of visual health risk indicators.</a:t>
            </a:r>
          </a:p>
          <a:p>
            <a:pPr marL="571500" indent="-457200" algn="just">
              <a:buFont typeface="+mj-lt"/>
              <a:buAutoNum type="arabicPeriod"/>
            </a:pPr>
            <a:r>
              <a:rPr lang="en-US" sz="2200" dirty="0">
                <a:latin typeface="Times New Roman" panose="02020603050405020304" pitchFamily="18" charset="0"/>
                <a:cs typeface="Times New Roman" panose="02020603050405020304" pitchFamily="18" charset="0"/>
              </a:rPr>
              <a:t>Most models operate as black boxes, lacking Explainable AI (XAI) features to justify predictions and build user trust.</a:t>
            </a:r>
          </a:p>
          <a:p>
            <a:pPr marL="571500" indent="-457200" algn="just">
              <a:buFont typeface="+mj-lt"/>
              <a:buAutoNum type="arabicPeriod"/>
            </a:pPr>
            <a:r>
              <a:rPr lang="en-US" sz="2200" dirty="0">
                <a:latin typeface="Times New Roman" panose="02020603050405020304" pitchFamily="18" charset="0"/>
                <a:cs typeface="Times New Roman" panose="02020603050405020304" pitchFamily="18" charset="0"/>
              </a:rPr>
              <a:t>Current solutions are not end-to-end systems; they lack proper integration of AI models, user interface, and database management.</a:t>
            </a:r>
          </a:p>
        </p:txBody>
      </p:sp>
      <p:sp>
        <p:nvSpPr>
          <p:cNvPr id="118" name="Google Shape;118;p1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4914D13C-2E89-2AC8-3766-A10C72EAB9B8}"/>
            </a:ext>
          </a:extLst>
        </p:cNvPr>
        <p:cNvGrpSpPr/>
        <p:nvPr/>
      </p:nvGrpSpPr>
      <p:grpSpPr>
        <a:xfrm>
          <a:off x="0" y="0"/>
          <a:ext cx="0" cy="0"/>
          <a:chOff x="0" y="0"/>
          <a:chExt cx="0" cy="0"/>
        </a:xfrm>
      </p:grpSpPr>
      <p:sp>
        <p:nvSpPr>
          <p:cNvPr id="116" name="Google Shape;116;p17">
            <a:extLst>
              <a:ext uri="{FF2B5EF4-FFF2-40B4-BE49-F238E27FC236}">
                <a16:creationId xmlns:a16="http://schemas.microsoft.com/office/drawing/2014/main" id="{D4C3150C-AA84-B6AE-476D-D946979C6497}"/>
              </a:ext>
            </a:extLst>
          </p:cNvPr>
          <p:cNvSpPr txBox="1">
            <a:spLocks noGrp="1"/>
          </p:cNvSpPr>
          <p:nvPr>
            <p:ph type="title"/>
          </p:nvPr>
        </p:nvSpPr>
        <p:spPr>
          <a:xfrm>
            <a:off x="838200" y="365125"/>
            <a:ext cx="10515600" cy="819300"/>
          </a:xfrm>
          <a:prstGeom prst="rect">
            <a:avLst/>
          </a:prstGeom>
          <a:noFill/>
          <a:ln>
            <a:noFill/>
          </a:ln>
        </p:spPr>
        <p:txBody>
          <a:bodyPr spcFirstLastPara="1" wrap="square" lIns="91425" tIns="45700" rIns="91425" bIns="45700" anchor="ctr" anchorCtr="0">
            <a:normAutofit/>
          </a:bodyPr>
          <a:lstStyle/>
          <a:p>
            <a:pPr lvl="0">
              <a:buClr>
                <a:srgbClr val="2F5496"/>
              </a:buClr>
              <a:buSzPts val="3200"/>
            </a:pP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R</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esearch </a:t>
            </a: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G</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ap &amp; </a:t>
            </a: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M</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otivation </a:t>
            </a: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C</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ontinued:</a:t>
            </a:r>
            <a:endParaRPr lang="en-US" sz="3200" dirty="0">
              <a:solidFill>
                <a:schemeClr val="accent1"/>
              </a:solidFill>
              <a:latin typeface="Times New Roman" panose="02020603050405020304" pitchFamily="18" charset="0"/>
              <a:cs typeface="Times New Roman" panose="02020603050405020304" pitchFamily="18" charset="0"/>
            </a:endParaRPr>
          </a:p>
        </p:txBody>
      </p:sp>
      <p:sp>
        <p:nvSpPr>
          <p:cNvPr id="117" name="Google Shape;117;p17">
            <a:extLst>
              <a:ext uri="{FF2B5EF4-FFF2-40B4-BE49-F238E27FC236}">
                <a16:creationId xmlns:a16="http://schemas.microsoft.com/office/drawing/2014/main" id="{3E7030D1-878E-F738-5727-E2B0A8124E57}"/>
              </a:ext>
            </a:extLst>
          </p:cNvPr>
          <p:cNvSpPr txBox="1">
            <a:spLocks noGrp="1"/>
          </p:cNvSpPr>
          <p:nvPr>
            <p:ph type="body" idx="1"/>
          </p:nvPr>
        </p:nvSpPr>
        <p:spPr>
          <a:xfrm>
            <a:off x="838200" y="1184367"/>
            <a:ext cx="10515600" cy="4058100"/>
          </a:xfrm>
          <a:prstGeom prst="rect">
            <a:avLst/>
          </a:prstGeom>
          <a:noFill/>
          <a:ln>
            <a:noFill/>
          </a:ln>
        </p:spPr>
        <p:txBody>
          <a:bodyPr spcFirstLastPara="1" wrap="square" lIns="91425" tIns="45700" rIns="91425" bIns="45700" anchor="t" anchorCtr="0">
            <a:noAutofit/>
          </a:bodyPr>
          <a:lstStyle/>
          <a:p>
            <a:pPr marL="76200" indent="0" algn="just">
              <a:buNone/>
            </a:pPr>
            <a:r>
              <a:rPr lang="en-US" sz="2200" b="1" dirty="0">
                <a:latin typeface="Times New Roman" panose="02020603050405020304" pitchFamily="18" charset="0"/>
                <a:cs typeface="Times New Roman" panose="02020603050405020304" pitchFamily="18" charset="0"/>
              </a:rPr>
              <a:t>Motivation</a:t>
            </a:r>
          </a:p>
          <a:p>
            <a:pPr marL="571500" indent="-457200" algn="just">
              <a:buFont typeface="+mj-lt"/>
              <a:buAutoNum type="arabicPeriod"/>
            </a:pPr>
            <a:r>
              <a:rPr lang="en-US" sz="2200" dirty="0">
                <a:latin typeface="Times New Roman" panose="02020603050405020304" pitchFamily="18" charset="0"/>
                <a:cs typeface="Times New Roman" panose="02020603050405020304" pitchFamily="18" charset="0"/>
              </a:rPr>
              <a:t>The motivation of this work is to design and develop a complete AI-based smart livestock identification system that integrates deep learning, image processing, explainable AI, and database management to provide an accurate, transparent, and scalable solution for real-world livestock management.</a:t>
            </a:r>
          </a:p>
          <a:p>
            <a:pPr marL="0" lvl="0" indent="0" algn="just" eaLnBrk="0" fontAlgn="base" hangingPunct="0">
              <a:spcBef>
                <a:spcPct val="0"/>
              </a:spcBef>
              <a:spcAft>
                <a:spcPct val="0"/>
              </a:spcAft>
              <a:buClrTx/>
              <a:buSzTx/>
              <a:buNone/>
            </a:pPr>
            <a:endParaRPr lang="en-US" altLang="en-US" sz="2200" dirty="0">
              <a:solidFill>
                <a:schemeClr val="tx1"/>
              </a:solidFill>
              <a:latin typeface="Cambria" panose="02040503050406030204" pitchFamily="18" charset="0"/>
              <a:ea typeface="Cambria" panose="02040503050406030204" pitchFamily="18" charset="0"/>
            </a:endParaRPr>
          </a:p>
        </p:txBody>
      </p:sp>
      <p:sp>
        <p:nvSpPr>
          <p:cNvPr id="118" name="Google Shape;118;p17">
            <a:extLst>
              <a:ext uri="{FF2B5EF4-FFF2-40B4-BE49-F238E27FC236}">
                <a16:creationId xmlns:a16="http://schemas.microsoft.com/office/drawing/2014/main" id="{C607C3C6-B58E-F339-A355-0E35A0B63FDC}"/>
              </a:ext>
            </a:extLst>
          </p:cNvPr>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156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E9408DA1-C593-9926-05C8-94461AEC997D}"/>
            </a:ext>
          </a:extLst>
        </p:cNvPr>
        <p:cNvGrpSpPr/>
        <p:nvPr/>
      </p:nvGrpSpPr>
      <p:grpSpPr>
        <a:xfrm>
          <a:off x="0" y="0"/>
          <a:ext cx="0" cy="0"/>
          <a:chOff x="0" y="0"/>
          <a:chExt cx="0" cy="0"/>
        </a:xfrm>
      </p:grpSpPr>
      <p:sp>
        <p:nvSpPr>
          <p:cNvPr id="116" name="Google Shape;116;p17">
            <a:extLst>
              <a:ext uri="{FF2B5EF4-FFF2-40B4-BE49-F238E27FC236}">
                <a16:creationId xmlns:a16="http://schemas.microsoft.com/office/drawing/2014/main" id="{D6372D4A-A811-FD10-FE9E-CD1A6CFC9688}"/>
              </a:ext>
            </a:extLst>
          </p:cNvPr>
          <p:cNvSpPr txBox="1">
            <a:spLocks noGrp="1"/>
          </p:cNvSpPr>
          <p:nvPr>
            <p:ph type="title"/>
          </p:nvPr>
        </p:nvSpPr>
        <p:spPr>
          <a:xfrm>
            <a:off x="838200" y="365125"/>
            <a:ext cx="10515600" cy="819300"/>
          </a:xfrm>
          <a:prstGeom prst="rect">
            <a:avLst/>
          </a:prstGeom>
          <a:noFill/>
          <a:ln>
            <a:noFill/>
          </a:ln>
        </p:spPr>
        <p:txBody>
          <a:bodyPr spcFirstLastPara="1" wrap="square" lIns="91425" tIns="45700" rIns="91425" bIns="45700" anchor="ctr" anchorCtr="0">
            <a:normAutofit/>
          </a:bodyPr>
          <a:lstStyle/>
          <a:p>
            <a:pPr lvl="0">
              <a:buClr>
                <a:srgbClr val="2F5496"/>
              </a:buClr>
              <a:buSzPts val="3200"/>
            </a:pPr>
            <a:r>
              <a:rPr lang="en-US" sz="32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C</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hallenges</a:t>
            </a:r>
            <a:r>
              <a:rPr lang="en-US" sz="32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 F</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aced </a:t>
            </a:r>
            <a:r>
              <a:rPr lang="en-US" sz="32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I</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n</a:t>
            </a:r>
            <a:r>
              <a:rPr lang="en-US" sz="32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 P</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roject:</a:t>
            </a:r>
            <a:endParaRPr lang="en-US" sz="3200" dirty="0">
              <a:solidFill>
                <a:schemeClr val="accent1"/>
              </a:solidFill>
              <a:latin typeface="Times New Roman" panose="02020603050405020304" pitchFamily="18" charset="0"/>
              <a:cs typeface="Times New Roman" panose="02020603050405020304" pitchFamily="18" charset="0"/>
            </a:endParaRPr>
          </a:p>
        </p:txBody>
      </p:sp>
      <p:sp>
        <p:nvSpPr>
          <p:cNvPr id="117" name="Google Shape;117;p17">
            <a:extLst>
              <a:ext uri="{FF2B5EF4-FFF2-40B4-BE49-F238E27FC236}">
                <a16:creationId xmlns:a16="http://schemas.microsoft.com/office/drawing/2014/main" id="{9A1E6E6E-7027-4087-4F19-CD0911011C69}"/>
              </a:ext>
            </a:extLst>
          </p:cNvPr>
          <p:cNvSpPr txBox="1">
            <a:spLocks noGrp="1"/>
          </p:cNvSpPr>
          <p:nvPr>
            <p:ph type="body" idx="1"/>
          </p:nvPr>
        </p:nvSpPr>
        <p:spPr>
          <a:xfrm>
            <a:off x="838200" y="1184367"/>
            <a:ext cx="10515600" cy="4058100"/>
          </a:xfrm>
          <a:prstGeom prst="rect">
            <a:avLst/>
          </a:prstGeom>
          <a:noFill/>
          <a:ln>
            <a:noFill/>
          </a:ln>
        </p:spPr>
        <p:txBody>
          <a:bodyPr spcFirstLastPara="1" wrap="square" lIns="91425" tIns="45700" rIns="91425" bIns="45700" anchor="t" anchorCtr="0">
            <a:noAutofit/>
          </a:bodyPr>
          <a:lstStyle/>
          <a:p>
            <a:pPr marL="533400" indent="-457200" algn="just">
              <a:buFont typeface="+mj-lt"/>
              <a:buAutoNum type="arabicPeriod"/>
            </a:pPr>
            <a:r>
              <a:rPr lang="en-US" sz="2200" dirty="0">
                <a:latin typeface="Times New Roman" panose="02020603050405020304" pitchFamily="18" charset="0"/>
                <a:cs typeface="Times New Roman" panose="02020603050405020304" pitchFamily="18" charset="0"/>
              </a:rPr>
              <a:t>High intra-class variance (different breeds have large visual diversity (such as the difference in appearance between Murrah and Surti buffaloes)) will make extracting distinguishing features for a possible convolutional neural network (CNN) to use for identification difficult.</a:t>
            </a:r>
          </a:p>
          <a:p>
            <a:pPr marL="533400" indent="-457200" algn="just">
              <a:buFont typeface="+mj-lt"/>
              <a:buAutoNum type="arabicPeriod"/>
            </a:pPr>
            <a:r>
              <a:rPr lang="en-US" sz="2200" dirty="0">
                <a:latin typeface="Times New Roman" panose="02020603050405020304" pitchFamily="18" charset="0"/>
                <a:cs typeface="Times New Roman" panose="02020603050405020304" pitchFamily="18" charset="0"/>
              </a:rPr>
              <a:t>Environmental noise can include background noise (such as mud, straw, and fencing) or inadequate rural lighting affecting the AI's ability to predict correctly</a:t>
            </a:r>
            <a:r>
              <a:rPr lang="en-US" altLang="en-US" sz="22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a:t>
            </a:r>
          </a:p>
          <a:p>
            <a:pPr marL="533400" indent="-457200" algn="just">
              <a:buFont typeface="+mj-lt"/>
              <a:buAutoNum type="arabicPeriod"/>
            </a:pPr>
            <a:r>
              <a:rPr lang="en-US" sz="2200" dirty="0">
                <a:latin typeface="Times New Roman" panose="02020603050405020304" pitchFamily="18" charset="0"/>
                <a:cs typeface="Times New Roman" panose="02020603050405020304" pitchFamily="18" charset="0"/>
              </a:rPr>
              <a:t>Mislabeling of animals through alphabetical indexing of animals in </a:t>
            </a:r>
            <a:r>
              <a:rPr lang="en-US" sz="2200" dirty="0" err="1">
                <a:latin typeface="Times New Roman" panose="02020603050405020304" pitchFamily="18" charset="0"/>
                <a:cs typeface="Times New Roman" panose="02020603050405020304" pitchFamily="18" charset="0"/>
              </a:rPr>
              <a:t>Keras</a:t>
            </a:r>
            <a:r>
              <a:rPr lang="en-US" sz="2200" dirty="0">
                <a:latin typeface="Times New Roman" panose="02020603050405020304" pitchFamily="18" charset="0"/>
                <a:cs typeface="Times New Roman" panose="02020603050405020304" pitchFamily="18" charset="0"/>
              </a:rPr>
              <a:t> ($0$ for one animal and $1$ for a different animal) has also caused some label swap between buffalo and cattle in a model after it was deployed.</a:t>
            </a:r>
          </a:p>
          <a:p>
            <a:pPr marL="533400" indent="-457200" algn="just">
              <a:buFont typeface="+mj-lt"/>
              <a:buAutoNum type="arabicPeriod"/>
            </a:pPr>
            <a:r>
              <a:rPr lang="en-US" sz="2200" dirty="0">
                <a:latin typeface="Times New Roman" panose="02020603050405020304" pitchFamily="18" charset="0"/>
                <a:cs typeface="Times New Roman" panose="02020603050405020304" pitchFamily="18" charset="0"/>
              </a:rPr>
              <a:t>The AI was specifically attempting to classify non-animal visual data (cars and humans) as classifying livestock visual data using the "forced choice" protocol (instead of rejecting non-animal visual data).</a:t>
            </a:r>
            <a:endParaRPr lang="en-US" altLang="en-US" sz="22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118" name="Google Shape;118;p17">
            <a:extLst>
              <a:ext uri="{FF2B5EF4-FFF2-40B4-BE49-F238E27FC236}">
                <a16:creationId xmlns:a16="http://schemas.microsoft.com/office/drawing/2014/main" id="{3B87BD64-307F-C81A-A342-DB990238DCA3}"/>
              </a:ext>
            </a:extLst>
          </p:cNvPr>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22904973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4629898B-157F-4557-C01E-02C2ED66C96D}"/>
            </a:ext>
          </a:extLst>
        </p:cNvPr>
        <p:cNvGrpSpPr/>
        <p:nvPr/>
      </p:nvGrpSpPr>
      <p:grpSpPr>
        <a:xfrm>
          <a:off x="0" y="0"/>
          <a:ext cx="0" cy="0"/>
          <a:chOff x="0" y="0"/>
          <a:chExt cx="0" cy="0"/>
        </a:xfrm>
      </p:grpSpPr>
      <p:sp>
        <p:nvSpPr>
          <p:cNvPr id="116" name="Google Shape;116;p17">
            <a:extLst>
              <a:ext uri="{FF2B5EF4-FFF2-40B4-BE49-F238E27FC236}">
                <a16:creationId xmlns:a16="http://schemas.microsoft.com/office/drawing/2014/main" id="{53C8F96D-5EE9-2E58-4D9A-D8FE98B3D0E1}"/>
              </a:ext>
            </a:extLst>
          </p:cNvPr>
          <p:cNvSpPr txBox="1">
            <a:spLocks noGrp="1"/>
          </p:cNvSpPr>
          <p:nvPr>
            <p:ph type="title"/>
          </p:nvPr>
        </p:nvSpPr>
        <p:spPr>
          <a:xfrm>
            <a:off x="838200" y="365125"/>
            <a:ext cx="10515600" cy="819300"/>
          </a:xfrm>
          <a:prstGeom prst="rect">
            <a:avLst/>
          </a:prstGeom>
          <a:noFill/>
          <a:ln>
            <a:noFill/>
          </a:ln>
        </p:spPr>
        <p:txBody>
          <a:bodyPr spcFirstLastPara="1" wrap="square" lIns="91425" tIns="45700" rIns="91425" bIns="45700" anchor="ctr" anchorCtr="0">
            <a:normAutofit/>
          </a:bodyPr>
          <a:lstStyle/>
          <a:p>
            <a:pPr lvl="0">
              <a:buClr>
                <a:srgbClr val="2F5496"/>
              </a:buClr>
              <a:buSzPts val="3200"/>
            </a:pPr>
            <a:r>
              <a:rPr lang="en-US" sz="32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C</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hallenges</a:t>
            </a:r>
            <a:r>
              <a:rPr lang="en-US" sz="32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 F</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aced </a:t>
            </a:r>
            <a:r>
              <a:rPr lang="en-US" sz="32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I</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n</a:t>
            </a:r>
            <a:r>
              <a:rPr lang="en-US" sz="32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 P</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roject:</a:t>
            </a:r>
            <a:endParaRPr lang="en-US" sz="3200" dirty="0">
              <a:solidFill>
                <a:schemeClr val="accent1"/>
              </a:solidFill>
              <a:latin typeface="Times New Roman" panose="02020603050405020304" pitchFamily="18" charset="0"/>
              <a:cs typeface="Times New Roman" panose="02020603050405020304" pitchFamily="18" charset="0"/>
            </a:endParaRPr>
          </a:p>
        </p:txBody>
      </p:sp>
      <p:sp>
        <p:nvSpPr>
          <p:cNvPr id="117" name="Google Shape;117;p17">
            <a:extLst>
              <a:ext uri="{FF2B5EF4-FFF2-40B4-BE49-F238E27FC236}">
                <a16:creationId xmlns:a16="http://schemas.microsoft.com/office/drawing/2014/main" id="{31BE0C51-947B-333E-83F7-FE43C1B7681B}"/>
              </a:ext>
            </a:extLst>
          </p:cNvPr>
          <p:cNvSpPr txBox="1">
            <a:spLocks noGrp="1"/>
          </p:cNvSpPr>
          <p:nvPr>
            <p:ph type="body" idx="1"/>
          </p:nvPr>
        </p:nvSpPr>
        <p:spPr>
          <a:xfrm>
            <a:off x="838200" y="1184367"/>
            <a:ext cx="10515600" cy="4058100"/>
          </a:xfrm>
          <a:prstGeom prst="rect">
            <a:avLst/>
          </a:prstGeom>
          <a:noFill/>
          <a:ln>
            <a:noFill/>
          </a:ln>
        </p:spPr>
        <p:txBody>
          <a:bodyPr spcFirstLastPara="1" wrap="square" lIns="91425" tIns="45700" rIns="91425" bIns="45700" anchor="t" anchorCtr="0">
            <a:noAutofit/>
          </a:bodyPr>
          <a:lstStyle/>
          <a:p>
            <a:pPr marL="76200" indent="0" algn="just">
              <a:buNone/>
            </a:pPr>
            <a:r>
              <a:rPr lang="en-US" altLang="en-US" sz="2200" dirty="0">
                <a:solidFill>
                  <a:schemeClr val="tx1"/>
                </a:solidFill>
                <a:latin typeface="Cambria" panose="02040503050406030204" pitchFamily="18" charset="0"/>
                <a:ea typeface="Cambria" panose="02040503050406030204" pitchFamily="18" charset="0"/>
              </a:rPr>
              <a:t>5. </a:t>
            </a:r>
            <a:r>
              <a:rPr lang="en-US" sz="2200" dirty="0">
                <a:latin typeface="Times New Roman" panose="02020603050405020304" pitchFamily="18" charset="0"/>
                <a:cs typeface="Times New Roman" panose="02020603050405020304" pitchFamily="18" charset="0"/>
              </a:rPr>
              <a:t>Inference Latency: High Resource Usage of Machine Learning models results in slow access to results (low response time).</a:t>
            </a:r>
          </a:p>
          <a:p>
            <a:pPr marL="76200" indent="0" algn="just">
              <a:buNone/>
            </a:pPr>
            <a:r>
              <a:rPr lang="en-US" altLang="en-US" sz="2200" dirty="0">
                <a:solidFill>
                  <a:schemeClr val="tx1"/>
                </a:solidFill>
                <a:latin typeface="Cambria" panose="02040503050406030204" pitchFamily="18" charset="0"/>
                <a:ea typeface="Cambria" panose="02040503050406030204" pitchFamily="18" charset="0"/>
              </a:rPr>
              <a:t>6</a:t>
            </a:r>
            <a:r>
              <a:rPr lang="en-US" altLang="en-US" sz="22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Identity Collision: No inherent AI system to identify “Double-Subsidy Fraud” occurring when one picture has been submitted multiple times for use to register.</a:t>
            </a:r>
            <a:endParaRPr lang="en-US" altLang="en-US" sz="22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118" name="Google Shape;118;p17">
            <a:extLst>
              <a:ext uri="{FF2B5EF4-FFF2-40B4-BE49-F238E27FC236}">
                <a16:creationId xmlns:a16="http://schemas.microsoft.com/office/drawing/2014/main" id="{CB4855C9-B92C-C06C-0B9A-E9C8C7CF0735}"/>
              </a:ext>
            </a:extLst>
          </p:cNvPr>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30635555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8"/>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lvl="0">
              <a:buClr>
                <a:srgbClr val="2F5496"/>
              </a:buClr>
              <a:buSzPts val="3200"/>
            </a:pP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P</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roposed </a:t>
            </a: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S</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ystem </a:t>
            </a: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O</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verview:</a:t>
            </a:r>
            <a:endParaRPr sz="3200" dirty="0">
              <a:solidFill>
                <a:schemeClr val="accent1"/>
              </a:solidFill>
              <a:latin typeface="Times New Roman" panose="02020603050405020304" pitchFamily="18" charset="0"/>
              <a:cs typeface="Times New Roman" panose="02020603050405020304" pitchFamily="18" charset="0"/>
            </a:endParaRPr>
          </a:p>
        </p:txBody>
      </p:sp>
      <p:sp>
        <p:nvSpPr>
          <p:cNvPr id="124" name="Google Shape;124;p18"/>
          <p:cNvSpPr txBox="1">
            <a:spLocks noGrp="1"/>
          </p:cNvSpPr>
          <p:nvPr>
            <p:ph type="body" idx="1"/>
          </p:nvPr>
        </p:nvSpPr>
        <p:spPr>
          <a:xfrm>
            <a:off x="838200" y="1184367"/>
            <a:ext cx="10515600" cy="4058194"/>
          </a:xfrm>
          <a:prstGeom prst="rect">
            <a:avLst/>
          </a:prstGeom>
          <a:noFill/>
          <a:ln>
            <a:noFill/>
          </a:ln>
        </p:spPr>
        <p:txBody>
          <a:bodyPr spcFirstLastPara="1" wrap="square" lIns="91425" tIns="45700" rIns="91425" bIns="45700" anchor="t" anchorCtr="0">
            <a:noAutofit/>
          </a:bodyPr>
          <a:lstStyle/>
          <a:p>
            <a:pPr marL="76200" indent="0" algn="just">
              <a:buNone/>
            </a:pPr>
            <a:r>
              <a:rPr lang="en-US" sz="2200" b="1" dirty="0">
                <a:latin typeface="Times New Roman" panose="02020603050405020304" pitchFamily="18" charset="0"/>
                <a:cs typeface="Times New Roman" panose="02020603050405020304" pitchFamily="18" charset="0"/>
              </a:rPr>
              <a:t>AI-Based Smart Livestock Identification System</a:t>
            </a:r>
          </a:p>
          <a:p>
            <a:pPr marL="533400" indent="-457200" algn="just">
              <a:buFont typeface="+mj-lt"/>
              <a:buAutoNum type="arabicPeriod"/>
            </a:pPr>
            <a:r>
              <a:rPr lang="en-US" sz="2200" dirty="0">
                <a:latin typeface="Times New Roman" panose="02020603050405020304" pitchFamily="18" charset="0"/>
                <a:cs typeface="Times New Roman" panose="02020603050405020304" pitchFamily="18" charset="0"/>
              </a:rPr>
              <a:t>The proposed system is an intelligent, image-based livestock identification platform that utilizes deep learning and computer vision techniques to automate livestock analysis and management</a:t>
            </a:r>
            <a:r>
              <a:rPr lang="en-US" sz="2200" b="1" dirty="0">
                <a:latin typeface="Times New Roman" panose="02020603050405020304" pitchFamily="18" charset="0"/>
                <a:cs typeface="Times New Roman" panose="02020603050405020304" pitchFamily="18" charset="0"/>
              </a:rPr>
              <a:t>.</a:t>
            </a:r>
          </a:p>
          <a:p>
            <a:pPr marL="76200" indent="0" algn="just">
              <a:buNone/>
            </a:pPr>
            <a:endParaRPr lang="en-US" sz="2200" b="1" dirty="0">
              <a:latin typeface="Times New Roman" panose="02020603050405020304" pitchFamily="18" charset="0"/>
              <a:cs typeface="Times New Roman" panose="02020603050405020304" pitchFamily="18" charset="0"/>
            </a:endParaRPr>
          </a:p>
          <a:p>
            <a:pPr marL="76200" indent="0" algn="just">
              <a:buNone/>
            </a:pPr>
            <a:r>
              <a:rPr lang="en-US" sz="2200" b="1" dirty="0">
                <a:latin typeface="Times New Roman" panose="02020603050405020304" pitchFamily="18" charset="0"/>
                <a:cs typeface="Times New Roman" panose="02020603050405020304" pitchFamily="18" charset="0"/>
              </a:rPr>
              <a:t>Key Features</a:t>
            </a:r>
          </a:p>
          <a:p>
            <a:pPr marL="571500" indent="-457200" algn="just">
              <a:buFont typeface="+mj-lt"/>
              <a:buAutoNum type="arabicPeriod"/>
            </a:pPr>
            <a:r>
              <a:rPr lang="en-US" sz="2200" b="1" dirty="0">
                <a:latin typeface="Times New Roman" panose="02020603050405020304" pitchFamily="18" charset="0"/>
                <a:cs typeface="Times New Roman" panose="02020603050405020304" pitchFamily="18" charset="0"/>
              </a:rPr>
              <a:t>Animal Type Identification:</a:t>
            </a:r>
            <a:r>
              <a:rPr lang="en-US" sz="2200" dirty="0">
                <a:latin typeface="Times New Roman" panose="02020603050405020304" pitchFamily="18" charset="0"/>
                <a:cs typeface="Times New Roman" panose="02020603050405020304" pitchFamily="18" charset="0"/>
              </a:rPr>
              <a:t> Automatic classification of livestock as cow or buffalo.</a:t>
            </a:r>
          </a:p>
          <a:p>
            <a:pPr marL="571500" indent="-457200" algn="just">
              <a:buFont typeface="+mj-lt"/>
              <a:buAutoNum type="arabicPeriod"/>
            </a:pPr>
            <a:r>
              <a:rPr lang="en-US" sz="2200" b="1" dirty="0">
                <a:latin typeface="Times New Roman" panose="02020603050405020304" pitchFamily="18" charset="0"/>
                <a:cs typeface="Times New Roman" panose="02020603050405020304" pitchFamily="18" charset="0"/>
              </a:rPr>
              <a:t>Breed Classification:</a:t>
            </a:r>
            <a:r>
              <a:rPr lang="en-US" sz="2200" dirty="0">
                <a:latin typeface="Times New Roman" panose="02020603050405020304" pitchFamily="18" charset="0"/>
                <a:cs typeface="Times New Roman" panose="02020603050405020304" pitchFamily="18" charset="0"/>
              </a:rPr>
              <a:t> Identification of specific breeds using deep learning models.</a:t>
            </a:r>
          </a:p>
          <a:p>
            <a:pPr marL="571500" indent="-457200" algn="just">
              <a:buFont typeface="+mj-lt"/>
              <a:buAutoNum type="arabicPeriod"/>
            </a:pPr>
            <a:r>
              <a:rPr lang="en-US" sz="2200" b="1" dirty="0">
                <a:latin typeface="Times New Roman" panose="02020603050405020304" pitchFamily="18" charset="0"/>
                <a:cs typeface="Times New Roman" panose="02020603050405020304" pitchFamily="18" charset="0"/>
              </a:rPr>
              <a:t>Digital Profile Creation:</a:t>
            </a:r>
            <a:r>
              <a:rPr lang="en-US" sz="2200" dirty="0">
                <a:latin typeface="Times New Roman" panose="02020603050405020304" pitchFamily="18" charset="0"/>
                <a:cs typeface="Times New Roman" panose="02020603050405020304" pitchFamily="18" charset="0"/>
              </a:rPr>
              <a:t> Creation of a unique digital identity for each animal, including image and metadata.</a:t>
            </a:r>
          </a:p>
          <a:p>
            <a:pPr marL="76200" indent="0" algn="just">
              <a:buNone/>
            </a:pPr>
            <a:endParaRPr lang="en-US" sz="2200" b="1" dirty="0">
              <a:latin typeface="Times New Roman" panose="02020603050405020304" pitchFamily="18" charset="0"/>
              <a:cs typeface="Times New Roman" panose="02020603050405020304" pitchFamily="18" charset="0"/>
            </a:endParaRPr>
          </a:p>
        </p:txBody>
      </p:sp>
      <p:sp>
        <p:nvSpPr>
          <p:cNvPr id="125" name="Google Shape;125;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A2FBD11F-5501-A879-D854-DDDDFB300FB4}"/>
            </a:ext>
          </a:extLst>
        </p:cNvPr>
        <p:cNvGrpSpPr/>
        <p:nvPr/>
      </p:nvGrpSpPr>
      <p:grpSpPr>
        <a:xfrm>
          <a:off x="0" y="0"/>
          <a:ext cx="0" cy="0"/>
          <a:chOff x="0" y="0"/>
          <a:chExt cx="0" cy="0"/>
        </a:xfrm>
      </p:grpSpPr>
      <p:sp>
        <p:nvSpPr>
          <p:cNvPr id="123" name="Google Shape;123;p18">
            <a:extLst>
              <a:ext uri="{FF2B5EF4-FFF2-40B4-BE49-F238E27FC236}">
                <a16:creationId xmlns:a16="http://schemas.microsoft.com/office/drawing/2014/main" id="{45AEF0B6-461A-CE44-D86D-DB68447AE9AE}"/>
              </a:ext>
            </a:extLst>
          </p:cNvPr>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lvl="0">
              <a:buClr>
                <a:srgbClr val="2F5496"/>
              </a:buClr>
              <a:buSzPts val="3200"/>
            </a:pP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P</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roposed </a:t>
            </a: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S</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ystem </a:t>
            </a: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O</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verview </a:t>
            </a: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C</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ontinued:</a:t>
            </a:r>
            <a:endParaRPr sz="3200" dirty="0">
              <a:solidFill>
                <a:schemeClr val="accent1"/>
              </a:solidFill>
              <a:latin typeface="Times New Roman" panose="02020603050405020304" pitchFamily="18" charset="0"/>
              <a:cs typeface="Times New Roman" panose="02020603050405020304" pitchFamily="18" charset="0"/>
            </a:endParaRPr>
          </a:p>
        </p:txBody>
      </p:sp>
      <p:sp>
        <p:nvSpPr>
          <p:cNvPr id="124" name="Google Shape;124;p18">
            <a:extLst>
              <a:ext uri="{FF2B5EF4-FFF2-40B4-BE49-F238E27FC236}">
                <a16:creationId xmlns:a16="http://schemas.microsoft.com/office/drawing/2014/main" id="{50FC2DCD-C2C3-C828-F83C-2D8597925EDD}"/>
              </a:ext>
            </a:extLst>
          </p:cNvPr>
          <p:cNvSpPr txBox="1">
            <a:spLocks noGrp="1"/>
          </p:cNvSpPr>
          <p:nvPr>
            <p:ph type="body" idx="1"/>
          </p:nvPr>
        </p:nvSpPr>
        <p:spPr>
          <a:xfrm>
            <a:off x="838200" y="1184367"/>
            <a:ext cx="10515600" cy="4058194"/>
          </a:xfrm>
          <a:prstGeom prst="rect">
            <a:avLst/>
          </a:prstGeom>
          <a:noFill/>
          <a:ln>
            <a:noFill/>
          </a:ln>
        </p:spPr>
        <p:txBody>
          <a:bodyPr spcFirstLastPara="1" wrap="square" lIns="91425" tIns="45700" rIns="91425" bIns="45700" anchor="t" anchorCtr="0">
            <a:normAutofit/>
          </a:bodyPr>
          <a:lstStyle/>
          <a:p>
            <a:pPr marL="114300" indent="0" algn="just">
              <a:buNone/>
            </a:pPr>
            <a:r>
              <a:rPr lang="en-US" sz="2200" dirty="0">
                <a:latin typeface="Times New Roman" panose="02020603050405020304" pitchFamily="18" charset="0"/>
                <a:cs typeface="Times New Roman" panose="02020603050405020304" pitchFamily="18" charset="0"/>
              </a:rPr>
              <a:t>4.</a:t>
            </a:r>
            <a:r>
              <a:rPr lang="en-US" sz="2200" b="1" dirty="0">
                <a:latin typeface="Times New Roman" panose="02020603050405020304" pitchFamily="18" charset="0"/>
                <a:cs typeface="Times New Roman" panose="02020603050405020304" pitchFamily="18" charset="0"/>
              </a:rPr>
              <a:t>  Duplicate Detection:</a:t>
            </a:r>
            <a:r>
              <a:rPr lang="en-US" sz="2200" dirty="0">
                <a:latin typeface="Times New Roman" panose="02020603050405020304" pitchFamily="18" charset="0"/>
                <a:cs typeface="Times New Roman" panose="02020603050405020304" pitchFamily="18" charset="0"/>
              </a:rPr>
              <a:t> Prevention of multiple registrations using image feature    similarity analysis.</a:t>
            </a:r>
          </a:p>
          <a:p>
            <a:pPr marL="114300" indent="0" algn="just">
              <a:buNone/>
            </a:pPr>
            <a:r>
              <a:rPr lang="en-US" sz="2200" dirty="0">
                <a:latin typeface="Times New Roman" panose="02020603050405020304" pitchFamily="18" charset="0"/>
                <a:cs typeface="Times New Roman" panose="02020603050405020304" pitchFamily="18" charset="0"/>
              </a:rPr>
              <a:t>5.  </a:t>
            </a:r>
            <a:r>
              <a:rPr lang="en-US" sz="2200" b="1" dirty="0">
                <a:latin typeface="Times New Roman" panose="02020603050405020304" pitchFamily="18" charset="0"/>
                <a:cs typeface="Times New Roman" panose="02020603050405020304" pitchFamily="18" charset="0"/>
              </a:rPr>
              <a:t>Visual Health Risk Analysis:</a:t>
            </a:r>
            <a:r>
              <a:rPr lang="en-US" sz="2200" dirty="0">
                <a:latin typeface="Times New Roman" panose="02020603050405020304" pitchFamily="18" charset="0"/>
                <a:cs typeface="Times New Roman" panose="02020603050405020304" pitchFamily="18" charset="0"/>
              </a:rPr>
              <a:t> Detection of basic health risk indicators from visible features.</a:t>
            </a:r>
          </a:p>
          <a:p>
            <a:pPr marL="114300" indent="0" algn="just">
              <a:buNone/>
            </a:pPr>
            <a:r>
              <a:rPr lang="en-US" sz="2200" dirty="0">
                <a:latin typeface="Times New Roman" panose="02020603050405020304" pitchFamily="18" charset="0"/>
                <a:cs typeface="Times New Roman" panose="02020603050405020304" pitchFamily="18" charset="0"/>
              </a:rPr>
              <a:t>6.  </a:t>
            </a:r>
            <a:r>
              <a:rPr lang="en-US" sz="2200" b="1" dirty="0">
                <a:latin typeface="Times New Roman" panose="02020603050405020304" pitchFamily="18" charset="0"/>
                <a:cs typeface="Times New Roman" panose="02020603050405020304" pitchFamily="18" charset="0"/>
              </a:rPr>
              <a:t>Explainable AI:</a:t>
            </a:r>
            <a:r>
              <a:rPr lang="en-US" sz="2200" dirty="0">
                <a:latin typeface="Times New Roman" panose="02020603050405020304" pitchFamily="18" charset="0"/>
                <a:cs typeface="Times New Roman" panose="02020603050405020304" pitchFamily="18" charset="0"/>
              </a:rPr>
              <a:t> Generation of heatmaps to visually explain AI decision-making.</a:t>
            </a:r>
          </a:p>
          <a:p>
            <a:pPr marL="76200" indent="0" algn="just">
              <a:buNone/>
            </a:pPr>
            <a:r>
              <a:rPr lang="en-US" sz="2200" b="1" dirty="0">
                <a:latin typeface="Times New Roman" panose="02020603050405020304" pitchFamily="18" charset="0"/>
                <a:cs typeface="Times New Roman" panose="02020603050405020304" pitchFamily="18" charset="0"/>
              </a:rPr>
              <a:t>Approach</a:t>
            </a:r>
          </a:p>
          <a:p>
            <a:pPr marL="571500" indent="-457200" algn="just">
              <a:buFont typeface="+mj-lt"/>
              <a:buAutoNum type="arabicPeriod"/>
            </a:pPr>
            <a:r>
              <a:rPr lang="en-US" sz="2200" dirty="0">
                <a:latin typeface="Times New Roman" panose="02020603050405020304" pitchFamily="18" charset="0"/>
                <a:cs typeface="Times New Roman" panose="02020603050405020304" pitchFamily="18" charset="0"/>
              </a:rPr>
              <a:t>The system follows an image-based automated analysis approach, where livestock images are processed through a CNN-based deep learning model to perform classification, analysis, and decision support with improved accuracy and transparency.</a:t>
            </a:r>
          </a:p>
        </p:txBody>
      </p:sp>
      <p:sp>
        <p:nvSpPr>
          <p:cNvPr id="125" name="Google Shape;125;p18">
            <a:extLst>
              <a:ext uri="{FF2B5EF4-FFF2-40B4-BE49-F238E27FC236}">
                <a16:creationId xmlns:a16="http://schemas.microsoft.com/office/drawing/2014/main" id="{4E7F339A-91EF-589E-045A-73A2CFF11216}"/>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578082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9"/>
          <p:cNvSpPr txBox="1">
            <a:spLocks noGrp="1"/>
          </p:cNvSpPr>
          <p:nvPr>
            <p:ph type="title"/>
          </p:nvPr>
        </p:nvSpPr>
        <p:spPr>
          <a:xfrm>
            <a:off x="540774" y="385754"/>
            <a:ext cx="10515600" cy="819241"/>
          </a:xfrm>
          <a:prstGeom prst="rect">
            <a:avLst/>
          </a:prstGeom>
          <a:noFill/>
          <a:ln>
            <a:noFill/>
          </a:ln>
        </p:spPr>
        <p:txBody>
          <a:bodyPr spcFirstLastPara="1" wrap="square" lIns="91425" tIns="45700" rIns="91425" bIns="45700" anchor="ctr" anchorCtr="0">
            <a:normAutofit/>
          </a:bodyPr>
          <a:lstStyle/>
          <a:p>
            <a:pPr lvl="0">
              <a:buClr>
                <a:srgbClr val="2F5496"/>
              </a:buClr>
              <a:buSzPts val="3200"/>
            </a:pPr>
            <a:r>
              <a:rPr lang="en-US" sz="4000" b="1" dirty="0">
                <a:solidFill>
                  <a:schemeClr val="accent1"/>
                </a:solidFill>
                <a:latin typeface="Times New Roman" panose="02020603050405020304" pitchFamily="18" charset="0"/>
                <a:cs typeface="Times New Roman" panose="02020603050405020304" pitchFamily="18" charset="0"/>
              </a:rPr>
              <a:t>S</a:t>
            </a:r>
            <a:r>
              <a:rPr lang="en-US" sz="3200" dirty="0">
                <a:solidFill>
                  <a:schemeClr val="accent1"/>
                </a:solidFill>
                <a:latin typeface="Times New Roman" panose="02020603050405020304" pitchFamily="18" charset="0"/>
                <a:cs typeface="Times New Roman" panose="02020603050405020304" pitchFamily="18" charset="0"/>
              </a:rPr>
              <a:t>ystem </a:t>
            </a:r>
            <a:r>
              <a:rPr lang="en-US" sz="4000" b="1" dirty="0">
                <a:solidFill>
                  <a:schemeClr val="accent1"/>
                </a:solidFill>
                <a:latin typeface="Times New Roman" panose="02020603050405020304" pitchFamily="18" charset="0"/>
                <a:cs typeface="Times New Roman" panose="02020603050405020304" pitchFamily="18" charset="0"/>
              </a:rPr>
              <a:t>A</a:t>
            </a:r>
            <a:r>
              <a:rPr lang="en-US" sz="3200" dirty="0">
                <a:solidFill>
                  <a:schemeClr val="accent1"/>
                </a:solidFill>
                <a:latin typeface="Times New Roman" panose="02020603050405020304" pitchFamily="18" charset="0"/>
                <a:cs typeface="Times New Roman" panose="02020603050405020304" pitchFamily="18" charset="0"/>
              </a:rPr>
              <a:t>rchitecture &amp; </a:t>
            </a:r>
            <a:r>
              <a:rPr lang="en-US" sz="4000" b="1" dirty="0">
                <a:solidFill>
                  <a:schemeClr val="accent1"/>
                </a:solidFill>
                <a:latin typeface="Times New Roman" panose="02020603050405020304" pitchFamily="18" charset="0"/>
                <a:cs typeface="Times New Roman" panose="02020603050405020304" pitchFamily="18" charset="0"/>
              </a:rPr>
              <a:t>M</a:t>
            </a:r>
            <a:r>
              <a:rPr lang="en-US" sz="3200" dirty="0">
                <a:solidFill>
                  <a:schemeClr val="accent1"/>
                </a:solidFill>
                <a:latin typeface="Times New Roman" panose="02020603050405020304" pitchFamily="18" charset="0"/>
                <a:cs typeface="Times New Roman" panose="02020603050405020304" pitchFamily="18" charset="0"/>
              </a:rPr>
              <a:t>odel </a:t>
            </a:r>
            <a:r>
              <a:rPr lang="en-US" sz="4000" b="1" dirty="0">
                <a:solidFill>
                  <a:schemeClr val="accent1"/>
                </a:solidFill>
                <a:latin typeface="Times New Roman" panose="02020603050405020304" pitchFamily="18" charset="0"/>
                <a:cs typeface="Times New Roman" panose="02020603050405020304" pitchFamily="18" charset="0"/>
              </a:rPr>
              <a:t>D</a:t>
            </a:r>
            <a:r>
              <a:rPr lang="en-US" sz="3200" dirty="0">
                <a:solidFill>
                  <a:schemeClr val="accent1"/>
                </a:solidFill>
                <a:latin typeface="Times New Roman" panose="02020603050405020304" pitchFamily="18" charset="0"/>
                <a:cs typeface="Times New Roman" panose="02020603050405020304" pitchFamily="18" charset="0"/>
              </a:rPr>
              <a:t>esign:</a:t>
            </a:r>
            <a:endParaRPr sz="3200" dirty="0">
              <a:solidFill>
                <a:schemeClr val="accent1"/>
              </a:solidFill>
            </a:endParaRPr>
          </a:p>
        </p:txBody>
      </p:sp>
      <p:sp>
        <p:nvSpPr>
          <p:cNvPr id="132" name="Google Shape;132;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
        <p:nvSpPr>
          <p:cNvPr id="4" name="TextBox 3">
            <a:extLst>
              <a:ext uri="{FF2B5EF4-FFF2-40B4-BE49-F238E27FC236}">
                <a16:creationId xmlns:a16="http://schemas.microsoft.com/office/drawing/2014/main" id="{EDED830D-F959-930E-3BBE-2636CD38A79B}"/>
              </a:ext>
            </a:extLst>
          </p:cNvPr>
          <p:cNvSpPr txBox="1"/>
          <p:nvPr/>
        </p:nvSpPr>
        <p:spPr>
          <a:xfrm>
            <a:off x="540774" y="1184366"/>
            <a:ext cx="6017342" cy="4493538"/>
          </a:xfrm>
          <a:prstGeom prst="rect">
            <a:avLst/>
          </a:prstGeom>
          <a:noFill/>
        </p:spPr>
        <p:txBody>
          <a:bodyPr wrap="square" rtlCol="0">
            <a:spAutoFit/>
          </a:bodyPr>
          <a:lstStyle/>
          <a:p>
            <a:pPr algn="just">
              <a:lnSpc>
                <a:spcPct val="150000"/>
              </a:lnSpc>
              <a:buNone/>
            </a:pPr>
            <a:r>
              <a:rPr lang="en-US" sz="2200" b="1" dirty="0">
                <a:latin typeface="Times New Roman" panose="02020603050405020304" pitchFamily="18" charset="0"/>
                <a:cs typeface="Times New Roman" panose="02020603050405020304" pitchFamily="18" charset="0"/>
              </a:rPr>
              <a:t>Workflow:</a:t>
            </a:r>
            <a:endParaRPr lang="en-US" sz="2200" dirty="0">
              <a:latin typeface="Times New Roman" panose="02020603050405020304" pitchFamily="18" charset="0"/>
              <a:cs typeface="Times New Roman" panose="02020603050405020304" pitchFamily="18" charset="0"/>
            </a:endParaRPr>
          </a:p>
          <a:p>
            <a:pPr algn="just">
              <a:lnSpc>
                <a:spcPct val="150000"/>
              </a:lnSpc>
              <a:buFont typeface="+mj-lt"/>
              <a:buAutoNum type="arabicPeriod"/>
            </a:pPr>
            <a:r>
              <a:rPr lang="en-US" sz="2200" dirty="0">
                <a:latin typeface="Times New Roman" panose="02020603050405020304" pitchFamily="18" charset="0"/>
                <a:cs typeface="Times New Roman" panose="02020603050405020304" pitchFamily="18" charset="0"/>
              </a:rPr>
              <a:t>Image Input</a:t>
            </a:r>
          </a:p>
          <a:p>
            <a:pPr algn="just">
              <a:lnSpc>
                <a:spcPct val="150000"/>
              </a:lnSpc>
              <a:buFont typeface="+mj-lt"/>
              <a:buAutoNum type="arabicPeriod"/>
            </a:pPr>
            <a:r>
              <a:rPr lang="en-US" sz="2200" dirty="0">
                <a:latin typeface="Times New Roman" panose="02020603050405020304" pitchFamily="18" charset="0"/>
                <a:cs typeface="Times New Roman" panose="02020603050405020304" pitchFamily="18" charset="0"/>
              </a:rPr>
              <a:t>Image Preprocessing</a:t>
            </a:r>
          </a:p>
          <a:p>
            <a:pPr algn="just">
              <a:lnSpc>
                <a:spcPct val="150000"/>
              </a:lnSpc>
              <a:buFont typeface="+mj-lt"/>
              <a:buAutoNum type="arabicPeriod"/>
            </a:pPr>
            <a:r>
              <a:rPr lang="en-US" sz="2200" dirty="0">
                <a:latin typeface="Times New Roman" panose="02020603050405020304" pitchFamily="18" charset="0"/>
                <a:cs typeface="Times New Roman" panose="02020603050405020304" pitchFamily="18" charset="0"/>
              </a:rPr>
              <a:t>CNN-based AI Model</a:t>
            </a:r>
          </a:p>
          <a:p>
            <a:pPr algn="just">
              <a:lnSpc>
                <a:spcPct val="150000"/>
              </a:lnSpc>
              <a:buFont typeface="+mj-lt"/>
              <a:buAutoNum type="arabicPeriod"/>
            </a:pPr>
            <a:r>
              <a:rPr lang="en-US" sz="2200" dirty="0">
                <a:latin typeface="Times New Roman" panose="02020603050405020304" pitchFamily="18" charset="0"/>
                <a:cs typeface="Times New Roman" panose="02020603050405020304" pitchFamily="18" charset="0"/>
              </a:rPr>
              <a:t>Classification &amp; Health Analysis</a:t>
            </a:r>
          </a:p>
          <a:p>
            <a:pPr algn="just">
              <a:lnSpc>
                <a:spcPct val="150000"/>
              </a:lnSpc>
              <a:buFont typeface="+mj-lt"/>
              <a:buAutoNum type="arabicPeriod"/>
            </a:pPr>
            <a:r>
              <a:rPr lang="en-US" sz="2200" dirty="0">
                <a:latin typeface="Times New Roman" panose="02020603050405020304" pitchFamily="18" charset="0"/>
                <a:cs typeface="Times New Roman" panose="02020603050405020304" pitchFamily="18" charset="0"/>
              </a:rPr>
              <a:t>Duplicate Detection</a:t>
            </a:r>
          </a:p>
          <a:p>
            <a:pPr algn="just">
              <a:lnSpc>
                <a:spcPct val="150000"/>
              </a:lnSpc>
              <a:buFont typeface="+mj-lt"/>
              <a:buAutoNum type="arabicPeriod"/>
            </a:pPr>
            <a:r>
              <a:rPr lang="en-US" sz="2200" dirty="0">
                <a:latin typeface="Times New Roman" panose="02020603050405020304" pitchFamily="18" charset="0"/>
                <a:cs typeface="Times New Roman" panose="02020603050405020304" pitchFamily="18" charset="0"/>
              </a:rPr>
              <a:t>Results with Explainable AI</a:t>
            </a:r>
          </a:p>
          <a:p>
            <a:pPr algn="just">
              <a:lnSpc>
                <a:spcPct val="150000"/>
              </a:lnSpc>
              <a:buNone/>
            </a:pPr>
            <a:endParaRPr lang="en-US" sz="2200" b="1" dirty="0">
              <a:latin typeface="Times New Roman" panose="02020603050405020304" pitchFamily="18" charset="0"/>
              <a:cs typeface="Times New Roman" panose="02020603050405020304" pitchFamily="18" charset="0"/>
            </a:endParaRPr>
          </a:p>
          <a:p>
            <a:pPr algn="just"/>
            <a:endParaRPr lang="en-IN" sz="2200" dirty="0"/>
          </a:p>
        </p:txBody>
      </p:sp>
      <p:pic>
        <p:nvPicPr>
          <p:cNvPr id="6" name="Picture 5">
            <a:extLst>
              <a:ext uri="{FF2B5EF4-FFF2-40B4-BE49-F238E27FC236}">
                <a16:creationId xmlns:a16="http://schemas.microsoft.com/office/drawing/2014/main" id="{E8F1A3EC-F871-DD54-2F29-F8B475EACA14}"/>
              </a:ext>
            </a:extLst>
          </p:cNvPr>
          <p:cNvPicPr>
            <a:picLocks noChangeAspect="1"/>
          </p:cNvPicPr>
          <p:nvPr/>
        </p:nvPicPr>
        <p:blipFill>
          <a:blip r:embed="rId3"/>
          <a:stretch>
            <a:fillRect/>
          </a:stretch>
        </p:blipFill>
        <p:spPr>
          <a:xfrm>
            <a:off x="6400799" y="1184366"/>
            <a:ext cx="5507294" cy="3996813"/>
          </a:xfrm>
          <a:prstGeom prst="rect">
            <a:avLst/>
          </a:prstGeom>
        </p:spPr>
      </p:pic>
      <p:sp>
        <p:nvSpPr>
          <p:cNvPr id="7" name="TextBox 6">
            <a:extLst>
              <a:ext uri="{FF2B5EF4-FFF2-40B4-BE49-F238E27FC236}">
                <a16:creationId xmlns:a16="http://schemas.microsoft.com/office/drawing/2014/main" id="{B4B500F6-C46B-FB22-DC18-2F0A27A01402}"/>
              </a:ext>
            </a:extLst>
          </p:cNvPr>
          <p:cNvSpPr txBox="1"/>
          <p:nvPr/>
        </p:nvSpPr>
        <p:spPr>
          <a:xfrm>
            <a:off x="6469626" y="5008480"/>
            <a:ext cx="5456903" cy="492443"/>
          </a:xfrm>
          <a:prstGeom prst="rect">
            <a:avLst/>
          </a:prstGeom>
          <a:noFill/>
        </p:spPr>
        <p:txBody>
          <a:bodyPr wrap="square" rtlCol="0">
            <a:spAutoFit/>
          </a:bodyPr>
          <a:lstStyle/>
          <a:p>
            <a:r>
              <a:rPr lang="en-US" sz="1300" dirty="0">
                <a:latin typeface="Times New Roman" panose="02020603050405020304" pitchFamily="18" charset="0"/>
                <a:cs typeface="Times New Roman" panose="02020603050405020304" pitchFamily="18" charset="0"/>
              </a:rPr>
              <a:t>FIG 1: System Architecture and Model Design of AI-Based Smart Livestock Identification System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A0EB66C5-D5FC-CC7B-B000-B96F338772A6}"/>
            </a:ext>
          </a:extLst>
        </p:cNvPr>
        <p:cNvGrpSpPr/>
        <p:nvPr/>
      </p:nvGrpSpPr>
      <p:grpSpPr>
        <a:xfrm>
          <a:off x="0" y="0"/>
          <a:ext cx="0" cy="0"/>
          <a:chOff x="0" y="0"/>
          <a:chExt cx="0" cy="0"/>
        </a:xfrm>
      </p:grpSpPr>
      <p:sp>
        <p:nvSpPr>
          <p:cNvPr id="130" name="Google Shape;130;p19">
            <a:extLst>
              <a:ext uri="{FF2B5EF4-FFF2-40B4-BE49-F238E27FC236}">
                <a16:creationId xmlns:a16="http://schemas.microsoft.com/office/drawing/2014/main" id="{4DBFD28A-4FF2-070E-74A7-9E0E636B6464}"/>
              </a:ext>
            </a:extLst>
          </p:cNvPr>
          <p:cNvSpPr txBox="1">
            <a:spLocks noGrp="1"/>
          </p:cNvSpPr>
          <p:nvPr>
            <p:ph type="title"/>
          </p:nvPr>
        </p:nvSpPr>
        <p:spPr>
          <a:xfrm>
            <a:off x="540774" y="385754"/>
            <a:ext cx="10515600" cy="819241"/>
          </a:xfrm>
          <a:prstGeom prst="rect">
            <a:avLst/>
          </a:prstGeom>
          <a:noFill/>
          <a:ln>
            <a:noFill/>
          </a:ln>
        </p:spPr>
        <p:txBody>
          <a:bodyPr spcFirstLastPara="1" wrap="square" lIns="91425" tIns="45700" rIns="91425" bIns="45700" anchor="ctr" anchorCtr="0">
            <a:normAutofit/>
          </a:bodyPr>
          <a:lstStyle/>
          <a:p>
            <a:pPr lvl="0">
              <a:buClr>
                <a:srgbClr val="2F5496"/>
              </a:buClr>
              <a:buSzPts val="3200"/>
            </a:pPr>
            <a:r>
              <a:rPr lang="en-US" sz="4000" b="1" dirty="0">
                <a:solidFill>
                  <a:schemeClr val="accent1"/>
                </a:solidFill>
                <a:latin typeface="Times New Roman" panose="02020603050405020304" pitchFamily="18" charset="0"/>
                <a:cs typeface="Times New Roman" panose="02020603050405020304" pitchFamily="18" charset="0"/>
              </a:rPr>
              <a:t>S</a:t>
            </a:r>
            <a:r>
              <a:rPr lang="en-US" sz="3200" dirty="0">
                <a:solidFill>
                  <a:schemeClr val="accent1"/>
                </a:solidFill>
                <a:latin typeface="Times New Roman" panose="02020603050405020304" pitchFamily="18" charset="0"/>
                <a:cs typeface="Times New Roman" panose="02020603050405020304" pitchFamily="18" charset="0"/>
              </a:rPr>
              <a:t>ystem </a:t>
            </a:r>
            <a:r>
              <a:rPr lang="en-US" sz="4000" b="1" dirty="0">
                <a:solidFill>
                  <a:schemeClr val="accent1"/>
                </a:solidFill>
                <a:latin typeface="Times New Roman" panose="02020603050405020304" pitchFamily="18" charset="0"/>
                <a:cs typeface="Times New Roman" panose="02020603050405020304" pitchFamily="18" charset="0"/>
              </a:rPr>
              <a:t>A</a:t>
            </a:r>
            <a:r>
              <a:rPr lang="en-US" sz="3200" dirty="0">
                <a:solidFill>
                  <a:schemeClr val="accent1"/>
                </a:solidFill>
                <a:latin typeface="Times New Roman" panose="02020603050405020304" pitchFamily="18" charset="0"/>
                <a:cs typeface="Times New Roman" panose="02020603050405020304" pitchFamily="18" charset="0"/>
              </a:rPr>
              <a:t>rchitecture &amp; </a:t>
            </a:r>
            <a:r>
              <a:rPr lang="en-US" sz="4000" b="1" dirty="0">
                <a:solidFill>
                  <a:schemeClr val="accent1"/>
                </a:solidFill>
                <a:latin typeface="Times New Roman" panose="02020603050405020304" pitchFamily="18" charset="0"/>
                <a:cs typeface="Times New Roman" panose="02020603050405020304" pitchFamily="18" charset="0"/>
              </a:rPr>
              <a:t>M</a:t>
            </a:r>
            <a:r>
              <a:rPr lang="en-US" sz="3200" dirty="0">
                <a:solidFill>
                  <a:schemeClr val="accent1"/>
                </a:solidFill>
                <a:latin typeface="Times New Roman" panose="02020603050405020304" pitchFamily="18" charset="0"/>
                <a:cs typeface="Times New Roman" panose="02020603050405020304" pitchFamily="18" charset="0"/>
              </a:rPr>
              <a:t>odel </a:t>
            </a:r>
            <a:r>
              <a:rPr lang="en-US" sz="4000" b="1" dirty="0">
                <a:solidFill>
                  <a:schemeClr val="accent1"/>
                </a:solidFill>
                <a:latin typeface="Times New Roman" panose="02020603050405020304" pitchFamily="18" charset="0"/>
                <a:cs typeface="Times New Roman" panose="02020603050405020304" pitchFamily="18" charset="0"/>
              </a:rPr>
              <a:t>D</a:t>
            </a:r>
            <a:r>
              <a:rPr lang="en-US" sz="3200" dirty="0">
                <a:solidFill>
                  <a:schemeClr val="accent1"/>
                </a:solidFill>
                <a:latin typeface="Times New Roman" panose="02020603050405020304" pitchFamily="18" charset="0"/>
                <a:cs typeface="Times New Roman" panose="02020603050405020304" pitchFamily="18" charset="0"/>
              </a:rPr>
              <a:t>esign </a:t>
            </a:r>
            <a:r>
              <a:rPr lang="en-US" sz="4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C</a:t>
            </a:r>
            <a:r>
              <a:rPr lang="en-US" sz="3200"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ontinued: </a:t>
            </a:r>
            <a:r>
              <a:rPr lang="en-US" sz="3200" dirty="0">
                <a:solidFill>
                  <a:schemeClr val="accent1"/>
                </a:solidFill>
                <a:latin typeface="Times New Roman" panose="02020603050405020304" pitchFamily="18" charset="0"/>
                <a:cs typeface="Times New Roman" panose="02020603050405020304" pitchFamily="18" charset="0"/>
              </a:rPr>
              <a:t>:</a:t>
            </a:r>
            <a:endParaRPr sz="3200" dirty="0">
              <a:solidFill>
                <a:schemeClr val="accent1"/>
              </a:solidFill>
            </a:endParaRPr>
          </a:p>
        </p:txBody>
      </p:sp>
      <p:sp>
        <p:nvSpPr>
          <p:cNvPr id="132" name="Google Shape;132;p19">
            <a:extLst>
              <a:ext uri="{FF2B5EF4-FFF2-40B4-BE49-F238E27FC236}">
                <a16:creationId xmlns:a16="http://schemas.microsoft.com/office/drawing/2014/main" id="{52EDD497-4C7E-A682-F277-04CF401E6912}"/>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
        <p:nvSpPr>
          <p:cNvPr id="4" name="TextBox 3">
            <a:extLst>
              <a:ext uri="{FF2B5EF4-FFF2-40B4-BE49-F238E27FC236}">
                <a16:creationId xmlns:a16="http://schemas.microsoft.com/office/drawing/2014/main" id="{349D8F0C-E93D-73A3-6C77-FD98A5037ECF}"/>
              </a:ext>
            </a:extLst>
          </p:cNvPr>
          <p:cNvSpPr txBox="1"/>
          <p:nvPr/>
        </p:nvSpPr>
        <p:spPr>
          <a:xfrm>
            <a:off x="540774" y="1184366"/>
            <a:ext cx="6017342" cy="1555041"/>
          </a:xfrm>
          <a:prstGeom prst="rect">
            <a:avLst/>
          </a:prstGeom>
          <a:noFill/>
        </p:spPr>
        <p:txBody>
          <a:bodyPr wrap="square" rtlCol="0">
            <a:spAutoFit/>
          </a:bodyPr>
          <a:lstStyle/>
          <a:p>
            <a:pPr algn="just">
              <a:lnSpc>
                <a:spcPct val="150000"/>
              </a:lnSpc>
              <a:buNone/>
            </a:pPr>
            <a:r>
              <a:rPr lang="en-US" sz="2200" b="1" dirty="0">
                <a:latin typeface="Times New Roman" panose="02020603050405020304" pitchFamily="18" charset="0"/>
                <a:cs typeface="Times New Roman" panose="02020603050405020304" pitchFamily="18" charset="0"/>
              </a:rPr>
              <a:t>Model Used:</a:t>
            </a:r>
            <a:endParaRPr lang="en-US" sz="2200"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US" sz="2200" dirty="0">
                <a:latin typeface="Times New Roman" panose="02020603050405020304" pitchFamily="18" charset="0"/>
                <a:cs typeface="Times New Roman" panose="02020603050405020304" pitchFamily="18" charset="0"/>
              </a:rPr>
              <a:t>Convolutional Neural Network (CNN) for feature   extraction and classification.</a:t>
            </a:r>
          </a:p>
        </p:txBody>
      </p:sp>
    </p:spTree>
    <p:extLst>
      <p:ext uri="{BB962C8B-B14F-4D97-AF65-F5344CB8AC3E}">
        <p14:creationId xmlns:p14="http://schemas.microsoft.com/office/powerpoint/2010/main" val="3878367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FDBAF218-4D0B-0190-1610-5DDC9AA8A3C9}"/>
            </a:ext>
          </a:extLst>
        </p:cNvPr>
        <p:cNvGrpSpPr/>
        <p:nvPr/>
      </p:nvGrpSpPr>
      <p:grpSpPr>
        <a:xfrm>
          <a:off x="0" y="0"/>
          <a:ext cx="0" cy="0"/>
          <a:chOff x="0" y="0"/>
          <a:chExt cx="0" cy="0"/>
        </a:xfrm>
      </p:grpSpPr>
      <p:sp>
        <p:nvSpPr>
          <p:cNvPr id="130" name="Google Shape;130;p19">
            <a:extLst>
              <a:ext uri="{FF2B5EF4-FFF2-40B4-BE49-F238E27FC236}">
                <a16:creationId xmlns:a16="http://schemas.microsoft.com/office/drawing/2014/main" id="{98F56B3A-B482-9D5C-7CCD-AE12F565DBA9}"/>
              </a:ext>
            </a:extLst>
          </p:cNvPr>
          <p:cNvSpPr txBox="1">
            <a:spLocks noGrp="1"/>
          </p:cNvSpPr>
          <p:nvPr>
            <p:ph type="title"/>
          </p:nvPr>
        </p:nvSpPr>
        <p:spPr>
          <a:xfrm>
            <a:off x="540774" y="385754"/>
            <a:ext cx="10515600" cy="819241"/>
          </a:xfrm>
          <a:prstGeom prst="rect">
            <a:avLst/>
          </a:prstGeom>
          <a:noFill/>
          <a:ln>
            <a:noFill/>
          </a:ln>
        </p:spPr>
        <p:txBody>
          <a:bodyPr spcFirstLastPara="1" wrap="square" lIns="91425" tIns="45700" rIns="91425" bIns="45700" anchor="ctr" anchorCtr="0">
            <a:normAutofit/>
          </a:bodyPr>
          <a:lstStyle/>
          <a:p>
            <a:pPr lvl="0">
              <a:buClr>
                <a:srgbClr val="2F5496"/>
              </a:buClr>
              <a:buSzPts val="3200"/>
            </a:pPr>
            <a:r>
              <a:rPr lang="en-US" sz="3200" b="1" dirty="0">
                <a:solidFill>
                  <a:schemeClr val="accent1"/>
                </a:solidFill>
                <a:latin typeface="Times New Roman" panose="02020603050405020304" pitchFamily="18" charset="0"/>
                <a:cs typeface="Times New Roman" panose="02020603050405020304" pitchFamily="18" charset="0"/>
              </a:rPr>
              <a:t>A</a:t>
            </a:r>
            <a:r>
              <a:rPr lang="en-US" sz="3200" dirty="0">
                <a:solidFill>
                  <a:schemeClr val="accent1"/>
                </a:solidFill>
                <a:latin typeface="Times New Roman" panose="02020603050405020304" pitchFamily="18" charset="0"/>
                <a:cs typeface="Times New Roman" panose="02020603050405020304" pitchFamily="18" charset="0"/>
              </a:rPr>
              <a:t>dvantages </a:t>
            </a:r>
            <a:r>
              <a:rPr lang="en-US" sz="3200" b="1" dirty="0">
                <a:solidFill>
                  <a:schemeClr val="accent1"/>
                </a:solidFill>
                <a:latin typeface="Times New Roman" panose="02020603050405020304" pitchFamily="18" charset="0"/>
                <a:cs typeface="Times New Roman" panose="02020603050405020304" pitchFamily="18" charset="0"/>
              </a:rPr>
              <a:t>O</a:t>
            </a:r>
            <a:r>
              <a:rPr lang="en-US" sz="3200" dirty="0">
                <a:solidFill>
                  <a:schemeClr val="accent1"/>
                </a:solidFill>
                <a:latin typeface="Times New Roman" panose="02020603050405020304" pitchFamily="18" charset="0"/>
                <a:cs typeface="Times New Roman" panose="02020603050405020304" pitchFamily="18" charset="0"/>
              </a:rPr>
              <a:t>f </a:t>
            </a:r>
            <a:r>
              <a:rPr lang="en-US" sz="3200" b="1" dirty="0">
                <a:solidFill>
                  <a:schemeClr val="accent1"/>
                </a:solidFill>
                <a:latin typeface="Times New Roman" panose="02020603050405020304" pitchFamily="18" charset="0"/>
                <a:cs typeface="Times New Roman" panose="02020603050405020304" pitchFamily="18" charset="0"/>
              </a:rPr>
              <a:t>T</a:t>
            </a:r>
            <a:r>
              <a:rPr lang="en-US" sz="3200" dirty="0">
                <a:solidFill>
                  <a:schemeClr val="accent1"/>
                </a:solidFill>
                <a:latin typeface="Times New Roman" panose="02020603050405020304" pitchFamily="18" charset="0"/>
                <a:cs typeface="Times New Roman" panose="02020603050405020304" pitchFamily="18" charset="0"/>
              </a:rPr>
              <a:t>he </a:t>
            </a:r>
            <a:r>
              <a:rPr lang="en-US" sz="3200" b="1" dirty="0">
                <a:solidFill>
                  <a:schemeClr val="accent1"/>
                </a:solidFill>
                <a:latin typeface="Times New Roman" panose="02020603050405020304" pitchFamily="18" charset="0"/>
                <a:cs typeface="Times New Roman" panose="02020603050405020304" pitchFamily="18" charset="0"/>
              </a:rPr>
              <a:t>P</a:t>
            </a:r>
            <a:r>
              <a:rPr lang="en-US" sz="3200" dirty="0">
                <a:solidFill>
                  <a:schemeClr val="accent1"/>
                </a:solidFill>
                <a:latin typeface="Times New Roman" panose="02020603050405020304" pitchFamily="18" charset="0"/>
                <a:cs typeface="Times New Roman" panose="02020603050405020304" pitchFamily="18" charset="0"/>
              </a:rPr>
              <a:t>roposed </a:t>
            </a:r>
            <a:r>
              <a:rPr lang="en-US" sz="3200" b="1" dirty="0">
                <a:solidFill>
                  <a:schemeClr val="accent1"/>
                </a:solidFill>
                <a:latin typeface="Times New Roman" panose="02020603050405020304" pitchFamily="18" charset="0"/>
                <a:cs typeface="Times New Roman" panose="02020603050405020304" pitchFamily="18" charset="0"/>
              </a:rPr>
              <a:t>S</a:t>
            </a:r>
            <a:r>
              <a:rPr lang="en-US" sz="3200" dirty="0">
                <a:solidFill>
                  <a:schemeClr val="accent1"/>
                </a:solidFill>
                <a:latin typeface="Times New Roman" panose="02020603050405020304" pitchFamily="18" charset="0"/>
                <a:cs typeface="Times New Roman" panose="02020603050405020304" pitchFamily="18" charset="0"/>
              </a:rPr>
              <a:t>ystem:</a:t>
            </a:r>
            <a:endParaRPr lang="en-US" sz="3200" dirty="0">
              <a:solidFill>
                <a:schemeClr val="accent1"/>
              </a:solidFill>
            </a:endParaRPr>
          </a:p>
        </p:txBody>
      </p:sp>
      <p:sp>
        <p:nvSpPr>
          <p:cNvPr id="132" name="Google Shape;132;p19">
            <a:extLst>
              <a:ext uri="{FF2B5EF4-FFF2-40B4-BE49-F238E27FC236}">
                <a16:creationId xmlns:a16="http://schemas.microsoft.com/office/drawing/2014/main" id="{E5CD598E-9F65-948F-A7D6-B0EF0BAF9884}"/>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
        <p:nvSpPr>
          <p:cNvPr id="4" name="TextBox 3">
            <a:extLst>
              <a:ext uri="{FF2B5EF4-FFF2-40B4-BE49-F238E27FC236}">
                <a16:creationId xmlns:a16="http://schemas.microsoft.com/office/drawing/2014/main" id="{84597D57-451A-5AEC-8512-F436F1804B81}"/>
              </a:ext>
            </a:extLst>
          </p:cNvPr>
          <p:cNvSpPr txBox="1"/>
          <p:nvPr/>
        </p:nvSpPr>
        <p:spPr>
          <a:xfrm>
            <a:off x="540774" y="1184366"/>
            <a:ext cx="10813026" cy="4493538"/>
          </a:xfrm>
          <a:prstGeom prst="rect">
            <a:avLst/>
          </a:prstGeom>
          <a:noFill/>
        </p:spPr>
        <p:txBody>
          <a:bodyPr wrap="square" rtlCol="0">
            <a:spAutoFit/>
          </a:bodyPr>
          <a:lstStyle/>
          <a:p>
            <a:pPr marL="457200" indent="-457200" algn="just">
              <a:buFont typeface="+mj-lt"/>
              <a:buAutoNum type="arabicPeriod"/>
            </a:pPr>
            <a:r>
              <a:rPr lang="en-US" sz="2200" dirty="0">
                <a:latin typeface="Times New Roman" panose="02020603050405020304" pitchFamily="18" charset="0"/>
                <a:cs typeface="Times New Roman" panose="02020603050405020304" pitchFamily="18" charset="0"/>
              </a:rPr>
              <a:t>Non-invasive identification: Painful physical tagging (ear tags/branding) is replaced with a touchless, stress-free AI biometric scan. </a:t>
            </a:r>
          </a:p>
          <a:p>
            <a:pPr marL="457200" indent="-457200" algn="just">
              <a:buFont typeface="+mj-lt"/>
              <a:buAutoNum type="arabicPeriod"/>
            </a:pPr>
            <a:r>
              <a:rPr lang="en-US" sz="2200" dirty="0">
                <a:latin typeface="Times New Roman" panose="02020603050405020304" pitchFamily="18" charset="0"/>
                <a:cs typeface="Times New Roman" panose="02020603050405020304" pitchFamily="18" charset="0"/>
              </a:rPr>
              <a:t>Fraud prevention: Duplicate registration detection using MD5 cryptography eliminates the possibility of double subsidy theft by blocking access to these duplicate registrations in real time.</a:t>
            </a:r>
          </a:p>
          <a:p>
            <a:pPr marL="457200" indent="-457200" algn="just">
              <a:buFont typeface="+mj-lt"/>
              <a:buAutoNum type="arabicPeriod"/>
            </a:pPr>
            <a:r>
              <a:rPr lang="en-US" sz="2200" dirty="0"/>
              <a:t> </a:t>
            </a:r>
            <a:r>
              <a:rPr lang="en-US" sz="2200" dirty="0">
                <a:latin typeface="Times New Roman" panose="02020603050405020304" pitchFamily="18" charset="0"/>
                <a:cs typeface="Times New Roman" panose="02020603050405020304" pitchFamily="18" charset="0"/>
              </a:rPr>
              <a:t>High-precision filtering: Implementation of a soft maximum confidence threshold (85%) automatically rejects all non-livestock images as unknown. </a:t>
            </a:r>
          </a:p>
          <a:p>
            <a:pPr marL="457200" indent="-457200" algn="just">
              <a:buFont typeface="+mj-lt"/>
              <a:buAutoNum type="arabicPeriod"/>
            </a:pPr>
            <a:r>
              <a:rPr lang="en-US" sz="2200" dirty="0">
                <a:latin typeface="Times New Roman" panose="02020603050405020304" pitchFamily="18" charset="0"/>
                <a:cs typeface="Times New Roman" panose="02020603050405020304" pitchFamily="18" charset="0"/>
              </a:rPr>
              <a:t>Digital id with resilient authentication: Permanent digital fingerprint that will never be lost, switched out, or altered like a physical tag. </a:t>
            </a:r>
          </a:p>
          <a:p>
            <a:pPr marL="457200" indent="-457200" algn="just">
              <a:buFont typeface="+mj-lt"/>
              <a:buAutoNum type="arabicPeriod"/>
            </a:pPr>
            <a:r>
              <a:rPr lang="en-US" sz="2200" dirty="0">
                <a:latin typeface="Times New Roman" panose="02020603050405020304" pitchFamily="18" charset="0"/>
                <a:cs typeface="Times New Roman" panose="02020603050405020304" pitchFamily="18" charset="0"/>
              </a:rPr>
              <a:t>Live analytics and data monitoring: Real-time market value/health intelligence dashboard for data-driven decisions in agri-business. Optimized for edge processing and performance: High accuracy, low latency on standard web browsers due to MobileNetV2 architecture optimization.</a:t>
            </a:r>
          </a:p>
        </p:txBody>
      </p:sp>
    </p:spTree>
    <p:extLst>
      <p:ext uri="{BB962C8B-B14F-4D97-AF65-F5344CB8AC3E}">
        <p14:creationId xmlns:p14="http://schemas.microsoft.com/office/powerpoint/2010/main" val="2618663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0"/>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lvl="0">
              <a:buClr>
                <a:srgbClr val="2F5496"/>
              </a:buClr>
              <a:buSzPts val="3200"/>
            </a:pPr>
            <a:r>
              <a:rPr lang="en-US" sz="4000" b="1" dirty="0">
                <a:solidFill>
                  <a:schemeClr val="accent1"/>
                </a:solidFill>
                <a:latin typeface="Times New Roman" panose="02020603050405020304" pitchFamily="18" charset="0"/>
                <a:cs typeface="Times New Roman" panose="02020603050405020304" pitchFamily="18" charset="0"/>
              </a:rPr>
              <a:t>T</a:t>
            </a:r>
            <a:r>
              <a:rPr lang="en-US" sz="3200" dirty="0">
                <a:solidFill>
                  <a:schemeClr val="accent1"/>
                </a:solidFill>
                <a:latin typeface="Times New Roman" panose="02020603050405020304" pitchFamily="18" charset="0"/>
                <a:cs typeface="Times New Roman" panose="02020603050405020304" pitchFamily="18" charset="0"/>
              </a:rPr>
              <a:t>ools &amp; </a:t>
            </a:r>
            <a:r>
              <a:rPr lang="en-US" sz="4000" b="1" dirty="0">
                <a:solidFill>
                  <a:schemeClr val="accent1"/>
                </a:solidFill>
                <a:latin typeface="Times New Roman" panose="02020603050405020304" pitchFamily="18" charset="0"/>
                <a:cs typeface="Times New Roman" panose="02020603050405020304" pitchFamily="18" charset="0"/>
              </a:rPr>
              <a:t>T</a:t>
            </a:r>
            <a:r>
              <a:rPr lang="en-US" sz="3200" dirty="0">
                <a:solidFill>
                  <a:schemeClr val="accent1"/>
                </a:solidFill>
                <a:latin typeface="Times New Roman" panose="02020603050405020304" pitchFamily="18" charset="0"/>
                <a:cs typeface="Times New Roman" panose="02020603050405020304" pitchFamily="18" charset="0"/>
              </a:rPr>
              <a:t>echnologies </a:t>
            </a:r>
            <a:r>
              <a:rPr lang="en-US" sz="4000" b="1" dirty="0">
                <a:solidFill>
                  <a:schemeClr val="accent1"/>
                </a:solidFill>
                <a:latin typeface="Times New Roman" panose="02020603050405020304" pitchFamily="18" charset="0"/>
                <a:cs typeface="Times New Roman" panose="02020603050405020304" pitchFamily="18" charset="0"/>
              </a:rPr>
              <a:t>U</a:t>
            </a:r>
            <a:r>
              <a:rPr lang="en-US" sz="3200" dirty="0">
                <a:solidFill>
                  <a:schemeClr val="accent1"/>
                </a:solidFill>
                <a:latin typeface="Times New Roman" panose="02020603050405020304" pitchFamily="18" charset="0"/>
                <a:cs typeface="Times New Roman" panose="02020603050405020304" pitchFamily="18" charset="0"/>
              </a:rPr>
              <a:t>sed:</a:t>
            </a:r>
            <a:endParaRPr sz="3200" dirty="0">
              <a:solidFill>
                <a:schemeClr val="accent1"/>
              </a:solidFill>
              <a:latin typeface="Times New Roman" panose="02020603050405020304" pitchFamily="18" charset="0"/>
              <a:cs typeface="Times New Roman" panose="02020603050405020304" pitchFamily="18" charset="0"/>
            </a:endParaRPr>
          </a:p>
        </p:txBody>
      </p:sp>
      <p:sp>
        <p:nvSpPr>
          <p:cNvPr id="138" name="Google Shape;138;p20"/>
          <p:cNvSpPr txBox="1">
            <a:spLocks noGrp="1"/>
          </p:cNvSpPr>
          <p:nvPr>
            <p:ph type="body" idx="1"/>
          </p:nvPr>
        </p:nvSpPr>
        <p:spPr>
          <a:xfrm>
            <a:off x="838200" y="1184376"/>
            <a:ext cx="10515600" cy="4395900"/>
          </a:xfrm>
          <a:prstGeom prst="rect">
            <a:avLst/>
          </a:prstGeom>
          <a:noFill/>
          <a:ln>
            <a:noFill/>
          </a:ln>
        </p:spPr>
        <p:txBody>
          <a:bodyPr spcFirstLastPara="1" wrap="square" lIns="91425" tIns="45700" rIns="91425" bIns="45700" anchor="t" anchorCtr="0">
            <a:normAutofit fontScale="77500" lnSpcReduction="20000"/>
          </a:bodyPr>
          <a:lstStyle/>
          <a:p>
            <a:pPr marL="76200" indent="0" algn="just">
              <a:lnSpc>
                <a:spcPct val="150000"/>
              </a:lnSpc>
              <a:buNone/>
            </a:pPr>
            <a:r>
              <a:rPr lang="en-US" b="1" dirty="0">
                <a:latin typeface="Times New Roman" panose="02020603050405020304" pitchFamily="18" charset="0"/>
                <a:cs typeface="Times New Roman" panose="02020603050405020304" pitchFamily="18" charset="0"/>
              </a:rPr>
              <a:t>AI &amp; Image Processing:</a:t>
            </a:r>
          </a:p>
          <a:p>
            <a:pPr marL="628650" indent="-51435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Python - Core programming language.</a:t>
            </a:r>
          </a:p>
          <a:p>
            <a:pPr marL="628650" indent="-51435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TensorFlow / </a:t>
            </a:r>
            <a:r>
              <a:rPr lang="en-US" dirty="0" err="1">
                <a:latin typeface="Times New Roman" panose="02020603050405020304" pitchFamily="18" charset="0"/>
                <a:cs typeface="Times New Roman" panose="02020603050405020304" pitchFamily="18" charset="0"/>
              </a:rPr>
              <a:t>PyTorch</a:t>
            </a:r>
            <a:r>
              <a:rPr lang="en-US" dirty="0">
                <a:latin typeface="Times New Roman" panose="02020603050405020304" pitchFamily="18" charset="0"/>
                <a:cs typeface="Times New Roman" panose="02020603050405020304" pitchFamily="18" charset="0"/>
              </a:rPr>
              <a:t> – Deep learning frameworks.</a:t>
            </a:r>
          </a:p>
          <a:p>
            <a:pPr marL="628650" indent="-51435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Convolutional Neural Networks (CNN) – Image feature extraction and classification.</a:t>
            </a:r>
          </a:p>
          <a:p>
            <a:pPr marL="628650" indent="-51435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OpenCV – Image preprocessing and enhancement.</a:t>
            </a:r>
          </a:p>
          <a:p>
            <a:pPr marL="76200" indent="0" algn="just">
              <a:lnSpc>
                <a:spcPct val="150000"/>
              </a:lnSpc>
              <a:buNone/>
            </a:pPr>
            <a:r>
              <a:rPr lang="en-US" b="1" dirty="0">
                <a:latin typeface="Times New Roman" panose="02020603050405020304" pitchFamily="18" charset="0"/>
                <a:cs typeface="Times New Roman" panose="02020603050405020304" pitchFamily="18" charset="0"/>
              </a:rPr>
              <a:t>User Interface</a:t>
            </a:r>
          </a:p>
          <a:p>
            <a:pPr marL="628650" indent="-51435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Flutter / ReactJS – User-friendly interface for image upload and result display.</a:t>
            </a:r>
          </a:p>
        </p:txBody>
      </p:sp>
      <p:sp>
        <p:nvSpPr>
          <p:cNvPr id="139" name="Google Shape;13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1"/>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lvl="0" algn="just">
              <a:lnSpc>
                <a:spcPct val="100000"/>
              </a:lnSpc>
              <a:buClr>
                <a:srgbClr val="2F5496"/>
              </a:buClr>
              <a:buSzPct val="57370"/>
            </a:pPr>
            <a:r>
              <a:rPr lang="en-US" sz="4000" b="1" dirty="0">
                <a:solidFill>
                  <a:schemeClr val="accent1"/>
                </a:solidFill>
                <a:latin typeface="Times New Roman" panose="02020603050405020304" pitchFamily="18" charset="0"/>
                <a:cs typeface="Times New Roman" panose="02020603050405020304" pitchFamily="18" charset="0"/>
              </a:rPr>
              <a:t>T</a:t>
            </a:r>
            <a:r>
              <a:rPr lang="en-US" sz="3200" dirty="0">
                <a:solidFill>
                  <a:schemeClr val="accent1"/>
                </a:solidFill>
                <a:latin typeface="Times New Roman" panose="02020603050405020304" pitchFamily="18" charset="0"/>
                <a:cs typeface="Times New Roman" panose="02020603050405020304" pitchFamily="18" charset="0"/>
              </a:rPr>
              <a:t>ools &amp; </a:t>
            </a:r>
            <a:r>
              <a:rPr lang="en-US" sz="4000" b="1" dirty="0">
                <a:solidFill>
                  <a:schemeClr val="accent1"/>
                </a:solidFill>
                <a:latin typeface="Times New Roman" panose="02020603050405020304" pitchFamily="18" charset="0"/>
                <a:cs typeface="Times New Roman" panose="02020603050405020304" pitchFamily="18" charset="0"/>
              </a:rPr>
              <a:t>T</a:t>
            </a:r>
            <a:r>
              <a:rPr lang="en-US" sz="3200" dirty="0">
                <a:solidFill>
                  <a:schemeClr val="accent1"/>
                </a:solidFill>
                <a:latin typeface="Times New Roman" panose="02020603050405020304" pitchFamily="18" charset="0"/>
                <a:cs typeface="Times New Roman" panose="02020603050405020304" pitchFamily="18" charset="0"/>
              </a:rPr>
              <a:t>echnologies </a:t>
            </a:r>
            <a:r>
              <a:rPr lang="en-US" sz="4000" b="1" dirty="0">
                <a:solidFill>
                  <a:schemeClr val="accent1"/>
                </a:solidFill>
                <a:latin typeface="Times New Roman" panose="02020603050405020304" pitchFamily="18" charset="0"/>
                <a:cs typeface="Times New Roman" panose="02020603050405020304" pitchFamily="18" charset="0"/>
              </a:rPr>
              <a:t>U</a:t>
            </a:r>
            <a:r>
              <a:rPr lang="en-US" sz="3200" dirty="0">
                <a:solidFill>
                  <a:schemeClr val="accent1"/>
                </a:solidFill>
                <a:latin typeface="Times New Roman" panose="02020603050405020304" pitchFamily="18" charset="0"/>
                <a:cs typeface="Times New Roman" panose="02020603050405020304" pitchFamily="18" charset="0"/>
              </a:rPr>
              <a:t>sed </a:t>
            </a:r>
            <a:r>
              <a:rPr lang="en-US" sz="4000" b="1" dirty="0">
                <a:solidFill>
                  <a:schemeClr val="accent1"/>
                </a:solidFill>
                <a:latin typeface="Times New Roman" panose="02020603050405020304" pitchFamily="18" charset="0"/>
                <a:cs typeface="Times New Roman" panose="02020603050405020304" pitchFamily="18" charset="0"/>
              </a:rPr>
              <a:t>C</a:t>
            </a:r>
            <a:r>
              <a:rPr lang="en-US" sz="3200" dirty="0">
                <a:solidFill>
                  <a:schemeClr val="accent1"/>
                </a:solidFill>
                <a:latin typeface="Times New Roman" panose="02020603050405020304" pitchFamily="18" charset="0"/>
                <a:cs typeface="Times New Roman" panose="02020603050405020304" pitchFamily="18" charset="0"/>
              </a:rPr>
              <a:t>ontinued:</a:t>
            </a:r>
            <a:endParaRPr sz="3200" dirty="0"/>
          </a:p>
        </p:txBody>
      </p:sp>
      <p:sp>
        <p:nvSpPr>
          <p:cNvPr id="145" name="Google Shape;145;p21"/>
          <p:cNvSpPr txBox="1">
            <a:spLocks noGrp="1"/>
          </p:cNvSpPr>
          <p:nvPr>
            <p:ph type="body" idx="1"/>
          </p:nvPr>
        </p:nvSpPr>
        <p:spPr>
          <a:xfrm>
            <a:off x="838200" y="1184376"/>
            <a:ext cx="10515600" cy="4521300"/>
          </a:xfrm>
          <a:prstGeom prst="rect">
            <a:avLst/>
          </a:prstGeom>
          <a:noFill/>
          <a:ln>
            <a:noFill/>
          </a:ln>
        </p:spPr>
        <p:txBody>
          <a:bodyPr spcFirstLastPara="1" wrap="square" lIns="91425" tIns="45700" rIns="91425" bIns="45700" anchor="t" anchorCtr="0">
            <a:normAutofit/>
          </a:bodyPr>
          <a:lstStyle/>
          <a:p>
            <a:pPr marL="76200" indent="0" algn="just">
              <a:lnSpc>
                <a:spcPct val="150000"/>
              </a:lnSpc>
              <a:buNone/>
            </a:pPr>
            <a:r>
              <a:rPr lang="en-US" sz="2200" b="1" dirty="0">
                <a:latin typeface="Times New Roman" panose="02020603050405020304" pitchFamily="18" charset="0"/>
                <a:cs typeface="Times New Roman" panose="02020603050405020304" pitchFamily="18" charset="0"/>
              </a:rPr>
              <a:t>Database</a:t>
            </a:r>
          </a:p>
          <a:p>
            <a:pPr marL="628650" indent="-514350" algn="just">
              <a:lnSpc>
                <a:spcPct val="150000"/>
              </a:lnSpc>
              <a:buFont typeface="+mj-lt"/>
              <a:buAutoNum type="arabicPeriod"/>
            </a:pPr>
            <a:r>
              <a:rPr lang="en-US" sz="2200" dirty="0">
                <a:latin typeface="Times New Roman" panose="02020603050405020304" pitchFamily="18" charset="0"/>
                <a:cs typeface="Times New Roman" panose="02020603050405020304" pitchFamily="18" charset="0"/>
              </a:rPr>
              <a:t>SQLite / PostgreSQL – Storage of animal images, profiles, and metadata.</a:t>
            </a:r>
          </a:p>
          <a:p>
            <a:pPr marL="76200" indent="0" algn="just">
              <a:lnSpc>
                <a:spcPct val="150000"/>
              </a:lnSpc>
              <a:buNone/>
            </a:pPr>
            <a:r>
              <a:rPr lang="en-US" sz="2200" b="1" dirty="0">
                <a:latin typeface="Times New Roman" panose="02020603050405020304" pitchFamily="18" charset="0"/>
                <a:cs typeface="Times New Roman" panose="02020603050405020304" pitchFamily="18" charset="0"/>
              </a:rPr>
              <a:t>Visualization</a:t>
            </a:r>
          </a:p>
          <a:p>
            <a:pPr marL="628650" indent="-514350" algn="just">
              <a:lnSpc>
                <a:spcPct val="150000"/>
              </a:lnSpc>
              <a:buFont typeface="+mj-lt"/>
              <a:buAutoNum type="arabicPeriod"/>
            </a:pPr>
            <a:r>
              <a:rPr lang="en-US" sz="2200" dirty="0">
                <a:latin typeface="Times New Roman" panose="02020603050405020304" pitchFamily="18" charset="0"/>
                <a:cs typeface="Times New Roman" panose="02020603050405020304" pitchFamily="18" charset="0"/>
              </a:rPr>
              <a:t>Heatmaps (Explainable AI) – Visual explanation of AI predictions.</a:t>
            </a:r>
          </a:p>
          <a:p>
            <a:pPr marL="628650" indent="-514350" algn="just">
              <a:lnSpc>
                <a:spcPct val="150000"/>
              </a:lnSpc>
              <a:buFont typeface="+mj-lt"/>
              <a:buAutoNum type="arabicPeriod"/>
            </a:pPr>
            <a:r>
              <a:rPr lang="en-US" sz="2200" dirty="0">
                <a:latin typeface="Times New Roman" panose="02020603050405020304" pitchFamily="18" charset="0"/>
                <a:cs typeface="Times New Roman" panose="02020603050405020304" pitchFamily="18" charset="0"/>
              </a:rPr>
              <a:t>Result Dashboards – Display of classification and health analysis outputs.</a:t>
            </a:r>
          </a:p>
        </p:txBody>
      </p:sp>
      <p:sp>
        <p:nvSpPr>
          <p:cNvPr id="146" name="Google Shape;14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1C0B5779-FD26-2AA8-DE7A-D6184C403DAF}"/>
            </a:ext>
          </a:extLst>
        </p:cNvPr>
        <p:cNvGrpSpPr/>
        <p:nvPr/>
      </p:nvGrpSpPr>
      <p:grpSpPr>
        <a:xfrm>
          <a:off x="0" y="0"/>
          <a:ext cx="0" cy="0"/>
          <a:chOff x="0" y="0"/>
          <a:chExt cx="0" cy="0"/>
        </a:xfrm>
      </p:grpSpPr>
      <p:sp>
        <p:nvSpPr>
          <p:cNvPr id="144" name="Google Shape;144;p21">
            <a:extLst>
              <a:ext uri="{FF2B5EF4-FFF2-40B4-BE49-F238E27FC236}">
                <a16:creationId xmlns:a16="http://schemas.microsoft.com/office/drawing/2014/main" id="{6093ED4D-A890-9DA2-68AC-0C7337E15BC7}"/>
              </a:ext>
            </a:extLst>
          </p:cNvPr>
          <p:cNvSpPr txBox="1">
            <a:spLocks noGrp="1"/>
          </p:cNvSpPr>
          <p:nvPr>
            <p:ph type="title"/>
          </p:nvPr>
        </p:nvSpPr>
        <p:spPr>
          <a:xfrm>
            <a:off x="838200" y="136525"/>
            <a:ext cx="10515600" cy="819241"/>
          </a:xfrm>
          <a:prstGeom prst="rect">
            <a:avLst/>
          </a:prstGeom>
          <a:noFill/>
          <a:ln>
            <a:noFill/>
          </a:ln>
        </p:spPr>
        <p:txBody>
          <a:bodyPr spcFirstLastPara="1" wrap="square" lIns="91425" tIns="45700" rIns="91425" bIns="45700" anchor="ctr" anchorCtr="0">
            <a:normAutofit/>
          </a:bodyPr>
          <a:lstStyle/>
          <a:p>
            <a:pPr lvl="0" algn="just">
              <a:lnSpc>
                <a:spcPct val="100000"/>
              </a:lnSpc>
              <a:buClr>
                <a:srgbClr val="2F5496"/>
              </a:buClr>
              <a:buSzPct val="57370"/>
            </a:pPr>
            <a:r>
              <a:rPr lang="en-US" sz="3200" b="1" dirty="0">
                <a:solidFill>
                  <a:schemeClr val="accent1"/>
                </a:solidFill>
                <a:latin typeface="Times New Roman" panose="02020603050405020304" pitchFamily="18" charset="0"/>
                <a:cs typeface="Times New Roman" panose="02020603050405020304" pitchFamily="18" charset="0"/>
              </a:rPr>
              <a:t>R</a:t>
            </a:r>
            <a:r>
              <a:rPr lang="en-US" sz="3200" dirty="0">
                <a:solidFill>
                  <a:schemeClr val="accent1"/>
                </a:solidFill>
                <a:latin typeface="Times New Roman" panose="02020603050405020304" pitchFamily="18" charset="0"/>
                <a:cs typeface="Times New Roman" panose="02020603050405020304" pitchFamily="18" charset="0"/>
              </a:rPr>
              <a:t>eferences:</a:t>
            </a:r>
            <a:endParaRPr sz="3200" dirty="0"/>
          </a:p>
        </p:txBody>
      </p:sp>
      <p:sp>
        <p:nvSpPr>
          <p:cNvPr id="145" name="Google Shape;145;p21">
            <a:extLst>
              <a:ext uri="{FF2B5EF4-FFF2-40B4-BE49-F238E27FC236}">
                <a16:creationId xmlns:a16="http://schemas.microsoft.com/office/drawing/2014/main" id="{66917E61-9996-F589-3E68-FDB40E92DF13}"/>
              </a:ext>
            </a:extLst>
          </p:cNvPr>
          <p:cNvSpPr txBox="1">
            <a:spLocks noGrp="1"/>
          </p:cNvSpPr>
          <p:nvPr>
            <p:ph type="body" idx="1"/>
          </p:nvPr>
        </p:nvSpPr>
        <p:spPr>
          <a:xfrm>
            <a:off x="838200" y="955766"/>
            <a:ext cx="10515600" cy="4521300"/>
          </a:xfrm>
          <a:prstGeom prst="rect">
            <a:avLst/>
          </a:prstGeom>
          <a:noFill/>
          <a:ln>
            <a:noFill/>
          </a:ln>
        </p:spPr>
        <p:txBody>
          <a:bodyPr spcFirstLastPara="1" wrap="square" lIns="91425" tIns="45700" rIns="91425" bIns="45700" anchor="t" anchorCtr="0">
            <a:normAutofit/>
          </a:bodyPr>
          <a:lstStyle/>
          <a:p>
            <a:pPr marL="114300" indent="0">
              <a:lnSpc>
                <a:spcPct val="100000"/>
              </a:lnSpc>
              <a:buNone/>
            </a:pPr>
            <a:r>
              <a:rPr lang="en-US" sz="2200" b="1" dirty="0">
                <a:latin typeface="Times New Roman" panose="02020603050405020304" pitchFamily="18" charset="0"/>
                <a:cs typeface="Times New Roman" panose="02020603050405020304" pitchFamily="18" charset="0"/>
              </a:rPr>
              <a:t>[1]  Image-Based Breed Recognition of Cattle and Buffaloes of India” (2026)</a:t>
            </a:r>
            <a:r>
              <a:rPr lang="en-US" sz="220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hlinkClick r:id="rId3"/>
              </a:rPr>
              <a:t>https://www.researchgate.net/publication/399687026_Image_Based_Breed_Recognition_of_Cattle_and_Buffalos_of_India</a:t>
            </a:r>
            <a:r>
              <a:rPr lang="en-US" sz="2200" dirty="0">
                <a:latin typeface="Times New Roman" panose="02020603050405020304" pitchFamily="18" charset="0"/>
                <a:cs typeface="Times New Roman" panose="02020603050405020304" pitchFamily="18" charset="0"/>
              </a:rPr>
              <a:t> </a:t>
            </a:r>
          </a:p>
          <a:p>
            <a:pPr marL="114300" indent="0">
              <a:lnSpc>
                <a:spcPct val="100000"/>
              </a:lnSpc>
              <a:buNone/>
            </a:pPr>
            <a:r>
              <a:rPr lang="en-US" sz="2200" b="1" dirty="0">
                <a:latin typeface="Times New Roman" panose="02020603050405020304" pitchFamily="18" charset="0"/>
                <a:cs typeface="Times New Roman" panose="02020603050405020304" pitchFamily="18" charset="0"/>
              </a:rPr>
              <a:t>[2]  Image-Based Breed Recognition for Cattle and Buffaloes Using Deep Learning” (2025)</a:t>
            </a:r>
            <a:r>
              <a:rPr lang="en-US" sz="220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hlinkClick r:id="rId4"/>
              </a:rPr>
              <a:t>https://ijirt.org/article?manuscript=190698</a:t>
            </a:r>
            <a:r>
              <a:rPr lang="en-US" sz="2200" dirty="0">
                <a:latin typeface="Times New Roman" panose="02020603050405020304" pitchFamily="18" charset="0"/>
                <a:cs typeface="Times New Roman" panose="02020603050405020304" pitchFamily="18" charset="0"/>
              </a:rPr>
              <a:t> </a:t>
            </a:r>
          </a:p>
          <a:p>
            <a:pPr marL="114300" indent="0">
              <a:lnSpc>
                <a:spcPct val="100000"/>
              </a:lnSpc>
              <a:buNone/>
            </a:pPr>
            <a:r>
              <a:rPr lang="en-US" sz="2200" b="1" dirty="0">
                <a:latin typeface="Times New Roman" panose="02020603050405020304" pitchFamily="18" charset="0"/>
                <a:cs typeface="Times New Roman" panose="02020603050405020304" pitchFamily="18" charset="0"/>
              </a:rPr>
              <a:t>[3]  Image-Based Breed Recognition of Indian Cattle and Buffaloes Using YOLOv12”    (2025)</a:t>
            </a:r>
            <a:r>
              <a:rPr lang="en-US" sz="2200" dirty="0">
                <a:latin typeface="Times New Roman" panose="02020603050405020304" pitchFamily="18" charset="0"/>
                <a:cs typeface="Times New Roman" panose="02020603050405020304" pitchFamily="18" charset="0"/>
              </a:rPr>
              <a:t> https://doi.org/10.22214/ijraset.2025.76311 </a:t>
            </a:r>
          </a:p>
          <a:p>
            <a:pPr marL="114300" indent="0">
              <a:lnSpc>
                <a:spcPct val="100000"/>
              </a:lnSpc>
              <a:buNone/>
            </a:pPr>
            <a:r>
              <a:rPr lang="en-US" sz="2200" b="1" dirty="0">
                <a:latin typeface="Times New Roman" panose="02020603050405020304" pitchFamily="18" charset="0"/>
                <a:cs typeface="Times New Roman" panose="02020603050405020304" pitchFamily="18" charset="0"/>
              </a:rPr>
              <a:t>[4]  Deep Learning Based Individual Cattle Face Recognition using Transfer  Learning” (2025)</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hlinkClick r:id="rId5"/>
              </a:rPr>
              <a:t>https://www.researchgate.net/publication/383486759_Deep_Learning_based_Individual_Cattle_Face_Recognition_using_Data_Augmentation_and_Transfer_Learning</a:t>
            </a:r>
            <a:r>
              <a:rPr lang="en-US" sz="2200" dirty="0">
                <a:latin typeface="Times New Roman" panose="02020603050405020304" pitchFamily="18" charset="0"/>
                <a:cs typeface="Times New Roman" panose="02020603050405020304" pitchFamily="18" charset="0"/>
              </a:rPr>
              <a:t> </a:t>
            </a:r>
          </a:p>
          <a:p>
            <a:pPr>
              <a:lnSpc>
                <a:spcPct val="100000"/>
              </a:lnSpc>
            </a:pPr>
            <a:endParaRPr lang="en-US" sz="2200" dirty="0">
              <a:latin typeface="Times New Roman" panose="02020603050405020304" pitchFamily="18" charset="0"/>
              <a:cs typeface="Times New Roman" panose="02020603050405020304" pitchFamily="18" charset="0"/>
            </a:endParaRPr>
          </a:p>
          <a:p>
            <a:pPr>
              <a:lnSpc>
                <a:spcPct val="100000"/>
              </a:lnSpc>
            </a:pPr>
            <a:endParaRPr lang="en-US" sz="2200" dirty="0">
              <a:latin typeface="Times New Roman" panose="02020603050405020304" pitchFamily="18" charset="0"/>
              <a:cs typeface="Times New Roman" panose="02020603050405020304" pitchFamily="18" charset="0"/>
            </a:endParaRPr>
          </a:p>
        </p:txBody>
      </p:sp>
      <p:sp>
        <p:nvSpPr>
          <p:cNvPr id="146" name="Google Shape;146;p21">
            <a:extLst>
              <a:ext uri="{FF2B5EF4-FFF2-40B4-BE49-F238E27FC236}">
                <a16:creationId xmlns:a16="http://schemas.microsoft.com/office/drawing/2014/main" id="{6493ED79-7E4B-3BBB-B054-36F64400578A}"/>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11499329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AF441368-076C-CC23-47A9-DFEC4B8767C2}"/>
            </a:ext>
          </a:extLst>
        </p:cNvPr>
        <p:cNvGrpSpPr/>
        <p:nvPr/>
      </p:nvGrpSpPr>
      <p:grpSpPr>
        <a:xfrm>
          <a:off x="0" y="0"/>
          <a:ext cx="0" cy="0"/>
          <a:chOff x="0" y="0"/>
          <a:chExt cx="0" cy="0"/>
        </a:xfrm>
      </p:grpSpPr>
      <p:sp>
        <p:nvSpPr>
          <p:cNvPr id="144" name="Google Shape;144;p21">
            <a:extLst>
              <a:ext uri="{FF2B5EF4-FFF2-40B4-BE49-F238E27FC236}">
                <a16:creationId xmlns:a16="http://schemas.microsoft.com/office/drawing/2014/main" id="{3B7D1538-05FF-AE9C-D9A6-84E327077AA1}"/>
              </a:ext>
            </a:extLst>
          </p:cNvPr>
          <p:cNvSpPr txBox="1">
            <a:spLocks noGrp="1"/>
          </p:cNvSpPr>
          <p:nvPr>
            <p:ph type="title"/>
          </p:nvPr>
        </p:nvSpPr>
        <p:spPr>
          <a:xfrm>
            <a:off x="838200" y="136525"/>
            <a:ext cx="10515600" cy="819241"/>
          </a:xfrm>
          <a:prstGeom prst="rect">
            <a:avLst/>
          </a:prstGeom>
          <a:noFill/>
          <a:ln>
            <a:noFill/>
          </a:ln>
        </p:spPr>
        <p:txBody>
          <a:bodyPr spcFirstLastPara="1" wrap="square" lIns="91425" tIns="45700" rIns="91425" bIns="45700" anchor="ctr" anchorCtr="0">
            <a:normAutofit/>
          </a:bodyPr>
          <a:lstStyle/>
          <a:p>
            <a:pPr lvl="0" algn="just">
              <a:lnSpc>
                <a:spcPct val="100000"/>
              </a:lnSpc>
              <a:buClr>
                <a:srgbClr val="2F5496"/>
              </a:buClr>
              <a:buSzPct val="57370"/>
            </a:pPr>
            <a:r>
              <a:rPr lang="en-US" sz="3200" b="1" dirty="0">
                <a:solidFill>
                  <a:schemeClr val="accent1"/>
                </a:solidFill>
                <a:latin typeface="Times New Roman" panose="02020603050405020304" pitchFamily="18" charset="0"/>
                <a:cs typeface="Times New Roman" panose="02020603050405020304" pitchFamily="18" charset="0"/>
              </a:rPr>
              <a:t>R</a:t>
            </a:r>
            <a:r>
              <a:rPr lang="en-US" sz="3200" dirty="0">
                <a:solidFill>
                  <a:schemeClr val="accent1"/>
                </a:solidFill>
                <a:latin typeface="Times New Roman" panose="02020603050405020304" pitchFamily="18" charset="0"/>
                <a:cs typeface="Times New Roman" panose="02020603050405020304" pitchFamily="18" charset="0"/>
              </a:rPr>
              <a:t>eferences:</a:t>
            </a:r>
            <a:endParaRPr sz="3200" dirty="0"/>
          </a:p>
        </p:txBody>
      </p:sp>
      <p:sp>
        <p:nvSpPr>
          <p:cNvPr id="145" name="Google Shape;145;p21">
            <a:extLst>
              <a:ext uri="{FF2B5EF4-FFF2-40B4-BE49-F238E27FC236}">
                <a16:creationId xmlns:a16="http://schemas.microsoft.com/office/drawing/2014/main" id="{D69D573D-557D-0EDB-A852-B6E9DCC47A81}"/>
              </a:ext>
            </a:extLst>
          </p:cNvPr>
          <p:cNvSpPr txBox="1">
            <a:spLocks noGrp="1"/>
          </p:cNvSpPr>
          <p:nvPr>
            <p:ph type="body" idx="1"/>
          </p:nvPr>
        </p:nvSpPr>
        <p:spPr>
          <a:xfrm>
            <a:off x="838200" y="955766"/>
            <a:ext cx="10515600" cy="4521300"/>
          </a:xfrm>
          <a:prstGeom prst="rect">
            <a:avLst/>
          </a:prstGeom>
          <a:noFill/>
          <a:ln>
            <a:noFill/>
          </a:ln>
        </p:spPr>
        <p:txBody>
          <a:bodyPr spcFirstLastPara="1" wrap="square" lIns="91425" tIns="45700" rIns="91425" bIns="45700" anchor="t" anchorCtr="0">
            <a:normAutofit fontScale="40000" lnSpcReduction="20000"/>
          </a:bodyPr>
          <a:lstStyle/>
          <a:p>
            <a:pPr marL="114300" indent="0">
              <a:lnSpc>
                <a:spcPct val="120000"/>
              </a:lnSpc>
              <a:buNone/>
            </a:pPr>
            <a:r>
              <a:rPr lang="en-IN" sz="5500" b="1" dirty="0">
                <a:latin typeface="Times New Roman" panose="02020603050405020304" pitchFamily="18" charset="0"/>
                <a:cs typeface="Times New Roman" panose="02020603050405020304" pitchFamily="18" charset="0"/>
              </a:rPr>
              <a:t>[5]   Deep Learning-Based Buffalo Identification using Muzzle Patterns (2025)</a:t>
            </a:r>
            <a:br>
              <a:rPr lang="en-IN" sz="5500" dirty="0">
                <a:latin typeface="Times New Roman" panose="02020603050405020304" pitchFamily="18" charset="0"/>
                <a:cs typeface="Times New Roman" panose="02020603050405020304" pitchFamily="18" charset="0"/>
              </a:rPr>
            </a:br>
            <a:r>
              <a:rPr lang="en-IN" sz="5500" dirty="0">
                <a:latin typeface="Times New Roman" panose="02020603050405020304" pitchFamily="18" charset="0"/>
                <a:cs typeface="Times New Roman" panose="02020603050405020304" pitchFamily="18" charset="0"/>
                <a:hlinkClick r:id="rId3"/>
              </a:rPr>
              <a:t>https://aab.copernicus.org/articles/68/473/2025/</a:t>
            </a:r>
            <a:r>
              <a:rPr lang="en-IN" sz="5500" dirty="0">
                <a:latin typeface="Times New Roman" panose="02020603050405020304" pitchFamily="18" charset="0"/>
                <a:cs typeface="Times New Roman" panose="02020603050405020304" pitchFamily="18" charset="0"/>
              </a:rPr>
              <a:t> </a:t>
            </a:r>
            <a:endParaRPr lang="en-IN" sz="5500" b="1" dirty="0">
              <a:latin typeface="Times New Roman" panose="02020603050405020304" pitchFamily="18" charset="0"/>
              <a:cs typeface="Times New Roman" panose="02020603050405020304" pitchFamily="18" charset="0"/>
            </a:endParaRPr>
          </a:p>
          <a:p>
            <a:pPr marL="114300" indent="0">
              <a:lnSpc>
                <a:spcPct val="120000"/>
              </a:lnSpc>
              <a:buNone/>
            </a:pPr>
            <a:r>
              <a:rPr lang="en-IN" sz="5500" b="1" dirty="0">
                <a:latin typeface="Times New Roman" panose="02020603050405020304" pitchFamily="18" charset="0"/>
                <a:cs typeface="Times New Roman" panose="02020603050405020304" pitchFamily="18" charset="0"/>
              </a:rPr>
              <a:t>[6]   Buffalo Identification using CNN Models (</a:t>
            </a:r>
            <a:r>
              <a:rPr lang="en-IN" sz="5500" b="1" dirty="0" err="1">
                <a:latin typeface="Times New Roman" panose="02020603050405020304" pitchFamily="18" charset="0"/>
                <a:cs typeface="Times New Roman" panose="02020603050405020304" pitchFamily="18" charset="0"/>
              </a:rPr>
              <a:t>ResNet</a:t>
            </a:r>
            <a:r>
              <a:rPr lang="en-IN" sz="5500" b="1" dirty="0">
                <a:latin typeface="Times New Roman" panose="02020603050405020304" pitchFamily="18" charset="0"/>
                <a:cs typeface="Times New Roman" panose="02020603050405020304" pitchFamily="18" charset="0"/>
              </a:rPr>
              <a:t> &amp; </a:t>
            </a:r>
            <a:r>
              <a:rPr lang="en-IN" sz="5500" b="1" dirty="0" err="1">
                <a:latin typeface="Times New Roman" panose="02020603050405020304" pitchFamily="18" charset="0"/>
                <a:cs typeface="Times New Roman" panose="02020603050405020304" pitchFamily="18" charset="0"/>
              </a:rPr>
              <a:t>EfficientNet</a:t>
            </a:r>
            <a:r>
              <a:rPr lang="en-IN" sz="5500" b="1" dirty="0">
                <a:latin typeface="Times New Roman" panose="02020603050405020304" pitchFamily="18" charset="0"/>
                <a:cs typeface="Times New Roman" panose="02020603050405020304" pitchFamily="18" charset="0"/>
              </a:rPr>
              <a:t>) (2025)</a:t>
            </a:r>
            <a:br>
              <a:rPr lang="en-IN" sz="5500" dirty="0">
                <a:latin typeface="Times New Roman" panose="02020603050405020304" pitchFamily="18" charset="0"/>
                <a:cs typeface="Times New Roman" panose="02020603050405020304" pitchFamily="18" charset="0"/>
              </a:rPr>
            </a:br>
            <a:r>
              <a:rPr lang="en-IN" sz="5500" dirty="0">
                <a:latin typeface="Times New Roman" panose="02020603050405020304" pitchFamily="18" charset="0"/>
                <a:cs typeface="Times New Roman" panose="02020603050405020304" pitchFamily="18" charset="0"/>
              </a:rPr>
              <a:t> </a:t>
            </a:r>
            <a:r>
              <a:rPr lang="en-IN" sz="5500" dirty="0">
                <a:latin typeface="Times New Roman" panose="02020603050405020304" pitchFamily="18" charset="0"/>
                <a:cs typeface="Times New Roman" panose="02020603050405020304" pitchFamily="18" charset="0"/>
                <a:hlinkClick r:id="rId4"/>
              </a:rPr>
              <a:t>https://lifescienceglobal.com/pms/index.php/JBS/article/view/10227</a:t>
            </a:r>
            <a:r>
              <a:rPr lang="en-IN" sz="5500" dirty="0">
                <a:latin typeface="Times New Roman" panose="02020603050405020304" pitchFamily="18" charset="0"/>
                <a:cs typeface="Times New Roman" panose="02020603050405020304" pitchFamily="18" charset="0"/>
              </a:rPr>
              <a:t> </a:t>
            </a:r>
          </a:p>
          <a:p>
            <a:pPr marL="114300" indent="0">
              <a:lnSpc>
                <a:spcPct val="120000"/>
              </a:lnSpc>
              <a:buNone/>
            </a:pPr>
            <a:r>
              <a:rPr lang="en-IN" sz="5500" b="1" dirty="0">
                <a:latin typeface="Times New Roman" panose="02020603050405020304" pitchFamily="18" charset="0"/>
                <a:cs typeface="Times New Roman" panose="02020603050405020304" pitchFamily="18" charset="0"/>
              </a:rPr>
              <a:t>[7]    Cattle Identification using Multi-Feature Fusion and Deep Learning (2024)</a:t>
            </a:r>
            <a:br>
              <a:rPr lang="en-IN" sz="5500" dirty="0">
                <a:latin typeface="Times New Roman" panose="02020603050405020304" pitchFamily="18" charset="0"/>
                <a:cs typeface="Times New Roman" panose="02020603050405020304" pitchFamily="18" charset="0"/>
              </a:rPr>
            </a:br>
            <a:r>
              <a:rPr lang="en-IN" sz="5500" dirty="0">
                <a:latin typeface="Times New Roman" panose="02020603050405020304" pitchFamily="18" charset="0"/>
                <a:cs typeface="Times New Roman" panose="02020603050405020304" pitchFamily="18" charset="0"/>
              </a:rPr>
              <a:t> </a:t>
            </a:r>
            <a:r>
              <a:rPr lang="en-IN" sz="5500" dirty="0">
                <a:latin typeface="Times New Roman" panose="02020603050405020304" pitchFamily="18" charset="0"/>
                <a:cs typeface="Times New Roman" panose="02020603050405020304" pitchFamily="18" charset="0"/>
                <a:hlinkClick r:id="rId5"/>
              </a:rPr>
              <a:t>https://www.nature.com/articles/s41598-024-76718-x</a:t>
            </a:r>
            <a:r>
              <a:rPr lang="en-IN" sz="5500" dirty="0">
                <a:latin typeface="Times New Roman" panose="02020603050405020304" pitchFamily="18" charset="0"/>
                <a:cs typeface="Times New Roman" panose="02020603050405020304" pitchFamily="18" charset="0"/>
              </a:rPr>
              <a:t> </a:t>
            </a:r>
          </a:p>
          <a:p>
            <a:pPr marL="114300" indent="0">
              <a:lnSpc>
                <a:spcPct val="120000"/>
              </a:lnSpc>
              <a:buNone/>
            </a:pPr>
            <a:r>
              <a:rPr lang="en-IN" sz="5500" b="1" dirty="0">
                <a:latin typeface="Times New Roman" panose="02020603050405020304" pitchFamily="18" charset="0"/>
                <a:cs typeface="Times New Roman" panose="02020603050405020304" pitchFamily="18" charset="0"/>
              </a:rPr>
              <a:t>[8]    AI-Based Real-Time Cattle Identification using YOLOv8 (2024)</a:t>
            </a:r>
            <a:br>
              <a:rPr lang="en-IN" sz="5500" dirty="0">
                <a:latin typeface="Times New Roman" panose="02020603050405020304" pitchFamily="18" charset="0"/>
                <a:cs typeface="Times New Roman" panose="02020603050405020304" pitchFamily="18" charset="0"/>
              </a:rPr>
            </a:br>
            <a:r>
              <a:rPr lang="en-IN" sz="5500" dirty="0">
                <a:latin typeface="Times New Roman" panose="02020603050405020304" pitchFamily="18" charset="0"/>
                <a:cs typeface="Times New Roman" panose="02020603050405020304" pitchFamily="18" charset="0"/>
              </a:rPr>
              <a:t> </a:t>
            </a:r>
            <a:r>
              <a:rPr lang="en-IN" sz="5500" dirty="0">
                <a:latin typeface="Times New Roman" panose="02020603050405020304" pitchFamily="18" charset="0"/>
                <a:cs typeface="Times New Roman" panose="02020603050405020304" pitchFamily="18" charset="0"/>
                <a:hlinkClick r:id="rId6"/>
              </a:rPr>
              <a:t>https://pmc.ncbi.nlm.nih.gov/articles/PMC11294341/</a:t>
            </a:r>
            <a:r>
              <a:rPr lang="en-IN" sz="5500" dirty="0">
                <a:latin typeface="Times New Roman" panose="02020603050405020304" pitchFamily="18" charset="0"/>
                <a:cs typeface="Times New Roman" panose="02020603050405020304" pitchFamily="18" charset="0"/>
              </a:rPr>
              <a:t> </a:t>
            </a:r>
          </a:p>
          <a:p>
            <a:endParaRPr lang="en-US" sz="2200" dirty="0">
              <a:latin typeface="Times New Roman" panose="02020603050405020304" pitchFamily="18" charset="0"/>
              <a:cs typeface="Times New Roman" panose="02020603050405020304" pitchFamily="18" charset="0"/>
            </a:endParaRPr>
          </a:p>
        </p:txBody>
      </p:sp>
      <p:sp>
        <p:nvSpPr>
          <p:cNvPr id="146" name="Google Shape;146;p21">
            <a:extLst>
              <a:ext uri="{FF2B5EF4-FFF2-40B4-BE49-F238E27FC236}">
                <a16:creationId xmlns:a16="http://schemas.microsoft.com/office/drawing/2014/main" id="{7BADFBDD-DFC6-21E2-1A58-9B03A0D6E587}"/>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6839742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25B1CF5A-4AFF-4AB3-562E-BEF0F60CF1B4}"/>
            </a:ext>
          </a:extLst>
        </p:cNvPr>
        <p:cNvGrpSpPr/>
        <p:nvPr/>
      </p:nvGrpSpPr>
      <p:grpSpPr>
        <a:xfrm>
          <a:off x="0" y="0"/>
          <a:ext cx="0" cy="0"/>
          <a:chOff x="0" y="0"/>
          <a:chExt cx="0" cy="0"/>
        </a:xfrm>
      </p:grpSpPr>
      <p:sp>
        <p:nvSpPr>
          <p:cNvPr id="144" name="Google Shape;144;p21">
            <a:extLst>
              <a:ext uri="{FF2B5EF4-FFF2-40B4-BE49-F238E27FC236}">
                <a16:creationId xmlns:a16="http://schemas.microsoft.com/office/drawing/2014/main" id="{430080F4-65A5-84A7-5464-1FA6C5561084}"/>
              </a:ext>
            </a:extLst>
          </p:cNvPr>
          <p:cNvSpPr txBox="1">
            <a:spLocks noGrp="1"/>
          </p:cNvSpPr>
          <p:nvPr>
            <p:ph type="title"/>
          </p:nvPr>
        </p:nvSpPr>
        <p:spPr>
          <a:xfrm>
            <a:off x="838200" y="136525"/>
            <a:ext cx="10515600" cy="819241"/>
          </a:xfrm>
          <a:prstGeom prst="rect">
            <a:avLst/>
          </a:prstGeom>
          <a:noFill/>
          <a:ln>
            <a:noFill/>
          </a:ln>
        </p:spPr>
        <p:txBody>
          <a:bodyPr spcFirstLastPara="1" wrap="square" lIns="91425" tIns="45700" rIns="91425" bIns="45700" anchor="ctr" anchorCtr="0">
            <a:normAutofit/>
          </a:bodyPr>
          <a:lstStyle/>
          <a:p>
            <a:pPr lvl="0" algn="just">
              <a:lnSpc>
                <a:spcPct val="100000"/>
              </a:lnSpc>
              <a:buClr>
                <a:srgbClr val="2F5496"/>
              </a:buClr>
              <a:buSzPct val="57370"/>
            </a:pPr>
            <a:r>
              <a:rPr lang="en-US" sz="3200" b="1" dirty="0">
                <a:solidFill>
                  <a:schemeClr val="accent1"/>
                </a:solidFill>
                <a:latin typeface="Times New Roman" panose="02020603050405020304" pitchFamily="18" charset="0"/>
                <a:cs typeface="Times New Roman" panose="02020603050405020304" pitchFamily="18" charset="0"/>
              </a:rPr>
              <a:t>R</a:t>
            </a:r>
            <a:r>
              <a:rPr lang="en-US" sz="3200" dirty="0">
                <a:solidFill>
                  <a:schemeClr val="accent1"/>
                </a:solidFill>
                <a:latin typeface="Times New Roman" panose="02020603050405020304" pitchFamily="18" charset="0"/>
                <a:cs typeface="Times New Roman" panose="02020603050405020304" pitchFamily="18" charset="0"/>
              </a:rPr>
              <a:t>eferences:</a:t>
            </a:r>
            <a:endParaRPr sz="3200" dirty="0"/>
          </a:p>
        </p:txBody>
      </p:sp>
      <p:sp>
        <p:nvSpPr>
          <p:cNvPr id="145" name="Google Shape;145;p21">
            <a:extLst>
              <a:ext uri="{FF2B5EF4-FFF2-40B4-BE49-F238E27FC236}">
                <a16:creationId xmlns:a16="http://schemas.microsoft.com/office/drawing/2014/main" id="{E8E341C1-8014-3726-0225-4C4F9BFBA09E}"/>
              </a:ext>
            </a:extLst>
          </p:cNvPr>
          <p:cNvSpPr txBox="1">
            <a:spLocks noGrp="1"/>
          </p:cNvSpPr>
          <p:nvPr>
            <p:ph type="body" idx="1"/>
          </p:nvPr>
        </p:nvSpPr>
        <p:spPr>
          <a:xfrm>
            <a:off x="838200" y="955766"/>
            <a:ext cx="10515600" cy="4521300"/>
          </a:xfrm>
          <a:prstGeom prst="rect">
            <a:avLst/>
          </a:prstGeom>
          <a:noFill/>
          <a:ln>
            <a:noFill/>
          </a:ln>
        </p:spPr>
        <p:txBody>
          <a:bodyPr spcFirstLastPara="1" wrap="square" lIns="91425" tIns="45700" rIns="91425" bIns="45700" anchor="t" anchorCtr="0">
            <a:normAutofit fontScale="40000" lnSpcReduction="20000"/>
          </a:bodyPr>
          <a:lstStyle/>
          <a:p>
            <a:pPr marL="114300" indent="0">
              <a:lnSpc>
                <a:spcPct val="120000"/>
              </a:lnSpc>
              <a:buNone/>
            </a:pPr>
            <a:r>
              <a:rPr lang="en-IN" sz="5500" b="1" dirty="0">
                <a:latin typeface="Times New Roman" panose="02020603050405020304" pitchFamily="18" charset="0"/>
                <a:cs typeface="Times New Roman" panose="02020603050405020304" pitchFamily="18" charset="0"/>
              </a:rPr>
              <a:t>[5]   Deep Learning-Based Buffalo Identification using Muzzle Patterns (2025)</a:t>
            </a:r>
            <a:br>
              <a:rPr lang="en-IN" sz="5500" dirty="0">
                <a:latin typeface="Times New Roman" panose="02020603050405020304" pitchFamily="18" charset="0"/>
                <a:cs typeface="Times New Roman" panose="02020603050405020304" pitchFamily="18" charset="0"/>
              </a:rPr>
            </a:br>
            <a:r>
              <a:rPr lang="en-IN" sz="5500" dirty="0">
                <a:latin typeface="Times New Roman" panose="02020603050405020304" pitchFamily="18" charset="0"/>
                <a:cs typeface="Times New Roman" panose="02020603050405020304" pitchFamily="18" charset="0"/>
                <a:hlinkClick r:id="rId3"/>
              </a:rPr>
              <a:t>https://aab.copernicus.org/articles/68/473/2025/</a:t>
            </a:r>
            <a:r>
              <a:rPr lang="en-IN" sz="5500" dirty="0">
                <a:latin typeface="Times New Roman" panose="02020603050405020304" pitchFamily="18" charset="0"/>
                <a:cs typeface="Times New Roman" panose="02020603050405020304" pitchFamily="18" charset="0"/>
              </a:rPr>
              <a:t> </a:t>
            </a:r>
            <a:endParaRPr lang="en-IN" sz="5500" b="1" dirty="0">
              <a:latin typeface="Times New Roman" panose="02020603050405020304" pitchFamily="18" charset="0"/>
              <a:cs typeface="Times New Roman" panose="02020603050405020304" pitchFamily="18" charset="0"/>
            </a:endParaRPr>
          </a:p>
          <a:p>
            <a:pPr marL="114300" indent="0">
              <a:lnSpc>
                <a:spcPct val="120000"/>
              </a:lnSpc>
              <a:buNone/>
            </a:pPr>
            <a:r>
              <a:rPr lang="en-IN" sz="5500" b="1" dirty="0">
                <a:latin typeface="Times New Roman" panose="02020603050405020304" pitchFamily="18" charset="0"/>
                <a:cs typeface="Times New Roman" panose="02020603050405020304" pitchFamily="18" charset="0"/>
              </a:rPr>
              <a:t>[6]   Buffalo Identification using CNN Models (</a:t>
            </a:r>
            <a:r>
              <a:rPr lang="en-IN" sz="5500" b="1" dirty="0" err="1">
                <a:latin typeface="Times New Roman" panose="02020603050405020304" pitchFamily="18" charset="0"/>
                <a:cs typeface="Times New Roman" panose="02020603050405020304" pitchFamily="18" charset="0"/>
              </a:rPr>
              <a:t>ResNet</a:t>
            </a:r>
            <a:r>
              <a:rPr lang="en-IN" sz="5500" b="1" dirty="0">
                <a:latin typeface="Times New Roman" panose="02020603050405020304" pitchFamily="18" charset="0"/>
                <a:cs typeface="Times New Roman" panose="02020603050405020304" pitchFamily="18" charset="0"/>
              </a:rPr>
              <a:t> &amp; </a:t>
            </a:r>
            <a:r>
              <a:rPr lang="en-IN" sz="5500" b="1" dirty="0" err="1">
                <a:latin typeface="Times New Roman" panose="02020603050405020304" pitchFamily="18" charset="0"/>
                <a:cs typeface="Times New Roman" panose="02020603050405020304" pitchFamily="18" charset="0"/>
              </a:rPr>
              <a:t>EfficientNet</a:t>
            </a:r>
            <a:r>
              <a:rPr lang="en-IN" sz="5500" b="1" dirty="0">
                <a:latin typeface="Times New Roman" panose="02020603050405020304" pitchFamily="18" charset="0"/>
                <a:cs typeface="Times New Roman" panose="02020603050405020304" pitchFamily="18" charset="0"/>
              </a:rPr>
              <a:t>) (2025)</a:t>
            </a:r>
            <a:br>
              <a:rPr lang="en-IN" sz="5500" dirty="0">
                <a:latin typeface="Times New Roman" panose="02020603050405020304" pitchFamily="18" charset="0"/>
                <a:cs typeface="Times New Roman" panose="02020603050405020304" pitchFamily="18" charset="0"/>
              </a:rPr>
            </a:br>
            <a:r>
              <a:rPr lang="en-IN" sz="5500" dirty="0">
                <a:latin typeface="Times New Roman" panose="02020603050405020304" pitchFamily="18" charset="0"/>
                <a:cs typeface="Times New Roman" panose="02020603050405020304" pitchFamily="18" charset="0"/>
              </a:rPr>
              <a:t> </a:t>
            </a:r>
            <a:r>
              <a:rPr lang="en-IN" sz="5500" dirty="0">
                <a:latin typeface="Times New Roman" panose="02020603050405020304" pitchFamily="18" charset="0"/>
                <a:cs typeface="Times New Roman" panose="02020603050405020304" pitchFamily="18" charset="0"/>
                <a:hlinkClick r:id="rId4"/>
              </a:rPr>
              <a:t>https://lifescienceglobal.com/pms/index.php/JBS/article/view/10227</a:t>
            </a:r>
            <a:r>
              <a:rPr lang="en-IN" sz="5500" dirty="0">
                <a:latin typeface="Times New Roman" panose="02020603050405020304" pitchFamily="18" charset="0"/>
                <a:cs typeface="Times New Roman" panose="02020603050405020304" pitchFamily="18" charset="0"/>
              </a:rPr>
              <a:t> </a:t>
            </a:r>
          </a:p>
          <a:p>
            <a:pPr marL="114300" indent="0">
              <a:lnSpc>
                <a:spcPct val="120000"/>
              </a:lnSpc>
              <a:buNone/>
            </a:pPr>
            <a:r>
              <a:rPr lang="en-IN" sz="5500" b="1" dirty="0">
                <a:latin typeface="Times New Roman" panose="02020603050405020304" pitchFamily="18" charset="0"/>
                <a:cs typeface="Times New Roman" panose="02020603050405020304" pitchFamily="18" charset="0"/>
              </a:rPr>
              <a:t>[7]    Cattle Identification using Multi-Feature Fusion and Deep Learning (2024)</a:t>
            </a:r>
            <a:br>
              <a:rPr lang="en-IN" sz="5500" dirty="0">
                <a:latin typeface="Times New Roman" panose="02020603050405020304" pitchFamily="18" charset="0"/>
                <a:cs typeface="Times New Roman" panose="02020603050405020304" pitchFamily="18" charset="0"/>
              </a:rPr>
            </a:br>
            <a:r>
              <a:rPr lang="en-IN" sz="5500" dirty="0">
                <a:latin typeface="Times New Roman" panose="02020603050405020304" pitchFamily="18" charset="0"/>
                <a:cs typeface="Times New Roman" panose="02020603050405020304" pitchFamily="18" charset="0"/>
              </a:rPr>
              <a:t> </a:t>
            </a:r>
            <a:r>
              <a:rPr lang="en-IN" sz="5500" dirty="0">
                <a:latin typeface="Times New Roman" panose="02020603050405020304" pitchFamily="18" charset="0"/>
                <a:cs typeface="Times New Roman" panose="02020603050405020304" pitchFamily="18" charset="0"/>
                <a:hlinkClick r:id="rId5"/>
              </a:rPr>
              <a:t>https://www.nature.com/articles/s41598-024-76718-x</a:t>
            </a:r>
            <a:r>
              <a:rPr lang="en-IN" sz="5500" dirty="0">
                <a:latin typeface="Times New Roman" panose="02020603050405020304" pitchFamily="18" charset="0"/>
                <a:cs typeface="Times New Roman" panose="02020603050405020304" pitchFamily="18" charset="0"/>
              </a:rPr>
              <a:t> </a:t>
            </a:r>
          </a:p>
          <a:p>
            <a:pPr marL="114300" indent="0">
              <a:lnSpc>
                <a:spcPct val="120000"/>
              </a:lnSpc>
              <a:buNone/>
            </a:pPr>
            <a:r>
              <a:rPr lang="en-IN" sz="5500" b="1" dirty="0">
                <a:latin typeface="Times New Roman" panose="02020603050405020304" pitchFamily="18" charset="0"/>
                <a:cs typeface="Times New Roman" panose="02020603050405020304" pitchFamily="18" charset="0"/>
              </a:rPr>
              <a:t>[8]    Universal Bovine Identification via Deep Metric Learning” (2024)</a:t>
            </a:r>
            <a:br>
              <a:rPr lang="en-IN" sz="5500" dirty="0">
                <a:latin typeface="Times New Roman" panose="02020603050405020304" pitchFamily="18" charset="0"/>
                <a:cs typeface="Times New Roman" panose="02020603050405020304" pitchFamily="18" charset="0"/>
              </a:rPr>
            </a:br>
            <a:r>
              <a:rPr lang="en-IN" sz="5500" dirty="0">
                <a:latin typeface="Times New Roman" panose="02020603050405020304" pitchFamily="18" charset="0"/>
                <a:cs typeface="Times New Roman" panose="02020603050405020304" pitchFamily="18" charset="0"/>
              </a:rPr>
              <a:t> </a:t>
            </a:r>
            <a:r>
              <a:rPr lang="en-IN" sz="5500" dirty="0">
                <a:latin typeface="Times New Roman" panose="02020603050405020304" pitchFamily="18" charset="0"/>
                <a:cs typeface="Times New Roman" panose="02020603050405020304" pitchFamily="18" charset="0"/>
                <a:hlinkClick r:id="rId6"/>
              </a:rPr>
              <a:t>https://arxiv.org/abs/2404.00172</a:t>
            </a:r>
            <a:r>
              <a:rPr lang="en-IN" sz="5500" dirty="0">
                <a:latin typeface="Times New Roman" panose="02020603050405020304" pitchFamily="18" charset="0"/>
                <a:cs typeface="Times New Roman" panose="02020603050405020304" pitchFamily="18" charset="0"/>
              </a:rPr>
              <a:t> </a:t>
            </a:r>
          </a:p>
          <a:p>
            <a:pPr marL="114300" indent="0">
              <a:lnSpc>
                <a:spcPct val="120000"/>
              </a:lnSpc>
              <a:buNone/>
            </a:pPr>
            <a:r>
              <a:rPr lang="en-IN" sz="5500" b="1" dirty="0">
                <a:latin typeface="Times New Roman" panose="02020603050405020304" pitchFamily="18" charset="0"/>
                <a:cs typeface="Times New Roman" panose="02020603050405020304" pitchFamily="18" charset="0"/>
              </a:rPr>
              <a:t>[9]   MultiCamCows2024 Dataset for AI-Based Cattle Identification” (2024)</a:t>
            </a:r>
            <a:br>
              <a:rPr lang="en-IN" sz="5500" dirty="0">
                <a:latin typeface="Times New Roman" panose="02020603050405020304" pitchFamily="18" charset="0"/>
                <a:cs typeface="Times New Roman" panose="02020603050405020304" pitchFamily="18" charset="0"/>
              </a:rPr>
            </a:br>
            <a:r>
              <a:rPr lang="en-IN" sz="5500" dirty="0">
                <a:latin typeface="Times New Roman" panose="02020603050405020304" pitchFamily="18" charset="0"/>
                <a:cs typeface="Times New Roman" panose="02020603050405020304" pitchFamily="18" charset="0"/>
              </a:rPr>
              <a:t> </a:t>
            </a:r>
            <a:r>
              <a:rPr lang="en-IN" sz="5500" dirty="0">
                <a:latin typeface="Times New Roman" panose="02020603050405020304" pitchFamily="18" charset="0"/>
                <a:cs typeface="Times New Roman" panose="02020603050405020304" pitchFamily="18" charset="0"/>
                <a:hlinkClick r:id="rId7"/>
              </a:rPr>
              <a:t>https://arxiv.org/abs/2410.12695</a:t>
            </a:r>
            <a:r>
              <a:rPr lang="en-IN" sz="5500" dirty="0">
                <a:latin typeface="Times New Roman" panose="02020603050405020304" pitchFamily="18" charset="0"/>
                <a:cs typeface="Times New Roman" panose="02020603050405020304" pitchFamily="18" charset="0"/>
              </a:rPr>
              <a:t> </a:t>
            </a:r>
          </a:p>
          <a:p>
            <a:endParaRPr lang="en-US" sz="2200" dirty="0">
              <a:latin typeface="Times New Roman" panose="02020603050405020304" pitchFamily="18" charset="0"/>
              <a:cs typeface="Times New Roman" panose="02020603050405020304" pitchFamily="18" charset="0"/>
            </a:endParaRPr>
          </a:p>
        </p:txBody>
      </p:sp>
      <p:sp>
        <p:nvSpPr>
          <p:cNvPr id="146" name="Google Shape;146;p21">
            <a:extLst>
              <a:ext uri="{FF2B5EF4-FFF2-40B4-BE49-F238E27FC236}">
                <a16:creationId xmlns:a16="http://schemas.microsoft.com/office/drawing/2014/main" id="{89B90334-A16E-A639-6EA2-EB08389A0285}"/>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1267441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2"/>
          <p:cNvSpPr txBox="1">
            <a:spLocks noGrp="1"/>
          </p:cNvSpPr>
          <p:nvPr>
            <p:ph type="title"/>
          </p:nvPr>
        </p:nvSpPr>
        <p:spPr>
          <a:xfrm>
            <a:off x="838200" y="365125"/>
            <a:ext cx="10515600" cy="819241"/>
          </a:xfrm>
          <a:prstGeom prst="rect">
            <a:avLst/>
          </a:prstGeom>
          <a:noFill/>
          <a:ln>
            <a:noFill/>
          </a:ln>
        </p:spPr>
        <p:txBody>
          <a:bodyPr spcFirstLastPara="1" wrap="square" lIns="91425" tIns="45700" rIns="91425" bIns="45700" anchor="ctr" anchorCtr="0">
            <a:normAutofit/>
          </a:bodyPr>
          <a:lstStyle/>
          <a:p>
            <a:pPr lvl="0" algn="just">
              <a:lnSpc>
                <a:spcPct val="100000"/>
              </a:lnSpc>
              <a:buClr>
                <a:srgbClr val="2F5496"/>
              </a:buClr>
              <a:buSzPct val="57370"/>
            </a:pPr>
            <a:r>
              <a:rPr lang="en-US" sz="3200" b="1" dirty="0">
                <a:solidFill>
                  <a:schemeClr val="accent1"/>
                </a:solidFill>
                <a:latin typeface="Times New Roman" panose="02020603050405020304" pitchFamily="18" charset="0"/>
                <a:cs typeface="Times New Roman" panose="02020603050405020304" pitchFamily="18" charset="0"/>
              </a:rPr>
              <a:t>O</a:t>
            </a:r>
            <a:r>
              <a:rPr lang="en-US" sz="3200" dirty="0">
                <a:solidFill>
                  <a:schemeClr val="accent1"/>
                </a:solidFill>
                <a:latin typeface="Times New Roman" panose="02020603050405020304" pitchFamily="18" charset="0"/>
                <a:cs typeface="Times New Roman" panose="02020603050405020304" pitchFamily="18" charset="0"/>
              </a:rPr>
              <a:t>utcome &amp; </a:t>
            </a:r>
            <a:r>
              <a:rPr lang="en-US" sz="3200" b="1" dirty="0">
                <a:solidFill>
                  <a:schemeClr val="accent1"/>
                </a:solidFill>
                <a:latin typeface="Times New Roman" panose="02020603050405020304" pitchFamily="18" charset="0"/>
                <a:cs typeface="Times New Roman" panose="02020603050405020304" pitchFamily="18" charset="0"/>
              </a:rPr>
              <a:t>C</a:t>
            </a:r>
            <a:r>
              <a:rPr lang="en-US" sz="3200" dirty="0">
                <a:solidFill>
                  <a:schemeClr val="accent1"/>
                </a:solidFill>
                <a:latin typeface="Times New Roman" panose="02020603050405020304" pitchFamily="18" charset="0"/>
                <a:cs typeface="Times New Roman" panose="02020603050405020304" pitchFamily="18" charset="0"/>
              </a:rPr>
              <a:t>onclusion:</a:t>
            </a:r>
            <a:endParaRPr sz="3200" dirty="0">
              <a:solidFill>
                <a:schemeClr val="accent1"/>
              </a:solidFill>
              <a:latin typeface="Times New Roman" panose="02020603050405020304" pitchFamily="18" charset="0"/>
              <a:cs typeface="Times New Roman" panose="02020603050405020304" pitchFamily="18" charset="0"/>
            </a:endParaRPr>
          </a:p>
        </p:txBody>
      </p:sp>
      <p:sp>
        <p:nvSpPr>
          <p:cNvPr id="152" name="Google Shape;152;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sp>
        <p:nvSpPr>
          <p:cNvPr id="153" name="Google Shape;153;p22"/>
          <p:cNvSpPr txBox="1">
            <a:spLocks noGrp="1"/>
          </p:cNvSpPr>
          <p:nvPr>
            <p:ph type="body" idx="1"/>
          </p:nvPr>
        </p:nvSpPr>
        <p:spPr>
          <a:xfrm>
            <a:off x="838200" y="1387847"/>
            <a:ext cx="10667400" cy="3555805"/>
          </a:xfrm>
          <a:prstGeom prst="rect">
            <a:avLst/>
          </a:prstGeom>
          <a:noFill/>
          <a:ln>
            <a:noFill/>
          </a:ln>
        </p:spPr>
        <p:txBody>
          <a:bodyPr spcFirstLastPara="1" wrap="square" lIns="91425" tIns="45700" rIns="91425" bIns="45700" anchor="ctr" anchorCtr="0">
            <a:spAutoFit/>
          </a:bodyPr>
          <a:lstStyle/>
          <a:p>
            <a:pPr marL="76200" indent="0" algn="just">
              <a:buNone/>
            </a:pPr>
            <a:r>
              <a:rPr lang="en-US" sz="2200" b="1" dirty="0">
                <a:latin typeface="Times New Roman" panose="02020603050405020304" pitchFamily="18" charset="0"/>
                <a:cs typeface="Times New Roman" panose="02020603050405020304" pitchFamily="18" charset="0"/>
              </a:rPr>
              <a:t>Outcome</a:t>
            </a:r>
          </a:p>
          <a:p>
            <a:pPr marL="571500" indent="-457200" algn="just">
              <a:buFont typeface="+mj-lt"/>
              <a:buAutoNum type="arabicPeriod"/>
            </a:pPr>
            <a:r>
              <a:rPr lang="en-US" sz="2200" dirty="0">
                <a:latin typeface="Times New Roman" panose="02020603050405020304" pitchFamily="18" charset="0"/>
                <a:cs typeface="Times New Roman" panose="02020603050405020304" pitchFamily="18" charset="0"/>
              </a:rPr>
              <a:t>Comprehensive literature survey completed and research gaps clearly identified.</a:t>
            </a:r>
          </a:p>
          <a:p>
            <a:pPr marL="571500" indent="-457200" algn="just">
              <a:buFont typeface="+mj-lt"/>
              <a:buAutoNum type="arabicPeriod"/>
            </a:pPr>
            <a:r>
              <a:rPr lang="en-US" sz="2200" dirty="0">
                <a:latin typeface="Times New Roman" panose="02020603050405020304" pitchFamily="18" charset="0"/>
                <a:cs typeface="Times New Roman" panose="02020603050405020304" pitchFamily="18" charset="0"/>
              </a:rPr>
              <a:t>Limitations of existing livestock identification systems analyzed.</a:t>
            </a:r>
          </a:p>
          <a:p>
            <a:pPr marL="571500" indent="-457200" algn="just">
              <a:buFont typeface="+mj-lt"/>
              <a:buAutoNum type="arabicPeriod"/>
            </a:pPr>
            <a:r>
              <a:rPr lang="en-US" sz="2200" dirty="0">
                <a:latin typeface="Times New Roman" panose="02020603050405020304" pitchFamily="18" charset="0"/>
                <a:cs typeface="Times New Roman" panose="02020603050405020304" pitchFamily="18" charset="0"/>
              </a:rPr>
              <a:t>Proposed system architecture finalized based on identified gaps.</a:t>
            </a:r>
          </a:p>
          <a:p>
            <a:pPr marL="571500" indent="-457200" algn="just">
              <a:buFont typeface="+mj-lt"/>
              <a:buAutoNum type="arabicPeriod"/>
            </a:pPr>
            <a:r>
              <a:rPr lang="en-US" sz="2200" dirty="0">
                <a:latin typeface="Times New Roman" panose="02020603050405020304" pitchFamily="18" charset="0"/>
                <a:cs typeface="Times New Roman" panose="02020603050405020304" pitchFamily="18" charset="0"/>
              </a:rPr>
              <a:t>CNN-based AI model design validated for classification and feature extraction.</a:t>
            </a:r>
          </a:p>
          <a:p>
            <a:pPr marL="571500" indent="-457200" algn="just">
              <a:buFont typeface="+mj-lt"/>
              <a:buAutoNum type="arabicPeriod"/>
            </a:pPr>
            <a:r>
              <a:rPr lang="en-US" sz="2200" dirty="0">
                <a:latin typeface="Times New Roman" panose="02020603050405020304" pitchFamily="18" charset="0"/>
                <a:cs typeface="Times New Roman" panose="02020603050405020304" pitchFamily="18" charset="0"/>
              </a:rPr>
              <a:t>Health risk analysis and duplicate detection concepts finalized.</a:t>
            </a:r>
          </a:p>
          <a:p>
            <a:pPr marL="571500" indent="-457200" algn="just">
              <a:buFont typeface="+mj-lt"/>
              <a:buAutoNum type="arabicPeriod"/>
            </a:pPr>
            <a:r>
              <a:rPr lang="en-US" sz="2200" dirty="0">
                <a:latin typeface="Times New Roman" panose="02020603050405020304" pitchFamily="18" charset="0"/>
                <a:cs typeface="Times New Roman" panose="02020603050405020304" pitchFamily="18" charset="0"/>
              </a:rPr>
              <a:t>Explainable AI approach selected to improve transparency and trust.</a:t>
            </a:r>
          </a:p>
          <a:p>
            <a:pPr marL="571500" indent="-457200" algn="just">
              <a:buFont typeface="+mj-lt"/>
              <a:buAutoNum type="arabicPeriod"/>
            </a:pPr>
            <a:r>
              <a:rPr lang="en-US" sz="2200" dirty="0">
                <a:latin typeface="Times New Roman" panose="02020603050405020304" pitchFamily="18" charset="0"/>
                <a:cs typeface="Times New Roman" panose="02020603050405020304" pitchFamily="18" charset="0"/>
              </a:rPr>
              <a:t>Tools and technologies finalized for implementation phase.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3"/>
          <p:cNvSpPr txBox="1">
            <a:spLocks noGrp="1"/>
          </p:cNvSpPr>
          <p:nvPr>
            <p:ph type="title"/>
          </p:nvPr>
        </p:nvSpPr>
        <p:spPr>
          <a:xfrm>
            <a:off x="744682" y="365126"/>
            <a:ext cx="10515600" cy="819241"/>
          </a:xfrm>
          <a:prstGeom prst="rect">
            <a:avLst/>
          </a:prstGeom>
          <a:noFill/>
          <a:ln>
            <a:noFill/>
          </a:ln>
        </p:spPr>
        <p:txBody>
          <a:bodyPr spcFirstLastPara="1" wrap="square" lIns="91425" tIns="45700" rIns="91425" bIns="45700" anchor="ctr" anchorCtr="0">
            <a:normAutofit/>
          </a:bodyPr>
          <a:lstStyle/>
          <a:p>
            <a:pPr marL="152400" lvl="0" algn="just">
              <a:lnSpc>
                <a:spcPct val="100000"/>
              </a:lnSpc>
              <a:buClr>
                <a:srgbClr val="2F5496"/>
              </a:buClr>
              <a:buSzPct val="57370"/>
            </a:pPr>
            <a:r>
              <a:rPr lang="en-US" sz="3200" b="1" dirty="0">
                <a:solidFill>
                  <a:schemeClr val="accent1"/>
                </a:solidFill>
                <a:latin typeface="Times New Roman" panose="02020603050405020304" pitchFamily="18" charset="0"/>
                <a:cs typeface="Times New Roman" panose="02020603050405020304" pitchFamily="18" charset="0"/>
              </a:rPr>
              <a:t>O</a:t>
            </a:r>
            <a:r>
              <a:rPr lang="en-US" sz="3200" dirty="0">
                <a:solidFill>
                  <a:schemeClr val="accent1"/>
                </a:solidFill>
                <a:latin typeface="Times New Roman" panose="02020603050405020304" pitchFamily="18" charset="0"/>
                <a:cs typeface="Times New Roman" panose="02020603050405020304" pitchFamily="18" charset="0"/>
              </a:rPr>
              <a:t>utcome &amp; </a:t>
            </a:r>
            <a:r>
              <a:rPr lang="en-US" sz="3200" b="1" dirty="0">
                <a:solidFill>
                  <a:schemeClr val="accent1"/>
                </a:solidFill>
                <a:latin typeface="Times New Roman" panose="02020603050405020304" pitchFamily="18" charset="0"/>
                <a:cs typeface="Times New Roman" panose="02020603050405020304" pitchFamily="18" charset="0"/>
              </a:rPr>
              <a:t>C</a:t>
            </a:r>
            <a:r>
              <a:rPr lang="en-US" sz="3200" dirty="0">
                <a:solidFill>
                  <a:schemeClr val="accent1"/>
                </a:solidFill>
                <a:latin typeface="Times New Roman" panose="02020603050405020304" pitchFamily="18" charset="0"/>
                <a:cs typeface="Times New Roman" panose="02020603050405020304" pitchFamily="18" charset="0"/>
              </a:rPr>
              <a:t>onclusion </a:t>
            </a:r>
            <a:r>
              <a:rPr lang="en-US" sz="4000" b="1" dirty="0">
                <a:solidFill>
                  <a:schemeClr val="accent1"/>
                </a:solidFill>
                <a:latin typeface="Times New Roman" panose="02020603050405020304" pitchFamily="18" charset="0"/>
                <a:cs typeface="Times New Roman" panose="02020603050405020304" pitchFamily="18" charset="0"/>
              </a:rPr>
              <a:t>C</a:t>
            </a:r>
            <a:r>
              <a:rPr lang="en-US" sz="3200" dirty="0">
                <a:solidFill>
                  <a:schemeClr val="accent1"/>
                </a:solidFill>
                <a:latin typeface="Times New Roman" panose="02020603050405020304" pitchFamily="18" charset="0"/>
                <a:cs typeface="Times New Roman" panose="02020603050405020304" pitchFamily="18" charset="0"/>
              </a:rPr>
              <a:t>ontinued:</a:t>
            </a:r>
            <a:endParaRPr sz="3200" dirty="0"/>
          </a:p>
        </p:txBody>
      </p:sp>
      <p:sp>
        <p:nvSpPr>
          <p:cNvPr id="159" name="Google Shape;159;p23"/>
          <p:cNvSpPr txBox="1">
            <a:spLocks noGrp="1"/>
          </p:cNvSpPr>
          <p:nvPr>
            <p:ph type="body" idx="1"/>
          </p:nvPr>
        </p:nvSpPr>
        <p:spPr>
          <a:xfrm>
            <a:off x="838200" y="1184367"/>
            <a:ext cx="10515600" cy="4058194"/>
          </a:xfrm>
          <a:prstGeom prst="rect">
            <a:avLst/>
          </a:prstGeom>
          <a:noFill/>
          <a:ln>
            <a:noFill/>
          </a:ln>
        </p:spPr>
        <p:txBody>
          <a:bodyPr spcFirstLastPara="1" wrap="square" lIns="91425" tIns="45700" rIns="91425" bIns="45700" anchor="t" anchorCtr="0">
            <a:normAutofit/>
          </a:bodyPr>
          <a:lstStyle/>
          <a:p>
            <a:pPr marL="76200" indent="0" algn="just">
              <a:buNone/>
            </a:pPr>
            <a:r>
              <a:rPr lang="en-US" sz="2200" b="1" dirty="0">
                <a:latin typeface="Times New Roman" panose="02020603050405020304" pitchFamily="18" charset="0"/>
                <a:cs typeface="Times New Roman" panose="02020603050405020304" pitchFamily="18" charset="0"/>
              </a:rPr>
              <a:t>Conclusion</a:t>
            </a:r>
          </a:p>
          <a:p>
            <a:pPr marL="76200" indent="0" algn="just">
              <a:buNone/>
            </a:pPr>
            <a:r>
              <a:rPr lang="en-US" sz="2200" dirty="0">
                <a:latin typeface="Times New Roman" panose="02020603050405020304" pitchFamily="18" charset="0"/>
                <a:cs typeface="Times New Roman" panose="02020603050405020304" pitchFamily="18" charset="0"/>
              </a:rPr>
              <a:t>The proposed AI-based smart livestock identification system provides a scalable, reliable, and explainable solution to real-world livestock management challenges. By integrating deep learning, image processing, database management, and explainable AI, the system overcomes the limitations of traditional and existing automated approaches. The finalized design is technically feasible, academically strong, and suitable for practical deployment, making it well-aligned with the objectives of the project and ready for implementation in the next phase.</a:t>
            </a:r>
          </a:p>
        </p:txBody>
      </p:sp>
      <p:sp>
        <p:nvSpPr>
          <p:cNvPr id="160" name="Google Shape;160;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6"/>
          <p:cNvSpPr txBox="1">
            <a:spLocks noGrp="1"/>
          </p:cNvSpPr>
          <p:nvPr>
            <p:ph type="title"/>
          </p:nvPr>
        </p:nvSpPr>
        <p:spPr>
          <a:xfrm>
            <a:off x="838200" y="365125"/>
            <a:ext cx="10515600" cy="596311"/>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70C0"/>
              </a:buClr>
              <a:buSzPct val="57256"/>
              <a:buFont typeface="Times New Roman"/>
              <a:buNone/>
            </a:pPr>
            <a:r>
              <a:rPr lang="en-US" sz="5588" b="1" dirty="0">
                <a:solidFill>
                  <a:srgbClr val="0070C0"/>
                </a:solidFill>
                <a:latin typeface="Times New Roman"/>
                <a:ea typeface="Times New Roman"/>
                <a:cs typeface="Times New Roman"/>
                <a:sym typeface="Times New Roman"/>
              </a:rPr>
              <a:t>R</a:t>
            </a:r>
            <a:r>
              <a:rPr lang="en-US" sz="3200" b="1" dirty="0">
                <a:solidFill>
                  <a:srgbClr val="0070C0"/>
                </a:solidFill>
                <a:latin typeface="Times New Roman"/>
                <a:ea typeface="Times New Roman"/>
                <a:cs typeface="Times New Roman"/>
                <a:sym typeface="Times New Roman"/>
              </a:rPr>
              <a:t>eview </a:t>
            </a:r>
            <a:r>
              <a:rPr lang="en-US" sz="5644" b="1" dirty="0">
                <a:solidFill>
                  <a:srgbClr val="0070C0"/>
                </a:solidFill>
                <a:latin typeface="Times New Roman"/>
                <a:ea typeface="Times New Roman"/>
                <a:cs typeface="Times New Roman"/>
                <a:sym typeface="Times New Roman"/>
              </a:rPr>
              <a:t>T</a:t>
            </a:r>
            <a:r>
              <a:rPr lang="en-US" sz="3200" b="1" dirty="0">
                <a:solidFill>
                  <a:srgbClr val="0070C0"/>
                </a:solidFill>
                <a:latin typeface="Times New Roman"/>
                <a:ea typeface="Times New Roman"/>
                <a:cs typeface="Times New Roman"/>
                <a:sym typeface="Times New Roman"/>
              </a:rPr>
              <a:t>imeline:</a:t>
            </a:r>
            <a:endParaRPr dirty="0"/>
          </a:p>
        </p:txBody>
      </p:sp>
      <p:sp>
        <p:nvSpPr>
          <p:cNvPr id="180" name="Google Shape;180;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grpSp>
        <p:nvGrpSpPr>
          <p:cNvPr id="181" name="Google Shape;181;p26"/>
          <p:cNvGrpSpPr/>
          <p:nvPr/>
        </p:nvGrpSpPr>
        <p:grpSpPr>
          <a:xfrm>
            <a:off x="838200" y="589936"/>
            <a:ext cx="9592561" cy="5194208"/>
            <a:chOff x="2063594" y="0"/>
            <a:chExt cx="6388455" cy="4058246"/>
          </a:xfrm>
        </p:grpSpPr>
        <p:sp>
          <p:nvSpPr>
            <p:cNvPr id="182" name="Google Shape;182;p26"/>
            <p:cNvSpPr/>
            <p:nvPr/>
          </p:nvSpPr>
          <p:spPr>
            <a:xfrm>
              <a:off x="7173684" y="811638"/>
              <a:ext cx="1278320" cy="3246556"/>
            </a:xfrm>
            <a:prstGeom prst="wedgeRectCallout">
              <a:avLst>
                <a:gd name="adj1" fmla="val 0"/>
                <a:gd name="adj2" fmla="val 0"/>
              </a:avLst>
            </a:prstGeom>
            <a:solidFill>
              <a:srgbClr val="BFC8E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6"/>
            <p:cNvSpPr txBox="1"/>
            <p:nvPr/>
          </p:nvSpPr>
          <p:spPr>
            <a:xfrm>
              <a:off x="7336049" y="811646"/>
              <a:ext cx="1116000" cy="3246600"/>
            </a:xfrm>
            <a:prstGeom prst="rect">
              <a:avLst/>
            </a:prstGeom>
            <a:noFill/>
            <a:ln>
              <a:noFill/>
            </a:ln>
          </p:spPr>
          <p:txBody>
            <a:bodyPr spcFirstLastPara="1" wrap="square" lIns="44450" tIns="44450" rIns="44450" bIns="44450" anchor="t" anchorCtr="0">
              <a:noAutofit/>
            </a:bodyPr>
            <a:lstStyle/>
            <a:p>
              <a:pPr lvl="0">
                <a:lnSpc>
                  <a:spcPct val="90000"/>
                </a:lnSpc>
                <a:buClr>
                  <a:schemeClr val="dk1"/>
                </a:buClr>
                <a:buSzPts val="1400"/>
              </a:pPr>
              <a:r>
                <a:rPr lang="en-US" sz="1600" dirty="0">
                  <a:latin typeface="Times New Roman" panose="02020603050405020304" pitchFamily="18" charset="0"/>
                  <a:cs typeface="Times New Roman" panose="02020603050405020304" pitchFamily="18" charset="0"/>
                </a:rPr>
                <a:t>Submission of final report, source code, and presentation, followed by system demonstration and viva voce evaluation by internal and external examiners.</a:t>
              </a:r>
              <a:endParaRPr sz="1600" dirty="0">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lnSpc>
                  <a:spcPct val="90000"/>
                </a:lnSpc>
                <a:spcBef>
                  <a:spcPts val="490"/>
                </a:spcBef>
                <a:spcAft>
                  <a:spcPts val="0"/>
                </a:spcAft>
                <a:buClr>
                  <a:schemeClr val="dk1"/>
                </a:buClr>
                <a:buSzPts val="1400"/>
                <a:buFont typeface="Calibri"/>
                <a:buNone/>
              </a:pPr>
              <a:endParaRPr sz="1600" dirty="0">
                <a:latin typeface="Times New Roman"/>
                <a:ea typeface="Times New Roman"/>
                <a:cs typeface="Times New Roman"/>
                <a:sym typeface="Times New Roman"/>
              </a:endParaRPr>
            </a:p>
            <a:p>
              <a:pPr marL="0" marR="0" lvl="0" indent="0" algn="just" rtl="0">
                <a:lnSpc>
                  <a:spcPct val="90000"/>
                </a:lnSpc>
                <a:spcBef>
                  <a:spcPts val="490"/>
                </a:spcBef>
                <a:spcAft>
                  <a:spcPts val="0"/>
                </a:spcAft>
                <a:buClr>
                  <a:schemeClr val="dk1"/>
                </a:buClr>
                <a:buSzPts val="1400"/>
                <a:buFont typeface="Calibri"/>
                <a:buNone/>
              </a:pPr>
              <a:endParaRPr sz="1600" dirty="0">
                <a:latin typeface="Times New Roman"/>
                <a:ea typeface="Times New Roman"/>
                <a:cs typeface="Times New Roman"/>
                <a:sym typeface="Times New Roman"/>
              </a:endParaRPr>
            </a:p>
            <a:p>
              <a:pPr marL="0" marR="0" lvl="0" indent="0" algn="just" rtl="0">
                <a:lnSpc>
                  <a:spcPct val="90000"/>
                </a:lnSpc>
                <a:spcBef>
                  <a:spcPts val="490"/>
                </a:spcBef>
                <a:spcAft>
                  <a:spcPts val="0"/>
                </a:spcAft>
                <a:buClr>
                  <a:schemeClr val="dk1"/>
                </a:buClr>
                <a:buSzPts val="1400"/>
                <a:buFont typeface="Calibri"/>
                <a:buNone/>
              </a:pPr>
              <a:endParaRPr sz="1600" dirty="0">
                <a:latin typeface="Times New Roman"/>
                <a:ea typeface="Times New Roman"/>
                <a:cs typeface="Times New Roman"/>
                <a:sym typeface="Times New Roman"/>
              </a:endParaRPr>
            </a:p>
            <a:p>
              <a:pPr marL="0" marR="0" lvl="0" indent="0" algn="just" rtl="0">
                <a:lnSpc>
                  <a:spcPct val="90000"/>
                </a:lnSpc>
                <a:spcBef>
                  <a:spcPts val="490"/>
                </a:spcBef>
                <a:spcAft>
                  <a:spcPts val="0"/>
                </a:spcAft>
                <a:buClr>
                  <a:schemeClr val="dk1"/>
                </a:buClr>
                <a:buSzPts val="1400"/>
                <a:buFont typeface="Calibri"/>
                <a:buNone/>
              </a:pPr>
              <a:endParaRPr sz="1600" dirty="0">
                <a:latin typeface="Times New Roman"/>
                <a:ea typeface="Times New Roman"/>
                <a:cs typeface="Times New Roman"/>
                <a:sym typeface="Times New Roman"/>
              </a:endParaRPr>
            </a:p>
            <a:p>
              <a:pPr marL="0" marR="0" lvl="0" indent="0" algn="just" rtl="0">
                <a:lnSpc>
                  <a:spcPct val="100000"/>
                </a:lnSpc>
                <a:spcBef>
                  <a:spcPts val="490"/>
                </a:spcBef>
                <a:spcAft>
                  <a:spcPts val="0"/>
                </a:spcAft>
                <a:buClr>
                  <a:schemeClr val="dk1"/>
                </a:buClr>
                <a:buSzPts val="1400"/>
                <a:buFont typeface="Calibri"/>
                <a:buNone/>
              </a:pPr>
              <a:r>
                <a:rPr lang="en-US" sz="1600" b="1" i="0" u="none" strike="noStrike" cap="none" dirty="0">
                  <a:solidFill>
                    <a:schemeClr val="dk1"/>
                  </a:solidFill>
                  <a:latin typeface="Times New Roman"/>
                  <a:ea typeface="Times New Roman"/>
                  <a:cs typeface="Times New Roman"/>
                  <a:sym typeface="Times New Roman"/>
                </a:rPr>
                <a:t>/04/26</a:t>
              </a:r>
              <a:endParaRPr sz="1600" b="1" dirty="0">
                <a:latin typeface="Times New Roman"/>
                <a:ea typeface="Times New Roman"/>
                <a:cs typeface="Times New Roman"/>
                <a:sym typeface="Times New Roman"/>
              </a:endParaRPr>
            </a:p>
            <a:p>
              <a:pPr marL="0" marR="0" lvl="0" indent="0" algn="l" rtl="0">
                <a:lnSpc>
                  <a:spcPct val="90000"/>
                </a:lnSpc>
                <a:spcBef>
                  <a:spcPts val="490"/>
                </a:spcBef>
                <a:spcAft>
                  <a:spcPts val="0"/>
                </a:spcAft>
                <a:buClr>
                  <a:schemeClr val="dk1"/>
                </a:buClr>
                <a:buSzPts val="1400"/>
                <a:buFont typeface="Calibri"/>
                <a:buNone/>
              </a:pPr>
              <a:endParaRPr sz="1400" b="0" i="0" u="none" strike="noStrike" cap="none" dirty="0">
                <a:solidFill>
                  <a:schemeClr val="dk1"/>
                </a:solidFill>
                <a:latin typeface="Calibri"/>
                <a:ea typeface="Calibri"/>
                <a:cs typeface="Calibri"/>
                <a:sym typeface="Calibri"/>
              </a:endParaRPr>
            </a:p>
          </p:txBody>
        </p:sp>
        <p:sp>
          <p:nvSpPr>
            <p:cNvPr id="184" name="Google Shape;184;p26"/>
            <p:cNvSpPr/>
            <p:nvPr/>
          </p:nvSpPr>
          <p:spPr>
            <a:xfrm>
              <a:off x="7173684" y="0"/>
              <a:ext cx="1278320" cy="811638"/>
            </a:xfrm>
            <a:prstGeom prst="rect">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6"/>
            <p:cNvSpPr txBox="1"/>
            <p:nvPr/>
          </p:nvSpPr>
          <p:spPr>
            <a:xfrm>
              <a:off x="7173684" y="0"/>
              <a:ext cx="1278320" cy="811638"/>
            </a:xfrm>
            <a:prstGeom prst="rect">
              <a:avLst/>
            </a:prstGeom>
            <a:noFill/>
            <a:ln>
              <a:noFill/>
            </a:ln>
          </p:spPr>
          <p:txBody>
            <a:bodyPr spcFirstLastPara="1" wrap="square" lIns="63500" tIns="63500" rIns="63500" bIns="63500" anchor="ctr" anchorCtr="0">
              <a:noAutofit/>
            </a:bodyPr>
            <a:lstStyle/>
            <a:p>
              <a:pPr marL="0" marR="0" lvl="0" indent="0" algn="ctr" rtl="0">
                <a:lnSpc>
                  <a:spcPct val="90000"/>
                </a:lnSpc>
                <a:spcBef>
                  <a:spcPts val="0"/>
                </a:spcBef>
                <a:spcAft>
                  <a:spcPts val="0"/>
                </a:spcAft>
                <a:buClr>
                  <a:schemeClr val="lt1"/>
                </a:buClr>
                <a:buSzPts val="2000"/>
                <a:buFont typeface="Times New Roman"/>
                <a:buNone/>
              </a:pPr>
              <a:r>
                <a:rPr lang="en-US" sz="2000" b="0" i="0" u="none" strike="noStrike" cap="none">
                  <a:solidFill>
                    <a:schemeClr val="lt1"/>
                  </a:solidFill>
                  <a:latin typeface="Times New Roman"/>
                  <a:ea typeface="Times New Roman"/>
                  <a:cs typeface="Times New Roman"/>
                  <a:sym typeface="Times New Roman"/>
                </a:rPr>
                <a:t>Final Review</a:t>
              </a:r>
              <a:endParaRPr/>
            </a:p>
          </p:txBody>
        </p:sp>
        <p:sp>
          <p:nvSpPr>
            <p:cNvPr id="186" name="Google Shape;186;p26"/>
            <p:cNvSpPr/>
            <p:nvPr/>
          </p:nvSpPr>
          <p:spPr>
            <a:xfrm>
              <a:off x="5898557" y="811638"/>
              <a:ext cx="1278320" cy="3043646"/>
            </a:xfrm>
            <a:prstGeom prst="wedgeRectCallout">
              <a:avLst>
                <a:gd name="adj1" fmla="val 62500"/>
                <a:gd name="adj2" fmla="val 20830"/>
              </a:avLst>
            </a:prstGeom>
            <a:solidFill>
              <a:srgbClr val="C6EAE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6"/>
            <p:cNvSpPr txBox="1"/>
            <p:nvPr/>
          </p:nvSpPr>
          <p:spPr>
            <a:xfrm>
              <a:off x="5978086" y="811638"/>
              <a:ext cx="1116000" cy="3043500"/>
            </a:xfrm>
            <a:prstGeom prst="rect">
              <a:avLst/>
            </a:prstGeom>
            <a:noFill/>
            <a:ln>
              <a:noFill/>
            </a:ln>
          </p:spPr>
          <p:txBody>
            <a:bodyPr spcFirstLastPara="1" wrap="square" lIns="50800" tIns="50800" rIns="50800" bIns="50800" anchor="t" anchorCtr="0">
              <a:noAutofit/>
            </a:bodyPr>
            <a:lstStyle/>
            <a:p>
              <a:pPr lvl="0">
                <a:lnSpc>
                  <a:spcPct val="90000"/>
                </a:lnSpc>
                <a:buClr>
                  <a:schemeClr val="dk1"/>
                </a:buClr>
                <a:buSzPts val="1600"/>
              </a:pPr>
              <a:r>
                <a:rPr lang="en-US" sz="1600" dirty="0">
                  <a:latin typeface="Times New Roman" panose="02020603050405020304" pitchFamily="18" charset="0"/>
                  <a:cs typeface="Times New Roman" panose="02020603050405020304" pitchFamily="18" charset="0"/>
                </a:rPr>
                <a:t>Progress on complete system integration including duplicate detection, health risk analysis, Explainable AI visualization, database integration, and user interface development.</a:t>
              </a:r>
              <a:endParaRPr sz="16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lnSpc>
                  <a:spcPct val="90000"/>
                </a:lnSpc>
                <a:spcBef>
                  <a:spcPts val="560"/>
                </a:spcBef>
                <a:spcAft>
                  <a:spcPts val="0"/>
                </a:spcAft>
                <a:buClr>
                  <a:schemeClr val="dk1"/>
                </a:buClr>
                <a:buSzPts val="1600"/>
                <a:buFont typeface="Times New Roman"/>
                <a:buNone/>
              </a:pPr>
              <a:r>
                <a:rPr lang="en-US" sz="1600" b="1" i="0" u="none" strike="noStrike" cap="none" dirty="0">
                  <a:solidFill>
                    <a:schemeClr val="dk1"/>
                  </a:solidFill>
                  <a:latin typeface="Times New Roman"/>
                  <a:ea typeface="Times New Roman"/>
                  <a:cs typeface="Times New Roman"/>
                  <a:sym typeface="Times New Roman"/>
                </a:rPr>
                <a:t>/04/26</a:t>
              </a:r>
              <a:endParaRPr b="1" dirty="0"/>
            </a:p>
          </p:txBody>
        </p:sp>
        <p:sp>
          <p:nvSpPr>
            <p:cNvPr id="188" name="Google Shape;188;p26"/>
            <p:cNvSpPr/>
            <p:nvPr/>
          </p:nvSpPr>
          <p:spPr>
            <a:xfrm>
              <a:off x="5898557" y="101454"/>
              <a:ext cx="1278320" cy="710184"/>
            </a:xfrm>
            <a:prstGeom prst="rect">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6"/>
            <p:cNvSpPr txBox="1"/>
            <p:nvPr/>
          </p:nvSpPr>
          <p:spPr>
            <a:xfrm>
              <a:off x="5898557" y="101454"/>
              <a:ext cx="1278320" cy="710184"/>
            </a:xfrm>
            <a:prstGeom prst="rect">
              <a:avLst/>
            </a:prstGeom>
            <a:noFill/>
            <a:ln>
              <a:noFill/>
            </a:ln>
          </p:spPr>
          <p:txBody>
            <a:bodyPr spcFirstLastPara="1" wrap="square" lIns="63500" tIns="63500" rIns="63500" bIns="63500" anchor="ctr" anchorCtr="0">
              <a:noAutofit/>
            </a:bodyPr>
            <a:lstStyle/>
            <a:p>
              <a:pPr marL="0" marR="0" lvl="0" indent="0" algn="ctr" rtl="0">
                <a:lnSpc>
                  <a:spcPct val="90000"/>
                </a:lnSpc>
                <a:spcBef>
                  <a:spcPts val="0"/>
                </a:spcBef>
                <a:spcAft>
                  <a:spcPts val="0"/>
                </a:spcAft>
                <a:buClr>
                  <a:schemeClr val="lt1"/>
                </a:buClr>
                <a:buSzPts val="2000"/>
                <a:buFont typeface="Times New Roman"/>
                <a:buNone/>
              </a:pPr>
              <a:r>
                <a:rPr lang="en-US" sz="2000" b="0" i="0" u="none" strike="noStrike" cap="none">
                  <a:solidFill>
                    <a:schemeClr val="lt1"/>
                  </a:solidFill>
                  <a:latin typeface="Times New Roman"/>
                  <a:ea typeface="Times New Roman"/>
                  <a:cs typeface="Times New Roman"/>
                  <a:sym typeface="Times New Roman"/>
                </a:rPr>
                <a:t>Review 4</a:t>
              </a:r>
              <a:endParaRPr/>
            </a:p>
          </p:txBody>
        </p:sp>
        <p:sp>
          <p:nvSpPr>
            <p:cNvPr id="190" name="Google Shape;190;p26"/>
            <p:cNvSpPr/>
            <p:nvPr/>
          </p:nvSpPr>
          <p:spPr>
            <a:xfrm>
              <a:off x="4620236" y="811638"/>
              <a:ext cx="1278320" cy="2840736"/>
            </a:xfrm>
            <a:prstGeom prst="wedgeRectCallout">
              <a:avLst>
                <a:gd name="adj1" fmla="val 62500"/>
                <a:gd name="adj2" fmla="val 20830"/>
              </a:avLst>
            </a:prstGeom>
            <a:solidFill>
              <a:srgbClr val="CFF1CF"/>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6"/>
            <p:cNvSpPr txBox="1"/>
            <p:nvPr/>
          </p:nvSpPr>
          <p:spPr>
            <a:xfrm>
              <a:off x="4701364" y="811638"/>
              <a:ext cx="1116000" cy="2840700"/>
            </a:xfrm>
            <a:prstGeom prst="rect">
              <a:avLst/>
            </a:prstGeom>
            <a:noFill/>
            <a:ln>
              <a:noFill/>
            </a:ln>
          </p:spPr>
          <p:txBody>
            <a:bodyPr spcFirstLastPara="1" wrap="square" lIns="50800" tIns="50800" rIns="50800" bIns="50800" anchor="t" anchorCtr="0">
              <a:noAutofit/>
            </a:bodyPr>
            <a:lstStyle/>
            <a:p>
              <a:pPr lvl="0">
                <a:lnSpc>
                  <a:spcPct val="90000"/>
                </a:lnSpc>
                <a:buClr>
                  <a:schemeClr val="dk1"/>
                </a:buClr>
                <a:buSzPts val="1600"/>
              </a:pPr>
              <a:r>
                <a:rPr lang="en-US" sz="1600" dirty="0">
                  <a:latin typeface="Times New Roman" panose="02020603050405020304" pitchFamily="18" charset="0"/>
                  <a:cs typeface="Times New Roman" panose="02020603050405020304" pitchFamily="18" charset="0"/>
                </a:rPr>
                <a:t>Progress on implementation including dataset collection, image preprocessing, CNN model development, training, testing, and initial result analysis.</a:t>
              </a:r>
              <a:endParaRPr sz="16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lnSpc>
                  <a:spcPct val="90000"/>
                </a:lnSpc>
                <a:spcBef>
                  <a:spcPts val="560"/>
                </a:spcBef>
                <a:spcAft>
                  <a:spcPts val="0"/>
                </a:spcAft>
                <a:buClr>
                  <a:schemeClr val="dk1"/>
                </a:buClr>
                <a:buSzPts val="1600"/>
                <a:buFont typeface="Times New Roman"/>
                <a:buNone/>
              </a:pPr>
              <a:endParaRPr sz="1600" b="1" dirty="0">
                <a:solidFill>
                  <a:schemeClr val="dk1"/>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chemeClr val="dk1"/>
                </a:buClr>
                <a:buSzPts val="1600"/>
                <a:buFont typeface="Times New Roman"/>
                <a:buNone/>
              </a:pPr>
              <a:endParaRPr sz="1600" b="1" dirty="0">
                <a:solidFill>
                  <a:schemeClr val="dk1"/>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chemeClr val="dk1"/>
                </a:buClr>
                <a:buSzPts val="1600"/>
                <a:buFont typeface="Times New Roman"/>
                <a:buNone/>
              </a:pPr>
              <a:endParaRPr sz="1600" b="1" dirty="0">
                <a:solidFill>
                  <a:schemeClr val="dk1"/>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chemeClr val="dk1"/>
                </a:buClr>
                <a:buSzPts val="1600"/>
                <a:buFont typeface="Times New Roman"/>
                <a:buNone/>
              </a:pPr>
              <a:r>
                <a:rPr lang="en-US" sz="1600" b="1" i="0" u="none" strike="noStrike" cap="none" dirty="0">
                  <a:solidFill>
                    <a:schemeClr val="dk1"/>
                  </a:solidFill>
                  <a:latin typeface="Times New Roman"/>
                  <a:ea typeface="Times New Roman"/>
                  <a:cs typeface="Times New Roman"/>
                  <a:sym typeface="Times New Roman"/>
                </a:rPr>
                <a:t>/02/26</a:t>
              </a:r>
              <a:endParaRPr b="1" dirty="0"/>
            </a:p>
          </p:txBody>
        </p:sp>
        <p:sp>
          <p:nvSpPr>
            <p:cNvPr id="192" name="Google Shape;192;p26"/>
            <p:cNvSpPr/>
            <p:nvPr/>
          </p:nvSpPr>
          <p:spPr>
            <a:xfrm>
              <a:off x="4620236" y="206156"/>
              <a:ext cx="1278320" cy="608729"/>
            </a:xfrm>
            <a:prstGeom prst="rect">
              <a:avLst/>
            </a:prstGeom>
            <a:solidFill>
              <a:schemeClr val="accent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6"/>
            <p:cNvSpPr txBox="1"/>
            <p:nvPr/>
          </p:nvSpPr>
          <p:spPr>
            <a:xfrm>
              <a:off x="4620236" y="206156"/>
              <a:ext cx="1278320" cy="608729"/>
            </a:xfrm>
            <a:prstGeom prst="rect">
              <a:avLst/>
            </a:prstGeom>
            <a:noFill/>
            <a:ln>
              <a:noFill/>
            </a:ln>
          </p:spPr>
          <p:txBody>
            <a:bodyPr spcFirstLastPara="1" wrap="square" lIns="63500" tIns="63500" rIns="63500" bIns="63500" anchor="ctr" anchorCtr="0">
              <a:noAutofit/>
            </a:bodyPr>
            <a:lstStyle/>
            <a:p>
              <a:pPr marL="0" marR="0" lvl="0" indent="0" algn="ctr" rtl="0">
                <a:lnSpc>
                  <a:spcPct val="90000"/>
                </a:lnSpc>
                <a:spcBef>
                  <a:spcPts val="0"/>
                </a:spcBef>
                <a:spcAft>
                  <a:spcPts val="0"/>
                </a:spcAft>
                <a:buClr>
                  <a:schemeClr val="lt1"/>
                </a:buClr>
                <a:buSzPts val="2000"/>
                <a:buFont typeface="Times New Roman"/>
                <a:buNone/>
              </a:pPr>
              <a:r>
                <a:rPr lang="en-US" sz="2000" b="0" i="0" u="none" strike="noStrike" cap="none">
                  <a:solidFill>
                    <a:schemeClr val="lt1"/>
                  </a:solidFill>
                  <a:latin typeface="Times New Roman"/>
                  <a:ea typeface="Times New Roman"/>
                  <a:cs typeface="Times New Roman"/>
                  <a:sym typeface="Times New Roman"/>
                </a:rPr>
                <a:t>Review 3</a:t>
              </a:r>
              <a:endParaRPr/>
            </a:p>
          </p:txBody>
        </p:sp>
        <p:sp>
          <p:nvSpPr>
            <p:cNvPr id="194" name="Google Shape;194;p26"/>
            <p:cNvSpPr/>
            <p:nvPr/>
          </p:nvSpPr>
          <p:spPr>
            <a:xfrm>
              <a:off x="3341915" y="811638"/>
              <a:ext cx="1278320" cy="2637826"/>
            </a:xfrm>
            <a:prstGeom prst="wedgeRectCallout">
              <a:avLst>
                <a:gd name="adj1" fmla="val 62500"/>
                <a:gd name="adj2" fmla="val 20830"/>
              </a:avLst>
            </a:prstGeom>
            <a:solidFill>
              <a:srgbClr val="F4F6D9"/>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6"/>
            <p:cNvSpPr txBox="1"/>
            <p:nvPr/>
          </p:nvSpPr>
          <p:spPr>
            <a:xfrm>
              <a:off x="3426211" y="811646"/>
              <a:ext cx="1194000" cy="2637900"/>
            </a:xfrm>
            <a:prstGeom prst="rect">
              <a:avLst/>
            </a:prstGeom>
            <a:noFill/>
            <a:ln>
              <a:noFill/>
            </a:ln>
          </p:spPr>
          <p:txBody>
            <a:bodyPr spcFirstLastPara="1" wrap="square" lIns="50800" tIns="50800" rIns="50800" bIns="50800" anchor="t" anchorCtr="0">
              <a:noAutofit/>
            </a:bodyPr>
            <a:lstStyle/>
            <a:p>
              <a:pPr lvl="0">
                <a:lnSpc>
                  <a:spcPct val="90000"/>
                </a:lnSpc>
                <a:spcBef>
                  <a:spcPts val="560"/>
                </a:spcBef>
                <a:buClr>
                  <a:schemeClr val="dk1"/>
                </a:buClr>
                <a:buSzPts val="1600"/>
              </a:pPr>
              <a:r>
                <a:rPr lang="en-US" sz="1600" dirty="0">
                  <a:latin typeface="Times New Roman" panose="02020603050405020304" pitchFamily="18" charset="0"/>
                  <a:cs typeface="Times New Roman" panose="02020603050405020304" pitchFamily="18" charset="0"/>
                </a:rPr>
                <a:t>Detailed literature survey on existing livestock identification systems, identification of research gaps, and finalization of the proposed system design, architecture, and tools.</a:t>
              </a:r>
              <a:endParaRPr sz="16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lnSpc>
                  <a:spcPct val="90000"/>
                </a:lnSpc>
                <a:spcBef>
                  <a:spcPts val="560"/>
                </a:spcBef>
                <a:spcAft>
                  <a:spcPts val="0"/>
                </a:spcAft>
                <a:buClr>
                  <a:schemeClr val="dk1"/>
                </a:buClr>
                <a:buSzPts val="1600"/>
                <a:buFont typeface="Times New Roman"/>
                <a:buNone/>
              </a:pPr>
              <a:endParaRPr sz="1600" b="1" dirty="0">
                <a:solidFill>
                  <a:schemeClr val="dk1"/>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chemeClr val="dk1"/>
                </a:buClr>
                <a:buSzPts val="1600"/>
                <a:buFont typeface="Times New Roman"/>
                <a:buNone/>
              </a:pPr>
              <a:endParaRPr sz="1600" b="1" dirty="0">
                <a:solidFill>
                  <a:schemeClr val="dk1"/>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chemeClr val="dk1"/>
                </a:buClr>
                <a:buSzPts val="1600"/>
                <a:buFont typeface="Times New Roman"/>
                <a:buNone/>
              </a:pPr>
              <a:endParaRPr sz="1600" b="1" dirty="0">
                <a:solidFill>
                  <a:schemeClr val="dk1"/>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chemeClr val="dk1"/>
                </a:buClr>
                <a:buSzPts val="1600"/>
                <a:buFont typeface="Times New Roman"/>
                <a:buNone/>
              </a:pPr>
              <a:r>
                <a:rPr lang="en-US" sz="1600" b="1" dirty="0">
                  <a:solidFill>
                    <a:schemeClr val="dk1"/>
                  </a:solidFill>
                  <a:latin typeface="Times New Roman"/>
                  <a:ea typeface="Times New Roman"/>
                  <a:cs typeface="Times New Roman"/>
                  <a:sym typeface="Times New Roman"/>
                </a:rPr>
                <a:t>11</a:t>
              </a:r>
              <a:r>
                <a:rPr lang="en-US" sz="1600" b="1" i="0" u="none" strike="noStrike" cap="none" dirty="0">
                  <a:solidFill>
                    <a:schemeClr val="dk1"/>
                  </a:solidFill>
                  <a:latin typeface="Times New Roman"/>
                  <a:ea typeface="Times New Roman"/>
                  <a:cs typeface="Times New Roman"/>
                  <a:sym typeface="Times New Roman"/>
                </a:rPr>
                <a:t>/01/26</a:t>
              </a:r>
              <a:endParaRPr b="1" dirty="0"/>
            </a:p>
          </p:txBody>
        </p:sp>
        <p:sp>
          <p:nvSpPr>
            <p:cNvPr id="196" name="Google Shape;196;p26"/>
            <p:cNvSpPr/>
            <p:nvPr/>
          </p:nvSpPr>
          <p:spPr>
            <a:xfrm>
              <a:off x="3341915" y="304364"/>
              <a:ext cx="1278320" cy="507274"/>
            </a:xfrm>
            <a:prstGeom prst="rect">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6"/>
            <p:cNvSpPr txBox="1"/>
            <p:nvPr/>
          </p:nvSpPr>
          <p:spPr>
            <a:xfrm>
              <a:off x="3341915" y="304364"/>
              <a:ext cx="1278320" cy="507274"/>
            </a:xfrm>
            <a:prstGeom prst="rect">
              <a:avLst/>
            </a:prstGeom>
            <a:noFill/>
            <a:ln>
              <a:noFill/>
            </a:ln>
          </p:spPr>
          <p:txBody>
            <a:bodyPr spcFirstLastPara="1" wrap="square" lIns="63500" tIns="63500" rIns="63500" bIns="63500" anchor="ctr" anchorCtr="0">
              <a:noAutofit/>
            </a:bodyPr>
            <a:lstStyle/>
            <a:p>
              <a:pPr marL="0" marR="0" lvl="0" indent="0" algn="ctr" rtl="0">
                <a:lnSpc>
                  <a:spcPct val="90000"/>
                </a:lnSpc>
                <a:spcBef>
                  <a:spcPts val="0"/>
                </a:spcBef>
                <a:spcAft>
                  <a:spcPts val="0"/>
                </a:spcAft>
                <a:buClr>
                  <a:schemeClr val="lt1"/>
                </a:buClr>
                <a:buSzPts val="2000"/>
                <a:buFont typeface="Times New Roman"/>
                <a:buNone/>
              </a:pPr>
              <a:r>
                <a:rPr lang="en-US" sz="2000" b="0" i="0" u="none" strike="noStrike" cap="none">
                  <a:solidFill>
                    <a:schemeClr val="lt1"/>
                  </a:solidFill>
                  <a:latin typeface="Times New Roman"/>
                  <a:ea typeface="Times New Roman"/>
                  <a:cs typeface="Times New Roman"/>
                  <a:sym typeface="Times New Roman"/>
                </a:rPr>
                <a:t>Review 2</a:t>
              </a:r>
              <a:endParaRPr/>
            </a:p>
          </p:txBody>
        </p:sp>
        <p:sp>
          <p:nvSpPr>
            <p:cNvPr id="198" name="Google Shape;198;p26"/>
            <p:cNvSpPr/>
            <p:nvPr/>
          </p:nvSpPr>
          <p:spPr>
            <a:xfrm>
              <a:off x="2063594" y="811638"/>
              <a:ext cx="1278320" cy="2434917"/>
            </a:xfrm>
            <a:prstGeom prst="wedgeRectCallout">
              <a:avLst>
                <a:gd name="adj1" fmla="val 62500"/>
                <a:gd name="adj2" fmla="val 20830"/>
              </a:avLst>
            </a:prstGeom>
            <a:solidFill>
              <a:srgbClr val="FAEAE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6"/>
            <p:cNvSpPr txBox="1"/>
            <p:nvPr/>
          </p:nvSpPr>
          <p:spPr>
            <a:xfrm>
              <a:off x="2144722" y="811638"/>
              <a:ext cx="1116000" cy="2434800"/>
            </a:xfrm>
            <a:prstGeom prst="rect">
              <a:avLst/>
            </a:prstGeom>
            <a:noFill/>
            <a:ln>
              <a:noFill/>
            </a:ln>
          </p:spPr>
          <p:txBody>
            <a:bodyPr spcFirstLastPara="1" wrap="square" lIns="50800" tIns="50800" rIns="50800" bIns="50800" anchor="t" anchorCtr="0">
              <a:noAutofit/>
            </a:bodyPr>
            <a:lstStyle/>
            <a:p>
              <a:pPr lvl="0">
                <a:lnSpc>
                  <a:spcPct val="90000"/>
                </a:lnSpc>
                <a:buClr>
                  <a:schemeClr val="dk1"/>
                </a:buClr>
                <a:buSzPts val="1600"/>
              </a:pPr>
              <a:r>
                <a:rPr lang="en-US" sz="1600" dirty="0">
                  <a:latin typeface="Times New Roman" panose="02020603050405020304" pitchFamily="18" charset="0"/>
                  <a:cs typeface="Times New Roman" panose="02020603050405020304" pitchFamily="18" charset="0"/>
                </a:rPr>
                <a:t>Overview of the problem domain, identification of project title, briefing of the problem statement, objectives, and understanding the project scope and workflow plan</a:t>
              </a:r>
              <a:r>
                <a:rPr lang="en-US" sz="1600" dirty="0"/>
                <a:t>.</a:t>
              </a:r>
              <a:endParaRPr sz="1600" b="1" dirty="0">
                <a:solidFill>
                  <a:schemeClr val="dk1"/>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chemeClr val="dk1"/>
                </a:buClr>
                <a:buSzPts val="1600"/>
                <a:buFont typeface="Times New Roman"/>
                <a:buNone/>
              </a:pPr>
              <a:endParaRPr sz="1600" b="1" dirty="0">
                <a:solidFill>
                  <a:schemeClr val="dk1"/>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chemeClr val="dk1"/>
                </a:buClr>
                <a:buSzPts val="1600"/>
                <a:buFont typeface="Times New Roman"/>
                <a:buNone/>
              </a:pPr>
              <a:endParaRPr sz="1600" b="1" dirty="0">
                <a:solidFill>
                  <a:schemeClr val="dk1"/>
                </a:solidFill>
                <a:latin typeface="Times New Roman"/>
                <a:ea typeface="Times New Roman"/>
                <a:cs typeface="Times New Roman"/>
                <a:sym typeface="Times New Roman"/>
              </a:endParaRPr>
            </a:p>
            <a:p>
              <a:pPr marL="0" marR="0" lvl="0" indent="0" algn="just" rtl="0">
                <a:lnSpc>
                  <a:spcPct val="90000"/>
                </a:lnSpc>
                <a:spcBef>
                  <a:spcPts val="560"/>
                </a:spcBef>
                <a:spcAft>
                  <a:spcPts val="0"/>
                </a:spcAft>
                <a:buClr>
                  <a:schemeClr val="dk1"/>
                </a:buClr>
                <a:buSzPts val="1600"/>
                <a:buFont typeface="Times New Roman"/>
                <a:buNone/>
              </a:pPr>
              <a:r>
                <a:rPr lang="en-US" sz="1600" b="1" dirty="0">
                  <a:solidFill>
                    <a:schemeClr val="dk1"/>
                  </a:solidFill>
                  <a:latin typeface="Times New Roman"/>
                  <a:ea typeface="Times New Roman"/>
                  <a:cs typeface="Times New Roman"/>
                  <a:sym typeface="Times New Roman"/>
                </a:rPr>
                <a:t>13</a:t>
              </a:r>
              <a:r>
                <a:rPr lang="en-US" sz="1600" b="1" i="0" u="none" strike="noStrike" cap="none" dirty="0">
                  <a:solidFill>
                    <a:schemeClr val="dk1"/>
                  </a:solidFill>
                  <a:latin typeface="Times New Roman"/>
                  <a:ea typeface="Times New Roman"/>
                  <a:cs typeface="Times New Roman"/>
                  <a:sym typeface="Times New Roman"/>
                </a:rPr>
                <a:t>/01/26</a:t>
              </a:r>
              <a:endParaRPr b="1" dirty="0">
                <a:latin typeface="Times New Roman"/>
                <a:ea typeface="Times New Roman"/>
                <a:cs typeface="Times New Roman"/>
                <a:sym typeface="Times New Roman"/>
              </a:endParaRPr>
            </a:p>
          </p:txBody>
        </p:sp>
        <p:sp>
          <p:nvSpPr>
            <p:cNvPr id="200" name="Google Shape;200;p26"/>
            <p:cNvSpPr/>
            <p:nvPr/>
          </p:nvSpPr>
          <p:spPr>
            <a:xfrm>
              <a:off x="2063594" y="405819"/>
              <a:ext cx="1278320" cy="405819"/>
            </a:xfrm>
            <a:prstGeom prst="rect">
              <a:avLst/>
            </a:prstGeom>
            <a:solidFill>
              <a:schemeClr val="accent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6"/>
            <p:cNvSpPr txBox="1"/>
            <p:nvPr/>
          </p:nvSpPr>
          <p:spPr>
            <a:xfrm>
              <a:off x="2063594" y="405819"/>
              <a:ext cx="1278300" cy="405900"/>
            </a:xfrm>
            <a:prstGeom prst="rect">
              <a:avLst/>
            </a:prstGeom>
            <a:noFill/>
            <a:ln>
              <a:noFill/>
            </a:ln>
          </p:spPr>
          <p:txBody>
            <a:bodyPr spcFirstLastPara="1" wrap="square" lIns="63500" tIns="63500" rIns="63500" bIns="63500" anchor="ctr" anchorCtr="0">
              <a:noAutofit/>
            </a:bodyPr>
            <a:lstStyle/>
            <a:p>
              <a:pPr marL="0" marR="0" lvl="0" indent="0" algn="ctr" rtl="0">
                <a:lnSpc>
                  <a:spcPct val="90000"/>
                </a:lnSpc>
                <a:spcBef>
                  <a:spcPts val="0"/>
                </a:spcBef>
                <a:spcAft>
                  <a:spcPts val="0"/>
                </a:spcAft>
                <a:buClr>
                  <a:schemeClr val="lt1"/>
                </a:buClr>
                <a:buSzPts val="2000"/>
                <a:buFont typeface="Times New Roman"/>
                <a:buNone/>
              </a:pPr>
              <a:r>
                <a:rPr lang="en-US" sz="2000" b="0" i="0" u="none" strike="noStrike" cap="none">
                  <a:solidFill>
                    <a:schemeClr val="lt1"/>
                  </a:solidFill>
                  <a:latin typeface="Times New Roman"/>
                  <a:ea typeface="Times New Roman"/>
                  <a:cs typeface="Times New Roman"/>
                  <a:sym typeface="Times New Roman"/>
                </a:rPr>
                <a:t>Review 1</a:t>
              </a: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7"/>
          <p:cNvSpPr txBox="1">
            <a:spLocks noGrp="1"/>
          </p:cNvSpPr>
          <p:nvPr>
            <p:ph type="title"/>
          </p:nvPr>
        </p:nvSpPr>
        <p:spPr>
          <a:xfrm>
            <a:off x="556350" y="365125"/>
            <a:ext cx="10515600" cy="5964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0070C0"/>
              </a:buClr>
              <a:buSzPct val="57256"/>
              <a:buFont typeface="Times New Roman"/>
              <a:buNone/>
            </a:pPr>
            <a:r>
              <a:rPr lang="en-US" sz="5588" b="1">
                <a:solidFill>
                  <a:srgbClr val="0070C0"/>
                </a:solidFill>
                <a:latin typeface="Times New Roman"/>
                <a:ea typeface="Times New Roman"/>
                <a:cs typeface="Times New Roman"/>
                <a:sym typeface="Times New Roman"/>
              </a:rPr>
              <a:t>G</a:t>
            </a:r>
            <a:r>
              <a:rPr lang="en-US" sz="3200" b="1">
                <a:solidFill>
                  <a:srgbClr val="0070C0"/>
                </a:solidFill>
                <a:latin typeface="Times New Roman"/>
                <a:ea typeface="Times New Roman"/>
                <a:cs typeface="Times New Roman"/>
                <a:sym typeface="Times New Roman"/>
              </a:rPr>
              <a:t>ithub </a:t>
            </a:r>
            <a:r>
              <a:rPr lang="en-US" sz="5644" b="1">
                <a:solidFill>
                  <a:srgbClr val="0070C0"/>
                </a:solidFill>
                <a:latin typeface="Times New Roman"/>
                <a:ea typeface="Times New Roman"/>
                <a:cs typeface="Times New Roman"/>
                <a:sym typeface="Times New Roman"/>
              </a:rPr>
              <a:t>L</a:t>
            </a:r>
            <a:r>
              <a:rPr lang="en-US" sz="3200" b="1">
                <a:solidFill>
                  <a:srgbClr val="0070C0"/>
                </a:solidFill>
                <a:latin typeface="Times New Roman"/>
                <a:ea typeface="Times New Roman"/>
                <a:cs typeface="Times New Roman"/>
                <a:sym typeface="Times New Roman"/>
              </a:rPr>
              <a:t>ink:</a:t>
            </a:r>
            <a:endParaRPr/>
          </a:p>
        </p:txBody>
      </p:sp>
      <p:sp>
        <p:nvSpPr>
          <p:cNvPr id="207" name="Google Shape;20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
        <p:nvSpPr>
          <p:cNvPr id="208" name="Google Shape;208;p27"/>
          <p:cNvSpPr/>
          <p:nvPr/>
        </p:nvSpPr>
        <p:spPr>
          <a:xfrm>
            <a:off x="678426" y="2251587"/>
            <a:ext cx="10741074" cy="1856813"/>
          </a:xfrm>
          <a:prstGeom prst="roundRect">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457200" lvl="0" indent="457200">
              <a:lnSpc>
                <a:spcPct val="90000"/>
              </a:lnSpc>
              <a:buClr>
                <a:schemeClr val="dk1"/>
              </a:buClr>
              <a:buSzPts val="1100"/>
            </a:pPr>
            <a:r>
              <a:rPr lang="en-US" sz="3200" b="1" dirty="0">
                <a:solidFill>
                  <a:schemeClr val="dk1"/>
                </a:solidFill>
                <a:latin typeface="Times New Roman"/>
                <a:ea typeface="Times New Roman"/>
                <a:cs typeface="Times New Roman"/>
                <a:sym typeface="Times New Roman"/>
              </a:rPr>
              <a:t>https://github.com/20221CDV0026/Image-based-Animal-Type-Classification-for-cattle-and-buffaloes-</a:t>
            </a:r>
            <a:endParaRPr sz="3200" dirty="0">
              <a:latin typeface="Calibri"/>
              <a:ea typeface="Calibri"/>
              <a:cs typeface="Calibri"/>
              <a:sym typeface="Calibri"/>
            </a:endParaRPr>
          </a:p>
        </p:txBody>
      </p:sp>
      <p:sp>
        <p:nvSpPr>
          <p:cNvPr id="209" name="Google Shape;209;p27"/>
          <p:cNvSpPr/>
          <p:nvPr/>
        </p:nvSpPr>
        <p:spPr>
          <a:xfrm rot="-1971703">
            <a:off x="8400073" y="3707221"/>
            <a:ext cx="702157" cy="949717"/>
          </a:xfrm>
          <a:prstGeom prst="upArrow">
            <a:avLst>
              <a:gd name="adj1" fmla="val 49786"/>
              <a:gd name="adj2" fmla="val 7886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8"/>
          <p:cNvSpPr txBox="1">
            <a:spLocks noGrp="1"/>
          </p:cNvSpPr>
          <p:nvPr>
            <p:ph type="body" idx="1"/>
          </p:nvPr>
        </p:nvSpPr>
        <p:spPr>
          <a:xfrm>
            <a:off x="0" y="0"/>
            <a:ext cx="12192000" cy="6858000"/>
          </a:xfrm>
          <a:prstGeom prst="rect">
            <a:avLst/>
          </a:prstGeom>
          <a:solidFill>
            <a:srgbClr val="1F3864"/>
          </a:solid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6600"/>
              <a:buNone/>
            </a:pPr>
            <a:endParaRPr sz="6600">
              <a:solidFill>
                <a:srgbClr val="FFFF00"/>
              </a:solidFill>
              <a:latin typeface="Times New Roman"/>
              <a:ea typeface="Times New Roman"/>
              <a:cs typeface="Times New Roman"/>
              <a:sym typeface="Times New Roman"/>
            </a:endParaRPr>
          </a:p>
          <a:p>
            <a:pPr marL="0" lvl="0" indent="0" algn="ctr" rtl="0">
              <a:lnSpc>
                <a:spcPct val="90000"/>
              </a:lnSpc>
              <a:spcBef>
                <a:spcPts val="1000"/>
              </a:spcBef>
              <a:spcAft>
                <a:spcPts val="0"/>
              </a:spcAft>
              <a:buClr>
                <a:srgbClr val="FFFF00"/>
              </a:buClr>
              <a:buSzPts val="6600"/>
              <a:buNone/>
            </a:pPr>
            <a:r>
              <a:rPr lang="en-US" sz="6600">
                <a:solidFill>
                  <a:srgbClr val="FFFF00"/>
                </a:solidFill>
                <a:latin typeface="Times New Roman"/>
                <a:ea typeface="Times New Roman"/>
                <a:cs typeface="Times New Roman"/>
                <a:sym typeface="Times New Roman"/>
              </a:rPr>
              <a:t>  </a:t>
            </a:r>
            <a:r>
              <a:rPr lang="en-US" sz="6600">
                <a:solidFill>
                  <a:srgbClr val="F7CAAC"/>
                </a:solidFill>
                <a:latin typeface="Times New Roman"/>
                <a:ea typeface="Times New Roman"/>
                <a:cs typeface="Times New Roman"/>
                <a:sym typeface="Times New Roman"/>
              </a:rPr>
              <a:t>Q&amp;A</a:t>
            </a:r>
            <a:endParaRPr/>
          </a:p>
          <a:p>
            <a:pPr marL="0" lvl="0" indent="0" algn="ctr" rtl="0">
              <a:lnSpc>
                <a:spcPct val="90000"/>
              </a:lnSpc>
              <a:spcBef>
                <a:spcPts val="1000"/>
              </a:spcBef>
              <a:spcAft>
                <a:spcPts val="0"/>
              </a:spcAft>
              <a:buClr>
                <a:schemeClr val="dk1"/>
              </a:buClr>
              <a:buSzPts val="6600"/>
              <a:buNone/>
            </a:pPr>
            <a:endParaRPr sz="6600">
              <a:solidFill>
                <a:srgbClr val="A71180"/>
              </a:solidFill>
              <a:latin typeface="Times New Roman"/>
              <a:ea typeface="Times New Roman"/>
              <a:cs typeface="Times New Roman"/>
              <a:sym typeface="Times New Roman"/>
            </a:endParaRPr>
          </a:p>
        </p:txBody>
      </p:sp>
      <p:sp>
        <p:nvSpPr>
          <p:cNvPr id="215" name="Google Shape;215;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25</a:t>
            </a:fld>
            <a:endParaRPr>
              <a:latin typeface="Times New Roman"/>
              <a:ea typeface="Times New Roman"/>
              <a:cs typeface="Times New Roman"/>
              <a:sym typeface="Times New Roman"/>
            </a:endParaRPr>
          </a:p>
        </p:txBody>
      </p:sp>
      <p:pic>
        <p:nvPicPr>
          <p:cNvPr id="216" name="Google Shape;216;p28" descr="bd04924_"/>
          <p:cNvPicPr preferRelativeResize="0"/>
          <p:nvPr/>
        </p:nvPicPr>
        <p:blipFill rotWithShape="1">
          <a:blip r:embed="rId3">
            <a:alphaModFix/>
          </a:blip>
          <a:srcRect/>
          <a:stretch/>
        </p:blipFill>
        <p:spPr>
          <a:xfrm>
            <a:off x="4833020" y="2150340"/>
            <a:ext cx="2841171" cy="383241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9"/>
          <p:cNvSpPr txBox="1">
            <a:spLocks noGrp="1"/>
          </p:cNvSpPr>
          <p:nvPr>
            <p:ph type="body" idx="1"/>
          </p:nvPr>
        </p:nvSpPr>
        <p:spPr>
          <a:xfrm>
            <a:off x="838200" y="2547258"/>
            <a:ext cx="10515600" cy="1214846"/>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A71180"/>
              </a:buClr>
              <a:buSzPts val="6600"/>
              <a:buNone/>
            </a:pPr>
            <a:r>
              <a:rPr lang="en-US" sz="6600">
                <a:solidFill>
                  <a:srgbClr val="A71180"/>
                </a:solidFill>
                <a:latin typeface="Times New Roman"/>
                <a:ea typeface="Times New Roman"/>
                <a:cs typeface="Times New Roman"/>
                <a:sym typeface="Times New Roman"/>
              </a:rPr>
              <a:t>Thank you!</a:t>
            </a:r>
            <a:endParaRPr/>
          </a:p>
        </p:txBody>
      </p:sp>
      <p:sp>
        <p:nvSpPr>
          <p:cNvPr id="222" name="Google Shape;222;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245</TotalTime>
  <Words>2023</Words>
  <Application>Microsoft Office PowerPoint</Application>
  <PresentationFormat>Widescreen</PresentationFormat>
  <Paragraphs>210</Paragraphs>
  <Slides>26</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Cambria</vt:lpstr>
      <vt:lpstr>Times New Roman</vt:lpstr>
      <vt:lpstr>Verdana</vt:lpstr>
      <vt:lpstr>Office Theme</vt:lpstr>
      <vt:lpstr>PowerPoint Presentation</vt:lpstr>
      <vt:lpstr>Content:</vt:lpstr>
      <vt:lpstr>Introduction:</vt:lpstr>
      <vt:lpstr>Introduction Continued:</vt:lpstr>
      <vt:lpstr>Literature Review:</vt:lpstr>
      <vt:lpstr>Literature Review Continued:</vt:lpstr>
      <vt:lpstr>Research Gap &amp; Motivation:</vt:lpstr>
      <vt:lpstr>Research Gap &amp; Motivation Continued:</vt:lpstr>
      <vt:lpstr>Challenges Faced In Project:</vt:lpstr>
      <vt:lpstr>Challenges Faced In Project:</vt:lpstr>
      <vt:lpstr>Proposed System Overview:</vt:lpstr>
      <vt:lpstr>Proposed System Overview Continued:</vt:lpstr>
      <vt:lpstr>System Architecture &amp; Model Design:</vt:lpstr>
      <vt:lpstr>System Architecture &amp; Model Design Continued: :</vt:lpstr>
      <vt:lpstr>Advantages Of The Proposed System:</vt:lpstr>
      <vt:lpstr>Tools &amp; Technologies Used:</vt:lpstr>
      <vt:lpstr>Tools &amp; Technologies Used Continued:</vt:lpstr>
      <vt:lpstr>References:</vt:lpstr>
      <vt:lpstr>References:</vt:lpstr>
      <vt:lpstr>References:</vt:lpstr>
      <vt:lpstr>Outcome &amp; Conclusion:</vt:lpstr>
      <vt:lpstr>Outcome &amp; Conclusion Continued:</vt:lpstr>
      <vt:lpstr>Review Timeline:</vt:lpstr>
      <vt:lpstr>Github Link:</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Harshu</dc:creator>
  <cp:lastModifiedBy>HARSHITHA20221CDV0026@presidencyuniversity.in kj</cp:lastModifiedBy>
  <cp:revision>4</cp:revision>
  <cp:lastPrinted>2026-04-08T06:04:22Z</cp:lastPrinted>
  <dcterms:modified xsi:type="dcterms:W3CDTF">2026-04-08T06:04:34Z</dcterms:modified>
</cp:coreProperties>
</file>