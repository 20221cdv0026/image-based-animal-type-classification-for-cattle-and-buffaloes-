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57" r:id="rId3"/>
    <p:sldId id="258" r:id="rId4"/>
    <p:sldId id="273" r:id="rId5"/>
    <p:sldId id="259" r:id="rId6"/>
    <p:sldId id="276" r:id="rId7"/>
    <p:sldId id="260" r:id="rId8"/>
    <p:sldId id="274" r:id="rId9"/>
    <p:sldId id="261" r:id="rId10"/>
    <p:sldId id="275" r:id="rId11"/>
    <p:sldId id="262" r:id="rId12"/>
    <p:sldId id="277" r:id="rId13"/>
    <p:sldId id="263" r:id="rId14"/>
    <p:sldId id="264" r:id="rId15"/>
    <p:sldId id="265" r:id="rId16"/>
    <p:sldId id="266" r:id="rId17"/>
    <p:sldId id="269" r:id="rId18"/>
    <p:sldId id="270" r:id="rId19"/>
    <p:sldId id="271" r:id="rId20"/>
    <p:sldId id="272"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0422C5-7D1B-4931-A2F1-62B078D3849C}" v="6" dt="2026-02-10T16:51:21.185"/>
  </p1510:revLst>
</p1510:revInfo>
</file>

<file path=ppt/tableStyles.xml><?xml version="1.0" encoding="utf-8"?>
<a:tblStyleLst xmlns:a="http://schemas.openxmlformats.org/drawingml/2006/main" def="{397DC194-C198-4E2C-BDF8-BB93FAE9738C}">
  <a:tblStyle styleId="{397DC194-C198-4E2C-BDF8-BB93FAE9738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B5AB5F46-A7CD-EE55-2AF9-C98E6DD3B23C}"/>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7C7B5966-E561-D665-BB67-15B264391DA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a:extLst>
              <a:ext uri="{FF2B5EF4-FFF2-40B4-BE49-F238E27FC236}">
                <a16:creationId xmlns:a16="http://schemas.microsoft.com/office/drawing/2014/main" id="{B54BEB61-EBCE-7FB3-7110-79282A7647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9162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E38B60C6-DF01-F6C8-E0F2-0D18E67580DF}"/>
            </a:ext>
          </a:extLst>
        </p:cNvPr>
        <p:cNvGrpSpPr/>
        <p:nvPr/>
      </p:nvGrpSpPr>
      <p:grpSpPr>
        <a:xfrm>
          <a:off x="0" y="0"/>
          <a:ext cx="0" cy="0"/>
          <a:chOff x="0" y="0"/>
          <a:chExt cx="0" cy="0"/>
        </a:xfrm>
      </p:grpSpPr>
      <p:sp>
        <p:nvSpPr>
          <p:cNvPr id="106" name="Google Shape;106;p4:notes">
            <a:extLst>
              <a:ext uri="{FF2B5EF4-FFF2-40B4-BE49-F238E27FC236}">
                <a16:creationId xmlns:a16="http://schemas.microsoft.com/office/drawing/2014/main" id="{1FD25D58-CD4A-BC64-F87C-ECD648A597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4:notes">
            <a:extLst>
              <a:ext uri="{FF2B5EF4-FFF2-40B4-BE49-F238E27FC236}">
                <a16:creationId xmlns:a16="http://schemas.microsoft.com/office/drawing/2014/main" id="{CE5B72F1-EA9D-30B3-4984-B629212FD3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4983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c75d11b8d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3bc75d11b8d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14A9F300-464C-2C60-AAF2-BBF2D3DB1138}"/>
            </a:ext>
          </a:extLst>
        </p:cNvPr>
        <p:cNvGrpSpPr/>
        <p:nvPr/>
      </p:nvGrpSpPr>
      <p:grpSpPr>
        <a:xfrm>
          <a:off x="0" y="0"/>
          <a:ext cx="0" cy="0"/>
          <a:chOff x="0" y="0"/>
          <a:chExt cx="0" cy="0"/>
        </a:xfrm>
      </p:grpSpPr>
      <p:sp>
        <p:nvSpPr>
          <p:cNvPr id="113" name="Google Shape;113;g3bc75d11b8d_0_7:notes">
            <a:extLst>
              <a:ext uri="{FF2B5EF4-FFF2-40B4-BE49-F238E27FC236}">
                <a16:creationId xmlns:a16="http://schemas.microsoft.com/office/drawing/2014/main" id="{6F15360B-1086-ED88-5DF1-D69ACBD83EE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3bc75d11b8d_0_7:notes">
            <a:extLst>
              <a:ext uri="{FF2B5EF4-FFF2-40B4-BE49-F238E27FC236}">
                <a16:creationId xmlns:a16="http://schemas.microsoft.com/office/drawing/2014/main" id="{7902DBCD-F9CF-30EF-CFD4-3FEFD345A5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2214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4050FF26-FE6B-B041-EED7-29B51F5E3D68}"/>
            </a:ext>
          </a:extLst>
        </p:cNvPr>
        <p:cNvGrpSpPr/>
        <p:nvPr/>
      </p:nvGrpSpPr>
      <p:grpSpPr>
        <a:xfrm>
          <a:off x="0" y="0"/>
          <a:ext cx="0" cy="0"/>
          <a:chOff x="0" y="0"/>
          <a:chExt cx="0" cy="0"/>
        </a:xfrm>
      </p:grpSpPr>
      <p:sp>
        <p:nvSpPr>
          <p:cNvPr id="120" name="Google Shape;120;p5:notes">
            <a:extLst>
              <a:ext uri="{FF2B5EF4-FFF2-40B4-BE49-F238E27FC236}">
                <a16:creationId xmlns:a16="http://schemas.microsoft.com/office/drawing/2014/main" id="{AB83101D-367B-1B9B-B18A-E6E4B8D1F7E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a:extLst>
              <a:ext uri="{FF2B5EF4-FFF2-40B4-BE49-F238E27FC236}">
                <a16:creationId xmlns:a16="http://schemas.microsoft.com/office/drawing/2014/main" id="{B4C43C2F-7B64-3E3C-8414-244F4CD673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0213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D7886DB4-63E6-84C8-FBA4-0CC707773180}"/>
            </a:ext>
          </a:extLst>
        </p:cNvPr>
        <p:cNvGrpSpPr/>
        <p:nvPr/>
      </p:nvGrpSpPr>
      <p:grpSpPr>
        <a:xfrm>
          <a:off x="0" y="0"/>
          <a:ext cx="0" cy="0"/>
          <a:chOff x="0" y="0"/>
          <a:chExt cx="0" cy="0"/>
        </a:xfrm>
      </p:grpSpPr>
      <p:sp>
        <p:nvSpPr>
          <p:cNvPr id="127" name="Google Shape;127;p6:notes">
            <a:extLst>
              <a:ext uri="{FF2B5EF4-FFF2-40B4-BE49-F238E27FC236}">
                <a16:creationId xmlns:a16="http://schemas.microsoft.com/office/drawing/2014/main" id="{827D004A-6735-66BA-7D34-D2FA8F6939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a:extLst>
              <a:ext uri="{FF2B5EF4-FFF2-40B4-BE49-F238E27FC236}">
                <a16:creationId xmlns:a16="http://schemas.microsoft.com/office/drawing/2014/main" id="{4B8D04FC-9B15-40B0-424B-0675F832D3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970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100965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Calibri"/>
                <a:ea typeface="Calibri"/>
                <a:cs typeface="Calibri"/>
                <a:sym typeface="Calibri"/>
              </a:defRPr>
            </a:lvl1pPr>
            <a:lvl2pPr marL="0" lvl="1" indent="0" algn="r">
              <a:spcBef>
                <a:spcPts val="0"/>
              </a:spcBef>
              <a:buNone/>
              <a:defRPr sz="1200" b="0" i="0" u="none" strike="noStrike" cap="none">
                <a:solidFill>
                  <a:schemeClr val="lt1"/>
                </a:solidFill>
                <a:latin typeface="Calibri"/>
                <a:ea typeface="Calibri"/>
                <a:cs typeface="Calibri"/>
                <a:sym typeface="Calibri"/>
              </a:defRPr>
            </a:lvl2pPr>
            <a:lvl3pPr marL="0" lvl="2" indent="0" algn="r">
              <a:spcBef>
                <a:spcPts val="0"/>
              </a:spcBef>
              <a:buNone/>
              <a:defRPr sz="1200" b="0" i="0" u="none" strike="noStrike" cap="none">
                <a:solidFill>
                  <a:schemeClr val="lt1"/>
                </a:solidFill>
                <a:latin typeface="Calibri"/>
                <a:ea typeface="Calibri"/>
                <a:cs typeface="Calibri"/>
                <a:sym typeface="Calibri"/>
              </a:defRPr>
            </a:lvl3pPr>
            <a:lvl4pPr marL="0" lvl="3" indent="0" algn="r">
              <a:spcBef>
                <a:spcPts val="0"/>
              </a:spcBef>
              <a:buNone/>
              <a:defRPr sz="1200" b="0" i="0" u="none" strike="noStrike" cap="none">
                <a:solidFill>
                  <a:schemeClr val="lt1"/>
                </a:solidFill>
                <a:latin typeface="Calibri"/>
                <a:ea typeface="Calibri"/>
                <a:cs typeface="Calibri"/>
                <a:sym typeface="Calibri"/>
              </a:defRPr>
            </a:lvl4pPr>
            <a:lvl5pPr marL="0" lvl="4" indent="0" algn="r">
              <a:spcBef>
                <a:spcPts val="0"/>
              </a:spcBef>
              <a:buNone/>
              <a:defRPr sz="1200" b="0" i="0" u="none" strike="noStrike" cap="none">
                <a:solidFill>
                  <a:schemeClr val="lt1"/>
                </a:solidFill>
                <a:latin typeface="Calibri"/>
                <a:ea typeface="Calibri"/>
                <a:cs typeface="Calibri"/>
                <a:sym typeface="Calibri"/>
              </a:defRPr>
            </a:lvl5pPr>
            <a:lvl6pPr marL="0" lvl="5" indent="0" algn="r">
              <a:spcBef>
                <a:spcPts val="0"/>
              </a:spcBef>
              <a:buNone/>
              <a:defRPr sz="1200" b="0" i="0" u="none" strike="noStrike" cap="none">
                <a:solidFill>
                  <a:schemeClr val="lt1"/>
                </a:solidFill>
                <a:latin typeface="Calibri"/>
                <a:ea typeface="Calibri"/>
                <a:cs typeface="Calibri"/>
                <a:sym typeface="Calibri"/>
              </a:defRPr>
            </a:lvl6pPr>
            <a:lvl7pPr marL="0" lvl="6" indent="0" algn="r">
              <a:spcBef>
                <a:spcPts val="0"/>
              </a:spcBef>
              <a:buNone/>
              <a:defRPr sz="1200" b="0" i="0" u="none" strike="noStrike" cap="none">
                <a:solidFill>
                  <a:schemeClr val="lt1"/>
                </a:solidFill>
                <a:latin typeface="Calibri"/>
                <a:ea typeface="Calibri"/>
                <a:cs typeface="Calibri"/>
                <a:sym typeface="Calibri"/>
              </a:defRPr>
            </a:lvl7pPr>
            <a:lvl8pPr marL="0" lvl="7" indent="0" algn="r">
              <a:spcBef>
                <a:spcPts val="0"/>
              </a:spcBef>
              <a:buNone/>
              <a:defRPr sz="1200" b="0" i="0" u="none" strike="noStrike" cap="none">
                <a:solidFill>
                  <a:schemeClr val="lt1"/>
                </a:solidFill>
                <a:latin typeface="Calibri"/>
                <a:ea typeface="Calibri"/>
                <a:cs typeface="Calibri"/>
                <a:sym typeface="Calibri"/>
              </a:defRPr>
            </a:lvl8pPr>
            <a:lvl9pPr marL="0" lvl="8" indent="0" algn="r">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6525369" y="1812218"/>
            <a:ext cx="5514300" cy="202050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a:buNone/>
            </a:pPr>
            <a:r>
              <a:rPr lang="en-US" sz="2000" b="1" i="0" u="none" strike="noStrike" cap="none" dirty="0">
                <a:solidFill>
                  <a:srgbClr val="17365D"/>
                </a:solidFill>
                <a:latin typeface="Cambria" panose="02040503050406030204" pitchFamily="18" charset="0"/>
                <a:ea typeface="Cambria" panose="02040503050406030204" pitchFamily="18" charset="0"/>
                <a:cs typeface="Cambria"/>
                <a:sym typeface="Cambria"/>
              </a:rPr>
              <a:t>Under the Supervision</a:t>
            </a:r>
            <a:r>
              <a:rPr lang="en-US" sz="2000" b="1" dirty="0">
                <a:solidFill>
                  <a:srgbClr val="17365D"/>
                </a:solidFill>
                <a:latin typeface="Cambria" panose="02040503050406030204" pitchFamily="18" charset="0"/>
                <a:ea typeface="Cambria" panose="02040503050406030204" pitchFamily="18" charset="0"/>
                <a:cs typeface="Cambria"/>
                <a:sym typeface="Cambria"/>
              </a:rPr>
              <a:t>:</a:t>
            </a:r>
            <a:endParaRPr sz="1800" b="0" i="0" u="none" strike="noStrike" cap="none" dirty="0">
              <a:solidFill>
                <a:schemeClr val="dk1"/>
              </a:solidFill>
              <a:latin typeface="Cambria" panose="02040503050406030204" pitchFamily="18" charset="0"/>
              <a:ea typeface="Cambria" panose="02040503050406030204" pitchFamily="18" charset="0"/>
              <a:cs typeface="Cambria"/>
              <a:sym typeface="Cambria"/>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Cambria"/>
              <a:sym typeface="Cambria"/>
            </a:endParaRPr>
          </a:p>
          <a:p>
            <a:pPr lvl="0">
              <a:spcBef>
                <a:spcPts val="340"/>
              </a:spcBef>
              <a:buClr>
                <a:srgbClr val="17365D"/>
              </a:buClr>
              <a:buSzPts val="1700"/>
            </a:pPr>
            <a:r>
              <a:rPr lang="en-US" sz="1600" dirty="0">
                <a:latin typeface="Cambria" panose="02040503050406030204" pitchFamily="18" charset="0"/>
                <a:ea typeface="Cambria" panose="02040503050406030204" pitchFamily="18" charset="0"/>
              </a:rPr>
              <a:t> </a:t>
            </a:r>
            <a:r>
              <a:rPr lang="en-US" sz="17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Mr. </a:t>
            </a:r>
            <a:r>
              <a:rPr lang="en-US" sz="1700" b="1" dirty="0" err="1">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Sahabzada</a:t>
            </a:r>
            <a:r>
              <a:rPr lang="en-US" sz="17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 Betab Badar</a:t>
            </a:r>
            <a:endParaRPr lang="en-US" sz="1800" b="1"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Times New Roman" panose="02020603050405020304" pitchFamily="18" charset="0"/>
                <a:sym typeface="Verdana"/>
              </a:rPr>
              <a:t> Assistant Professor</a:t>
            </a: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Times New Roman" panose="02020603050405020304" pitchFamily="18" charset="0"/>
                <a:sym typeface="Verdana"/>
              </a:rPr>
              <a:t> School of Computer Science and Engineering</a:t>
            </a: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Times New Roman" panose="02020603050405020304" pitchFamily="18" charset="0"/>
                <a:sym typeface="Verdana"/>
              </a:rPr>
              <a:t> Presidency University</a:t>
            </a:r>
            <a:endParaRPr sz="2000" b="1" i="0" u="none" strike="noStrike" cap="none" dirty="0">
              <a:solidFill>
                <a:srgbClr val="17365D"/>
              </a:solidFill>
              <a:latin typeface="Cambria" panose="02040503050406030204" pitchFamily="18" charset="0"/>
              <a:ea typeface="Cambria" panose="02040503050406030204" pitchFamily="18" charset="0"/>
              <a:cs typeface="Cambria"/>
              <a:sym typeface="Cambria"/>
            </a:endParaRPr>
          </a:p>
        </p:txBody>
      </p:sp>
      <p:sp>
        <p:nvSpPr>
          <p:cNvPr id="89" name="Google Shape;89;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Name of the Program: </a:t>
            </a:r>
            <a:r>
              <a:rPr lang="en-US" sz="20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B. Tech Computer Science and Technology (Devops)</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HoD</a:t>
            </a: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 </a:t>
            </a:r>
            <a:r>
              <a:rPr lang="en-US" sz="20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Dr. Pravinthraja S</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Name of the Program Project Coordinator: </a:t>
            </a:r>
            <a:r>
              <a:rPr lang="en-US" sz="2000" b="1" dirty="0">
                <a:solidFill>
                  <a:srgbClr val="FF0000"/>
                </a:solidFill>
                <a:latin typeface="Cambria" panose="02040503050406030204" pitchFamily="18" charset="0"/>
                <a:ea typeface="Cambria" panose="02040503050406030204" pitchFamily="18" charset="0"/>
                <a:cs typeface="Times New Roman" panose="02020603050405020304" pitchFamily="18" charset="0"/>
                <a:sym typeface="Verdana"/>
              </a:rPr>
              <a:t> </a:t>
            </a:r>
            <a:r>
              <a:rPr lang="en-US" sz="20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Dr. H M Manjula</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Name of the School Project Coordinators: </a:t>
            </a:r>
            <a:r>
              <a:rPr lang="en-US" sz="20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Dr. Sampath A K , Dr. Geetha A </a:t>
            </a:r>
          </a:p>
        </p:txBody>
      </p:sp>
      <p:sp>
        <p:nvSpPr>
          <p:cNvPr id="90" name="Google Shape;90;p13"/>
          <p:cNvSpPr txBox="1"/>
          <p:nvPr/>
        </p:nvSpPr>
        <p:spPr>
          <a:xfrm>
            <a:off x="838200" y="203035"/>
            <a:ext cx="10515600" cy="1560060"/>
          </a:xfrm>
          <a:prstGeom prst="rect">
            <a:avLst/>
          </a:prstGeom>
          <a:noFill/>
          <a:ln>
            <a:noFill/>
          </a:ln>
        </p:spPr>
        <p:txBody>
          <a:bodyPr spcFirstLastPara="1" wrap="square" lIns="91425" tIns="45700" rIns="91425" bIns="45700" anchor="ctr" anchorCtr="0">
            <a:noAutofit/>
          </a:bodyPr>
          <a:lstStyle/>
          <a:p>
            <a:pPr lvl="0" algn="ctr">
              <a:buClr>
                <a:srgbClr val="17365D"/>
              </a:buClr>
              <a:buSzPts val="2800"/>
            </a:pPr>
            <a:r>
              <a:rPr lang="en-US" sz="2800" b="1" dirty="0">
                <a:solidFill>
                  <a:srgbClr val="2F5496"/>
                </a:solidFill>
                <a:latin typeface="Times New Roman"/>
                <a:ea typeface="Times New Roman"/>
                <a:cs typeface="Times New Roman"/>
                <a:sym typeface="Times New Roman"/>
              </a:rPr>
              <a:t>CSE 7302</a:t>
            </a:r>
            <a:r>
              <a:rPr lang="en-US" sz="2800" b="1" i="0" u="none" strike="noStrike" cap="none" dirty="0">
                <a:solidFill>
                  <a:srgbClr val="2F5496"/>
                </a:solidFill>
                <a:latin typeface="Times New Roman"/>
                <a:ea typeface="Times New Roman"/>
                <a:cs typeface="Times New Roman"/>
                <a:sym typeface="Times New Roman"/>
              </a:rPr>
              <a:t> – University Project</a:t>
            </a:r>
            <a:br>
              <a:rPr lang="en-US" sz="2800" b="1" i="0" u="none" strike="noStrike" cap="none" dirty="0">
                <a:solidFill>
                  <a:srgbClr val="FF0000"/>
                </a:solidFill>
                <a:latin typeface="Times New Roman"/>
                <a:ea typeface="Times New Roman"/>
                <a:cs typeface="Times New Roman"/>
                <a:sym typeface="Times New Roman"/>
              </a:rPr>
            </a:br>
            <a:r>
              <a:rPr lang="en-US" sz="2400" b="1" i="0" u="none" strike="noStrike" cap="none" dirty="0">
                <a:solidFill>
                  <a:srgbClr val="0070C0"/>
                </a:solidFill>
                <a:latin typeface="Times New Roman"/>
                <a:ea typeface="Times New Roman"/>
                <a:cs typeface="Times New Roman"/>
                <a:sym typeface="Times New Roman"/>
              </a:rPr>
              <a:t>Review-2 Presentation </a:t>
            </a:r>
            <a:br>
              <a:rPr lang="en-US" sz="2400" b="1" i="0" u="none" strike="noStrike" cap="none" dirty="0">
                <a:solidFill>
                  <a:srgbClr val="0070C0"/>
                </a:solidFill>
                <a:latin typeface="Times New Roman"/>
                <a:ea typeface="Times New Roman"/>
                <a:cs typeface="Times New Roman"/>
                <a:sym typeface="Times New Roman"/>
              </a:rPr>
            </a:br>
            <a:r>
              <a:rPr lang="en-US" sz="2400" b="1" dirty="0">
                <a:solidFill>
                  <a:schemeClr val="accent1"/>
                </a:solidFill>
                <a:latin typeface="Times New Roman" panose="02020603050405020304" pitchFamily="18" charset="0"/>
                <a:cs typeface="Times New Roman" panose="02020603050405020304" pitchFamily="18" charset="0"/>
              </a:rPr>
              <a:t>Image based Animal Type Classification for cattle and buffaloes</a:t>
            </a:r>
            <a:br>
              <a:rPr lang="en-US" sz="2400" b="1" i="0" u="none" strike="noStrike" cap="none" dirty="0">
                <a:solidFill>
                  <a:srgbClr val="0070C0"/>
                </a:solidFill>
                <a:latin typeface="Times New Roman"/>
                <a:ea typeface="Times New Roman"/>
                <a:cs typeface="Times New Roman"/>
                <a:sym typeface="Times New Roman"/>
              </a:rPr>
            </a:br>
            <a:endParaRPr sz="2400" b="1" i="0" u="none" strike="noStrike" cap="none" dirty="0">
              <a:solidFill>
                <a:srgbClr val="17365D"/>
              </a:solidFill>
              <a:latin typeface="Times New Roman"/>
              <a:ea typeface="Times New Roman"/>
              <a:cs typeface="Times New Roman"/>
              <a:sym typeface="Times New Roman"/>
            </a:endParaRPr>
          </a:p>
        </p:txBody>
      </p:sp>
      <p:graphicFrame>
        <p:nvGraphicFramePr>
          <p:cNvPr id="91" name="Google Shape;91;p13"/>
          <p:cNvGraphicFramePr/>
          <p:nvPr>
            <p:extLst>
              <p:ext uri="{D42A27DB-BD31-4B8C-83A1-F6EECF244321}">
                <p14:modId xmlns:p14="http://schemas.microsoft.com/office/powerpoint/2010/main" val="4061353776"/>
              </p:ext>
            </p:extLst>
          </p:nvPr>
        </p:nvGraphicFramePr>
        <p:xfrm>
          <a:off x="601909" y="1911875"/>
          <a:ext cx="5228620" cy="1828850"/>
        </p:xfrm>
        <a:graphic>
          <a:graphicData uri="http://schemas.openxmlformats.org/drawingml/2006/table">
            <a:tbl>
              <a:tblPr firstRow="1" bandRow="1">
                <a:noFill/>
                <a:tableStyleId>{397DC194-C198-4E2C-BDF8-BB93FAE9738C}</a:tableStyleId>
              </a:tblPr>
              <a:tblGrid>
                <a:gridCol w="1804420">
                  <a:extLst>
                    <a:ext uri="{9D8B030D-6E8A-4147-A177-3AD203B41FA5}">
                      <a16:colId xmlns:a16="http://schemas.microsoft.com/office/drawing/2014/main" val="20000"/>
                    </a:ext>
                  </a:extLst>
                </a:gridCol>
                <a:gridCol w="3424200">
                  <a:extLst>
                    <a:ext uri="{9D8B030D-6E8A-4147-A177-3AD203B41FA5}">
                      <a16:colId xmlns:a16="http://schemas.microsoft.com/office/drawing/2014/main" val="20001"/>
                    </a:ext>
                  </a:extLst>
                </a:gridCol>
              </a:tblGrid>
              <a:tr h="241258">
                <a:tc gridSpan="2">
                  <a:txBody>
                    <a:bodyPr/>
                    <a:lstStyle/>
                    <a:p>
                      <a:pPr marL="0" marR="0" lvl="0" indent="0" algn="ctr" rtl="0">
                        <a:spcBef>
                          <a:spcPts val="0"/>
                        </a:spcBef>
                        <a:spcAft>
                          <a:spcPts val="0"/>
                        </a:spcAft>
                        <a:buNone/>
                      </a:pPr>
                      <a:r>
                        <a:rPr lang="en-US" sz="1800" u="none" strike="noStrike" cap="none">
                          <a:latin typeface="Cambria"/>
                          <a:ea typeface="Cambria"/>
                          <a:cs typeface="Cambria"/>
                          <a:sym typeface="Cambria"/>
                        </a:rPr>
                        <a:t>Student Details</a:t>
                      </a:r>
                      <a:endParaRPr/>
                    </a:p>
                  </a:txBody>
                  <a:tcPr marL="91450" marR="91450" marT="45725" marB="45725"/>
                </a:tc>
                <a:tc hMerge="1">
                  <a:txBody>
                    <a:bodyPr/>
                    <a:lstStyle/>
                    <a:p>
                      <a:endParaRPr lang="en-US"/>
                    </a:p>
                  </a:txBody>
                  <a:tcPr/>
                </a:tc>
                <a:extLst>
                  <a:ext uri="{0D108BD9-81ED-4DB2-BD59-A6C34878D82A}">
                    <a16:rowId xmlns:a16="http://schemas.microsoft.com/office/drawing/2014/main" val="10000"/>
                  </a:ext>
                </a:extLst>
              </a:tr>
              <a:tr h="241258">
                <a:tc>
                  <a:txBody>
                    <a:bodyPr/>
                    <a:lstStyle/>
                    <a:p>
                      <a:pPr marL="0" marR="0" lvl="0" indent="0" algn="l" rtl="0">
                        <a:spcBef>
                          <a:spcPts val="0"/>
                        </a:spcBef>
                        <a:spcAft>
                          <a:spcPts val="0"/>
                        </a:spcAft>
                        <a:buNone/>
                      </a:pPr>
                      <a:r>
                        <a:rPr lang="en-US" sz="1800" b="1" u="none" strike="noStrike" cap="none" dirty="0">
                          <a:latin typeface="Cambria"/>
                          <a:ea typeface="Cambria"/>
                          <a:cs typeface="Cambria"/>
                          <a:sym typeface="Cambria"/>
                        </a:rPr>
                        <a:t>Name</a:t>
                      </a:r>
                      <a:endParaRPr dirty="0"/>
                    </a:p>
                  </a:txBody>
                  <a:tcPr marL="91450" marR="91450" marT="45725" marB="45725"/>
                </a:tc>
                <a:tc>
                  <a:txBody>
                    <a:bodyPr/>
                    <a:lstStyle/>
                    <a:p>
                      <a:pPr marL="0" marR="0" lvl="0" indent="0" algn="ctr" rtl="0">
                        <a:spcBef>
                          <a:spcPts val="0"/>
                        </a:spcBef>
                        <a:spcAft>
                          <a:spcPts val="0"/>
                        </a:spcAft>
                        <a:buNone/>
                      </a:pPr>
                      <a:r>
                        <a:rPr lang="en-US" sz="1800" b="1" u="none" strike="noStrike" cap="none" dirty="0">
                          <a:latin typeface="Cambria"/>
                          <a:ea typeface="Cambria"/>
                          <a:cs typeface="Cambria"/>
                          <a:sym typeface="Cambria"/>
                        </a:rPr>
                        <a:t>Roll No</a:t>
                      </a:r>
                      <a:endParaRPr b="1" dirty="0"/>
                    </a:p>
                  </a:txBody>
                  <a:tcPr marL="91450" marR="91450" marT="45725" marB="45725"/>
                </a:tc>
                <a:extLst>
                  <a:ext uri="{0D108BD9-81ED-4DB2-BD59-A6C34878D82A}">
                    <a16:rowId xmlns:a16="http://schemas.microsoft.com/office/drawing/2014/main" val="10001"/>
                  </a:ext>
                </a:extLst>
              </a:tr>
              <a:tr h="241258">
                <a:tc>
                  <a:txBody>
                    <a:bodyPr/>
                    <a:lstStyle/>
                    <a:p>
                      <a:pPr marL="0" marR="0" lvl="0" indent="0" algn="l" rtl="0">
                        <a:spcBef>
                          <a:spcPts val="0"/>
                        </a:spcBef>
                        <a:spcAft>
                          <a:spcPts val="0"/>
                        </a:spcAft>
                        <a:buNone/>
                      </a:pPr>
                      <a:r>
                        <a:rPr lang="en-US" sz="1800" b="0" u="none" strike="noStrike" cap="none" dirty="0">
                          <a:latin typeface="Cambria"/>
                          <a:ea typeface="Cambria"/>
                          <a:sym typeface="Cambria"/>
                        </a:rPr>
                        <a:t>Harshitha. KJ</a:t>
                      </a:r>
                      <a:endParaRPr b="0" dirty="0"/>
                    </a:p>
                  </a:txBody>
                  <a:tcPr marL="91450" marR="91450" marT="45725" marB="45725"/>
                </a:tc>
                <a:tc>
                  <a:txBody>
                    <a:bodyPr/>
                    <a:lstStyle/>
                    <a:p>
                      <a:pPr marL="0" marR="0" lvl="0" indent="0" algn="ctr" rtl="0">
                        <a:spcBef>
                          <a:spcPts val="0"/>
                        </a:spcBef>
                        <a:spcAft>
                          <a:spcPts val="0"/>
                        </a:spcAft>
                        <a:buNone/>
                      </a:pPr>
                      <a:r>
                        <a:rPr lang="en-US" sz="1800" u="none" strike="noStrike" cap="none" dirty="0">
                          <a:latin typeface="Cambria"/>
                          <a:ea typeface="Cambria"/>
                          <a:cs typeface="Cambria"/>
                          <a:sym typeface="Cambria"/>
                        </a:rPr>
                        <a:t>20221CDV0026</a:t>
                      </a:r>
                      <a:endParaRPr dirty="0"/>
                    </a:p>
                  </a:txBody>
                  <a:tcPr marL="91450" marR="91450" marT="45725" marB="45725"/>
                </a:tc>
                <a:extLst>
                  <a:ext uri="{0D108BD9-81ED-4DB2-BD59-A6C34878D82A}">
                    <a16:rowId xmlns:a16="http://schemas.microsoft.com/office/drawing/2014/main" val="10002"/>
                  </a:ext>
                </a:extLst>
              </a:tr>
              <a:tr h="241258">
                <a:tc>
                  <a:txBody>
                    <a:bodyPr/>
                    <a:lstStyle/>
                    <a:p>
                      <a:pPr marL="0" marR="0" lvl="0" indent="0" algn="l" rtl="0">
                        <a:spcBef>
                          <a:spcPts val="0"/>
                        </a:spcBef>
                        <a:spcAft>
                          <a:spcPts val="0"/>
                        </a:spcAft>
                        <a:buNone/>
                      </a:pPr>
                      <a:r>
                        <a:rPr lang="en-US" sz="1800" b="0" u="none" strike="noStrike" cap="none" dirty="0">
                          <a:latin typeface="Cambria"/>
                          <a:ea typeface="Cambria"/>
                          <a:cs typeface="Cambria"/>
                          <a:sym typeface="Cambria"/>
                        </a:rPr>
                        <a:t>Susmitha.S</a:t>
                      </a:r>
                      <a:endParaRPr b="0" dirty="0"/>
                    </a:p>
                  </a:txBody>
                  <a:tcPr marL="91450" marR="91450" marT="45725" marB="45725"/>
                </a:tc>
                <a:tc>
                  <a:txBody>
                    <a:bodyPr/>
                    <a:lstStyle/>
                    <a:p>
                      <a:pPr marL="0" marR="0" lvl="0" indent="0" algn="ctr" rtl="0">
                        <a:spcBef>
                          <a:spcPts val="0"/>
                        </a:spcBef>
                        <a:spcAft>
                          <a:spcPts val="0"/>
                        </a:spcAft>
                        <a:buNone/>
                      </a:pPr>
                      <a:r>
                        <a:rPr lang="en-US" sz="1800" u="none" strike="noStrike" cap="none" dirty="0">
                          <a:latin typeface="Cambria"/>
                          <a:ea typeface="Cambria"/>
                          <a:cs typeface="Cambria"/>
                          <a:sym typeface="Cambria"/>
                        </a:rPr>
                        <a:t>20221CDV0038</a:t>
                      </a:r>
                      <a:endParaRPr dirty="0"/>
                    </a:p>
                  </a:txBody>
                  <a:tcPr marL="91450" marR="91450" marT="45725" marB="45725"/>
                </a:tc>
                <a:extLst>
                  <a:ext uri="{0D108BD9-81ED-4DB2-BD59-A6C34878D82A}">
                    <a16:rowId xmlns:a16="http://schemas.microsoft.com/office/drawing/2014/main" val="10003"/>
                  </a:ext>
                </a:extLst>
              </a:tr>
              <a:tr h="238953">
                <a:tc>
                  <a:txBody>
                    <a:bodyPr/>
                    <a:lstStyle/>
                    <a:p>
                      <a:pPr marL="0" marR="0" lvl="0" indent="0" algn="l" rtl="0">
                        <a:spcBef>
                          <a:spcPts val="0"/>
                        </a:spcBef>
                        <a:spcAft>
                          <a:spcPts val="0"/>
                        </a:spcAft>
                        <a:buNone/>
                      </a:pPr>
                      <a:r>
                        <a:rPr lang="en-US" sz="1800" b="0" dirty="0">
                          <a:latin typeface="Cambria" panose="02040503050406030204" pitchFamily="18" charset="0"/>
                          <a:ea typeface="Cambria" panose="02040503050406030204" pitchFamily="18" charset="0"/>
                        </a:rPr>
                        <a:t>Greeshma</a:t>
                      </a:r>
                      <a:endParaRPr sz="1800" b="0" dirty="0">
                        <a:latin typeface="Cambria" panose="02040503050406030204" pitchFamily="18" charset="0"/>
                        <a:ea typeface="Cambria" panose="02040503050406030204" pitchFamily="18" charset="0"/>
                      </a:endParaRPr>
                    </a:p>
                  </a:txBody>
                  <a:tcPr marL="91450" marR="91450" marT="45725" marB="45725"/>
                </a:tc>
                <a:tc>
                  <a:txBody>
                    <a:bodyPr/>
                    <a:lstStyle/>
                    <a:p>
                      <a:pPr marL="0" marR="0" lvl="0" indent="0" algn="ctr" rtl="0">
                        <a:spcBef>
                          <a:spcPts val="0"/>
                        </a:spcBef>
                        <a:spcAft>
                          <a:spcPts val="0"/>
                        </a:spcAft>
                        <a:buNone/>
                      </a:pPr>
                      <a:r>
                        <a:rPr lang="en-US" sz="1800" dirty="0">
                          <a:latin typeface="Cambria" panose="02040503050406030204" pitchFamily="18" charset="0"/>
                          <a:ea typeface="Cambria" panose="02040503050406030204" pitchFamily="18" charset="0"/>
                        </a:rPr>
                        <a:t>20221CDV0040</a:t>
                      </a:r>
                      <a:endParaRPr sz="1800" dirty="0">
                        <a:latin typeface="Cambria" panose="02040503050406030204" pitchFamily="18" charset="0"/>
                        <a:ea typeface="Cambria" panose="02040503050406030204" pitchFamily="18" charset="0"/>
                      </a:endParaRPr>
                    </a:p>
                  </a:txBody>
                  <a:tcPr marL="91450" marR="91450" marT="45725" marB="45725"/>
                </a:tc>
                <a:extLst>
                  <a:ext uri="{0D108BD9-81ED-4DB2-BD59-A6C34878D82A}">
                    <a16:rowId xmlns:a16="http://schemas.microsoft.com/office/drawing/2014/main" val="102747681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989781" y="658096"/>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17365D"/>
              </a:buClr>
              <a:buSzPts val="2800"/>
              <a:buFont typeface="Verdana"/>
              <a:buNone/>
            </a:pPr>
            <a:r>
              <a:rPr lang="en-US" sz="5000" b="1" dirty="0">
                <a:solidFill>
                  <a:schemeClr val="accent1"/>
                </a:solidFill>
                <a:latin typeface="Times New Roman"/>
                <a:ea typeface="Times New Roman"/>
                <a:cs typeface="Times New Roman"/>
                <a:sym typeface="Times New Roman"/>
              </a:rPr>
              <a:t>C</a:t>
            </a:r>
            <a:r>
              <a:rPr lang="en-US" sz="3200" b="1" dirty="0">
                <a:solidFill>
                  <a:schemeClr val="accent1"/>
                </a:solidFill>
                <a:latin typeface="Times New Roman"/>
                <a:ea typeface="Times New Roman"/>
                <a:cs typeface="Times New Roman"/>
                <a:sym typeface="Times New Roman"/>
              </a:rPr>
              <a:t>ontent:</a:t>
            </a:r>
          </a:p>
        </p:txBody>
      </p:sp>
      <p:sp>
        <p:nvSpPr>
          <p:cNvPr id="97" name="Google Shape;97;p14"/>
          <p:cNvSpPr txBox="1">
            <a:spLocks noGrp="1"/>
          </p:cNvSpPr>
          <p:nvPr>
            <p:ph type="body" idx="1"/>
          </p:nvPr>
        </p:nvSpPr>
        <p:spPr>
          <a:xfrm>
            <a:off x="762000" y="1293395"/>
            <a:ext cx="10668000" cy="4271209"/>
          </a:xfrm>
          <a:prstGeom prst="rect">
            <a:avLst/>
          </a:prstGeom>
          <a:noFill/>
          <a:ln>
            <a:noFill/>
          </a:ln>
        </p:spPr>
        <p:txBody>
          <a:bodyPr spcFirstLastPara="1" wrap="square" lIns="91425" tIns="45700" rIns="91425" bIns="45700" anchor="t" anchorCtr="0">
            <a:noAutofit/>
          </a:bodyPr>
          <a:lstStyle/>
          <a:p>
            <a:pPr marL="609600" indent="-457200" algn="just">
              <a:lnSpc>
                <a:spcPct val="15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Introduction</a:t>
            </a:r>
          </a:p>
          <a:p>
            <a:pPr marL="609600" indent="-457200" algn="just">
              <a:lnSpc>
                <a:spcPct val="15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Literature Survey</a:t>
            </a:r>
          </a:p>
          <a:p>
            <a:pPr marL="609600" indent="-457200" algn="just">
              <a:lnSpc>
                <a:spcPct val="15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Research Gap</a:t>
            </a:r>
          </a:p>
          <a:p>
            <a:pPr marL="609600" indent="-457200" algn="just">
              <a:lnSpc>
                <a:spcPct val="15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Proposed System Design</a:t>
            </a:r>
          </a:p>
          <a:p>
            <a:pPr marL="609600" indent="-457200" algn="just">
              <a:lnSpc>
                <a:spcPct val="15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Tools &amp; Technologies</a:t>
            </a:r>
          </a:p>
          <a:p>
            <a:pPr marL="152400" lvl="0" indent="0" algn="just">
              <a:lnSpc>
                <a:spcPct val="200000"/>
              </a:lnSpc>
              <a:spcBef>
                <a:spcPts val="0"/>
              </a:spcBef>
              <a:buSzPts val="2400"/>
              <a:buNone/>
            </a:pPr>
            <a:endParaRPr lang="en-US" sz="2200" dirty="0">
              <a:latin typeface="Cambria" panose="02040503050406030204" pitchFamily="18" charset="0"/>
              <a:ea typeface="Cambria" panose="02040503050406030204" pitchFamily="18" charset="0"/>
            </a:endParaRPr>
          </a:p>
          <a:p>
            <a:pPr marL="609600" lvl="0" indent="-457200" algn="just">
              <a:lnSpc>
                <a:spcPct val="200000"/>
              </a:lnSpc>
              <a:spcBef>
                <a:spcPts val="0"/>
              </a:spcBef>
              <a:buSzPts val="2400"/>
              <a:buFont typeface="+mj-lt"/>
              <a:buAutoNum type="arabicPeriod"/>
            </a:pPr>
            <a:endParaRPr lang="en-US" sz="2200" dirty="0">
              <a:latin typeface="Cambria" panose="02040503050406030204" pitchFamily="18" charset="0"/>
              <a:ea typeface="Cambria" panose="02040503050406030204" pitchFamily="18" charset="0"/>
            </a:endParaRPr>
          </a:p>
          <a:p>
            <a:pPr marL="152400" lvl="0" indent="0" algn="just">
              <a:lnSpc>
                <a:spcPct val="200000"/>
              </a:lnSpc>
              <a:spcBef>
                <a:spcPts val="0"/>
              </a:spcBef>
              <a:buSzPts val="2400"/>
              <a:buNone/>
            </a:pPr>
            <a:endParaRPr lang="en-US" sz="22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838200" y="365126"/>
            <a:ext cx="10515600" cy="679800"/>
          </a:xfrm>
          <a:prstGeom prst="rect">
            <a:avLst/>
          </a:prstGeom>
          <a:noFill/>
          <a:ln>
            <a:noFill/>
          </a:ln>
        </p:spPr>
        <p:txBody>
          <a:bodyPr spcFirstLastPara="1" wrap="square" lIns="91425" tIns="45700" rIns="91425" bIns="45700" anchor="ctr" anchorCtr="0">
            <a:normAutofit/>
          </a:bodyPr>
          <a:lstStyle/>
          <a:p>
            <a:pPr lvl="0">
              <a:buClr>
                <a:srgbClr val="0070C0"/>
              </a:buClr>
              <a:buSzPct val="56692"/>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I</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ntroduction:</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03" name="Google Shape;103;p15"/>
          <p:cNvSpPr txBox="1">
            <a:spLocks noGrp="1"/>
          </p:cNvSpPr>
          <p:nvPr>
            <p:ph type="body" idx="1"/>
          </p:nvPr>
        </p:nvSpPr>
        <p:spPr>
          <a:xfrm>
            <a:off x="326923" y="1044926"/>
            <a:ext cx="10515600" cy="4613700"/>
          </a:xfrm>
          <a:prstGeom prst="rect">
            <a:avLst/>
          </a:prstGeom>
          <a:noFill/>
          <a:ln>
            <a:noFill/>
          </a:ln>
        </p:spPr>
        <p:txBody>
          <a:bodyPr spcFirstLastPara="1" wrap="square" lIns="91425" tIns="45700" rIns="91425" bIns="45700" anchor="t" anchorCtr="0">
            <a:noAutofit/>
          </a:bodyPr>
          <a:lstStyle/>
          <a:p>
            <a:pPr marL="571500" lvl="0" indent="-457200" algn="just" eaLnBrk="0" fontAlgn="base" hangingPunct="0">
              <a:lnSpc>
                <a:spcPct val="10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Livestock such as cattle and buffaloes play a vital role in agriculture, dairy production, and the rural economy.</a:t>
            </a: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571500" lvl="0" indent="-457200" algn="just" eaLnBrk="0" fontAlgn="base" hangingPunct="0">
              <a:lnSpc>
                <a:spcPct val="10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Proper identification of animal type is important for farm management, breeding, health monitoring, and insurance.</a:t>
            </a:r>
          </a:p>
          <a:p>
            <a:pPr marL="571500" lvl="0" indent="-4572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571500" lvl="0" indent="-457200" algn="just" eaLnBrk="0" fontAlgn="base" hangingPunct="0">
              <a:lnSpc>
                <a:spcPct val="10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With the growth of artificial intelligence, computer vision can be used to automatically identify animals from images.</a:t>
            </a: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571500" lvl="0" indent="-457200" algn="just" eaLnBrk="0" fontAlgn="base" hangingPunct="0">
              <a:lnSpc>
                <a:spcPct val="10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Image-based classification helps in distinguishing between cattle and buffaloes based on their visual features.</a:t>
            </a:r>
          </a:p>
          <a:p>
            <a:pPr marL="571500" lvl="0" indent="-4572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571500" lvl="0" indent="-457200" algn="just" eaLnBrk="0" fontAlgn="base" hangingPunct="0">
              <a:lnSpc>
                <a:spcPct val="10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This system uses digital images of animals as input for classification.</a:t>
            </a: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indent="-1371600" algn="just">
              <a:lnSpc>
                <a:spcPct val="100000"/>
              </a:lnSpc>
              <a:buFont typeface="+mj-lt"/>
              <a:buAutoNum type="arabicPeriod"/>
            </a:pPr>
            <a:endParaRPr lang="en-IN" sz="2200" dirty="0">
              <a:latin typeface="Times New Roman" panose="02020603050405020304" pitchFamily="18" charset="0"/>
              <a:cs typeface="Times New Roman" panose="02020603050405020304" pitchFamily="18" charset="0"/>
            </a:endParaRPr>
          </a:p>
        </p:txBody>
      </p:sp>
      <p:sp>
        <p:nvSpPr>
          <p:cNvPr id="104" name="Google Shape;10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431CD5E-6ADD-AB6F-4B14-1FB6C9C41300}"/>
            </a:ext>
          </a:extLst>
        </p:cNvPr>
        <p:cNvGrpSpPr/>
        <p:nvPr/>
      </p:nvGrpSpPr>
      <p:grpSpPr>
        <a:xfrm>
          <a:off x="0" y="0"/>
          <a:ext cx="0" cy="0"/>
          <a:chOff x="0" y="0"/>
          <a:chExt cx="0" cy="0"/>
        </a:xfrm>
      </p:grpSpPr>
      <p:sp>
        <p:nvSpPr>
          <p:cNvPr id="102" name="Google Shape;102;p15">
            <a:extLst>
              <a:ext uri="{FF2B5EF4-FFF2-40B4-BE49-F238E27FC236}">
                <a16:creationId xmlns:a16="http://schemas.microsoft.com/office/drawing/2014/main" id="{830AC9D8-C140-0B63-1239-AB677415D802}"/>
              </a:ext>
            </a:extLst>
          </p:cNvPr>
          <p:cNvSpPr txBox="1">
            <a:spLocks noGrp="1"/>
          </p:cNvSpPr>
          <p:nvPr>
            <p:ph type="title"/>
          </p:nvPr>
        </p:nvSpPr>
        <p:spPr>
          <a:xfrm>
            <a:off x="838200" y="365126"/>
            <a:ext cx="10515600" cy="679800"/>
          </a:xfrm>
          <a:prstGeom prst="rect">
            <a:avLst/>
          </a:prstGeom>
          <a:noFill/>
          <a:ln>
            <a:noFill/>
          </a:ln>
        </p:spPr>
        <p:txBody>
          <a:bodyPr spcFirstLastPara="1" wrap="square" lIns="91425" tIns="45700" rIns="91425" bIns="45700" anchor="ctr" anchorCtr="0">
            <a:normAutofit/>
          </a:bodyPr>
          <a:lstStyle/>
          <a:p>
            <a:pPr lvl="0">
              <a:buClr>
                <a:srgbClr val="0070C0"/>
              </a:buClr>
              <a:buSzPct val="56692"/>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I</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ntroduction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ontinued:</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03" name="Google Shape;103;p15">
            <a:extLst>
              <a:ext uri="{FF2B5EF4-FFF2-40B4-BE49-F238E27FC236}">
                <a16:creationId xmlns:a16="http://schemas.microsoft.com/office/drawing/2014/main" id="{38368075-7324-656D-A11D-CC0C8165AD73}"/>
              </a:ext>
            </a:extLst>
          </p:cNvPr>
          <p:cNvSpPr txBox="1">
            <a:spLocks noGrp="1"/>
          </p:cNvSpPr>
          <p:nvPr>
            <p:ph type="body" idx="1"/>
          </p:nvPr>
        </p:nvSpPr>
        <p:spPr>
          <a:xfrm>
            <a:off x="326923" y="1044926"/>
            <a:ext cx="10515600" cy="4613700"/>
          </a:xfrm>
          <a:prstGeom prst="rect">
            <a:avLst/>
          </a:prstGeom>
          <a:noFill/>
          <a:ln>
            <a:noFill/>
          </a:ln>
        </p:spPr>
        <p:txBody>
          <a:bodyPr spcFirstLastPara="1" wrap="square" lIns="91425" tIns="45700" rIns="91425" bIns="45700" anchor="t" anchorCtr="0">
            <a:noAutofit/>
          </a:bodyPr>
          <a:lstStyle/>
          <a:p>
            <a:pPr marL="114300" lvl="0" indent="0" algn="just" eaLnBrk="0" fontAlgn="base" hangingPunct="0">
              <a:spcBef>
                <a:spcPct val="0"/>
              </a:spcBef>
              <a:spcAft>
                <a:spcPct val="0"/>
              </a:spcAft>
              <a:buClrTx/>
              <a:buNone/>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14300" lvl="0" indent="0" eaLnBrk="0" fontAlgn="base" hangingPunct="0">
              <a:spcBef>
                <a:spcPct val="0"/>
              </a:spcBef>
              <a:spcAft>
                <a:spcPct val="0"/>
              </a:spcAft>
              <a:buClrTx/>
              <a:buNone/>
            </a:pPr>
            <a:r>
              <a:rPr lang="en-US" altLang="en-US" sz="2200" dirty="0">
                <a:solidFill>
                  <a:schemeClr val="tx1"/>
                </a:solidFill>
                <a:latin typeface="Times New Roman" panose="02020603050405020304" pitchFamily="18" charset="0"/>
                <a:cs typeface="Times New Roman" panose="02020603050405020304" pitchFamily="18" charset="0"/>
              </a:rPr>
              <a:t>6.   Machine learning and deep learning techniques analyze patterns such as shape, texture,                             horns, and body structure.</a:t>
            </a:r>
          </a:p>
        </p:txBody>
      </p:sp>
      <p:sp>
        <p:nvSpPr>
          <p:cNvPr id="104" name="Google Shape;104;p15">
            <a:extLst>
              <a:ext uri="{FF2B5EF4-FFF2-40B4-BE49-F238E27FC236}">
                <a16:creationId xmlns:a16="http://schemas.microsoft.com/office/drawing/2014/main" id="{CF3BACBC-37AA-6A71-D32C-830A3162F60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889899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L</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iterature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eview:</a:t>
            </a:r>
            <a:endParaRPr lang="en-US" sz="3200" dirty="0">
              <a:solidFill>
                <a:schemeClr val="accent1"/>
              </a:solidFill>
            </a:endParaRPr>
          </a:p>
        </p:txBody>
      </p:sp>
      <p:sp>
        <p:nvSpPr>
          <p:cNvPr id="111" name="Google Shape;11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6" name="TextBox 5">
            <a:extLst>
              <a:ext uri="{FF2B5EF4-FFF2-40B4-BE49-F238E27FC236}">
                <a16:creationId xmlns:a16="http://schemas.microsoft.com/office/drawing/2014/main" id="{3AC0D418-70A0-10AD-EE0D-F3D9369098E5}"/>
              </a:ext>
            </a:extLst>
          </p:cNvPr>
          <p:cNvSpPr txBox="1"/>
          <p:nvPr/>
        </p:nvSpPr>
        <p:spPr>
          <a:xfrm>
            <a:off x="491613" y="1184366"/>
            <a:ext cx="10862187" cy="4493538"/>
          </a:xfrm>
          <a:prstGeom prst="rect">
            <a:avLst/>
          </a:prstGeom>
          <a:noFill/>
        </p:spPr>
        <p:txBody>
          <a:bodyPr wrap="square" rtlCol="0">
            <a:spAutoFit/>
          </a:bodyPr>
          <a:lstStyle/>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rPr>
              <a:t>Recent research demonstrates that Convolutional Neural Network (CNN) based deep learning models are highly effective for livestock image classification, achieving good accuracy in identifying animal species such as cows, buffaloes, sheep, and goats.</a:t>
            </a:r>
          </a:p>
          <a:p>
            <a:pPr marL="342900" indent="-342900" algn="just">
              <a:buFont typeface="+mj-lt"/>
              <a:buAutoNum type="arabicPeriod"/>
            </a:pPr>
            <a:endParaRPr lang="en-US" sz="22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rPr>
              <a:t>Most existing studies primarily focus on animal type identification or breed classification using supervised learning techniques. These works mainly address classification accuracy but do not extend toward complete livestock management solutions.</a:t>
            </a:r>
          </a:p>
          <a:p>
            <a:pPr marL="342900" indent="-342900" algn="just">
              <a:buFont typeface="+mj-lt"/>
              <a:buAutoNum type="arabicPeriod"/>
            </a:pPr>
            <a:endParaRPr lang="en-US" sz="22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rPr>
              <a:t>Only a limited number of studies attempt health analysis using visual features, and even these are restricted to basic symptom detection without systematic validation or explainability.</a:t>
            </a:r>
          </a:p>
          <a:p>
            <a:pPr marL="342900" indent="-342900" algn="just">
              <a:buFont typeface="+mj-lt"/>
              <a:buAutoNum type="arabicPeriod"/>
            </a:pPr>
            <a:endParaRPr lang="en-US" sz="2200" dirty="0">
              <a:latin typeface="Times New Roman" panose="02020603050405020304" pitchFamily="18" charset="0"/>
              <a:cs typeface="Times New Roman" panose="02020603050405020304" pitchFamily="18" charset="0"/>
            </a:endParaRPr>
          </a:p>
          <a:p>
            <a:pPr algn="just"/>
            <a:endParaRPr lang="en-IN"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8CE3C30F-3204-2E25-4D75-E59748C50E86}"/>
            </a:ext>
          </a:extLst>
        </p:cNvPr>
        <p:cNvGrpSpPr/>
        <p:nvPr/>
      </p:nvGrpSpPr>
      <p:grpSpPr>
        <a:xfrm>
          <a:off x="0" y="0"/>
          <a:ext cx="0" cy="0"/>
          <a:chOff x="0" y="0"/>
          <a:chExt cx="0" cy="0"/>
        </a:xfrm>
      </p:grpSpPr>
      <p:sp>
        <p:nvSpPr>
          <p:cNvPr id="109" name="Google Shape;109;p16">
            <a:extLst>
              <a:ext uri="{FF2B5EF4-FFF2-40B4-BE49-F238E27FC236}">
                <a16:creationId xmlns:a16="http://schemas.microsoft.com/office/drawing/2014/main" id="{375BCCFC-7A2B-2EA1-0049-ABB2156C520B}"/>
              </a:ext>
            </a:extLst>
          </p:cNvPr>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L</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iterature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eview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ontinued:</a:t>
            </a:r>
            <a:endParaRPr lang="en-US" sz="3200" dirty="0">
              <a:solidFill>
                <a:schemeClr val="accent1"/>
              </a:solidFill>
            </a:endParaRPr>
          </a:p>
        </p:txBody>
      </p:sp>
      <p:sp>
        <p:nvSpPr>
          <p:cNvPr id="111" name="Google Shape;111;p16">
            <a:extLst>
              <a:ext uri="{FF2B5EF4-FFF2-40B4-BE49-F238E27FC236}">
                <a16:creationId xmlns:a16="http://schemas.microsoft.com/office/drawing/2014/main" id="{921C2A80-6ED2-0496-0EB9-554021520EF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6" name="TextBox 5">
            <a:extLst>
              <a:ext uri="{FF2B5EF4-FFF2-40B4-BE49-F238E27FC236}">
                <a16:creationId xmlns:a16="http://schemas.microsoft.com/office/drawing/2014/main" id="{30C199B8-4A25-509D-81C6-B98AF1F9FAAC}"/>
              </a:ext>
            </a:extLst>
          </p:cNvPr>
          <p:cNvSpPr txBox="1"/>
          <p:nvPr/>
        </p:nvSpPr>
        <p:spPr>
          <a:xfrm>
            <a:off x="491613" y="1184366"/>
            <a:ext cx="10862187" cy="1107996"/>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4.  Additionally, many current livestock management systems rely on manual record keeping  or RFID-based identification, which increases operational cost, requires physical tagging, and is prone to duplication, data inconsistency, and human error.</a:t>
            </a:r>
          </a:p>
        </p:txBody>
      </p:sp>
    </p:spTree>
    <p:extLst>
      <p:ext uri="{BB962C8B-B14F-4D97-AF65-F5344CB8AC3E}">
        <p14:creationId xmlns:p14="http://schemas.microsoft.com/office/powerpoint/2010/main" val="2571915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title"/>
          </p:nvPr>
        </p:nvSpPr>
        <p:spPr>
          <a:xfrm>
            <a:off x="838200" y="365125"/>
            <a:ext cx="10515600" cy="819300"/>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esearch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G</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ap &amp;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M</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otivation:</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17" name="Google Shape;117;p17"/>
          <p:cNvSpPr txBox="1">
            <a:spLocks noGrp="1"/>
          </p:cNvSpPr>
          <p:nvPr>
            <p:ph type="body" idx="1"/>
          </p:nvPr>
        </p:nvSpPr>
        <p:spPr>
          <a:xfrm>
            <a:off x="838200" y="1184367"/>
            <a:ext cx="10515600" cy="4058100"/>
          </a:xfrm>
          <a:prstGeom prst="rect">
            <a:avLst/>
          </a:prstGeom>
          <a:noFill/>
          <a:ln>
            <a:noFill/>
          </a:ln>
        </p:spPr>
        <p:txBody>
          <a:bodyPr spcFirstLastPara="1" wrap="square" lIns="91425" tIns="45700" rIns="91425" bIns="45700" anchor="t" anchorCtr="0">
            <a:noAutofit/>
          </a:bodyPr>
          <a:lstStyle/>
          <a:p>
            <a:pPr marL="76200" indent="0" algn="just">
              <a:buNone/>
            </a:pPr>
            <a:r>
              <a:rPr lang="en-US" sz="2200" b="1" dirty="0">
                <a:latin typeface="Times New Roman" panose="02020603050405020304" pitchFamily="18" charset="0"/>
                <a:cs typeface="Times New Roman" panose="02020603050405020304" pitchFamily="18" charset="0"/>
              </a:rPr>
              <a:t>Identified Research Gaps</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Existing systems do not provide a unique and persistent digital identity for each livestock animal.</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There is no effective duplicate or fraud detection mechanism, leading to multiple registrations and misuse of records.</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Health analysis is either very limited or completely absent, especially in terms of visual health risk indicators.</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Most models operate as black boxes, lacking Explainable AI (XAI) features to justify predictions and build user trust.</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Current solutions are not end-to-end systems; they lack proper integration of AI models, user interface, and database management.</a:t>
            </a:r>
          </a:p>
        </p:txBody>
      </p:sp>
      <p:sp>
        <p:nvSpPr>
          <p:cNvPr id="118" name="Google Shape;118;p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4914D13C-2E89-2AC8-3766-A10C72EAB9B8}"/>
            </a:ext>
          </a:extLst>
        </p:cNvPr>
        <p:cNvGrpSpPr/>
        <p:nvPr/>
      </p:nvGrpSpPr>
      <p:grpSpPr>
        <a:xfrm>
          <a:off x="0" y="0"/>
          <a:ext cx="0" cy="0"/>
          <a:chOff x="0" y="0"/>
          <a:chExt cx="0" cy="0"/>
        </a:xfrm>
      </p:grpSpPr>
      <p:sp>
        <p:nvSpPr>
          <p:cNvPr id="116" name="Google Shape;116;p17">
            <a:extLst>
              <a:ext uri="{FF2B5EF4-FFF2-40B4-BE49-F238E27FC236}">
                <a16:creationId xmlns:a16="http://schemas.microsoft.com/office/drawing/2014/main" id="{D4C3150C-AA84-B6AE-476D-D946979C6497}"/>
              </a:ext>
            </a:extLst>
          </p:cNvPr>
          <p:cNvSpPr txBox="1">
            <a:spLocks noGrp="1"/>
          </p:cNvSpPr>
          <p:nvPr>
            <p:ph type="title"/>
          </p:nvPr>
        </p:nvSpPr>
        <p:spPr>
          <a:xfrm>
            <a:off x="838200" y="365125"/>
            <a:ext cx="10515600" cy="819300"/>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esearch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G</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ap &amp;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M</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otivation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ontinued:</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17" name="Google Shape;117;p17">
            <a:extLst>
              <a:ext uri="{FF2B5EF4-FFF2-40B4-BE49-F238E27FC236}">
                <a16:creationId xmlns:a16="http://schemas.microsoft.com/office/drawing/2014/main" id="{3E7030D1-878E-F738-5727-E2B0A8124E57}"/>
              </a:ext>
            </a:extLst>
          </p:cNvPr>
          <p:cNvSpPr txBox="1">
            <a:spLocks noGrp="1"/>
          </p:cNvSpPr>
          <p:nvPr>
            <p:ph type="body" idx="1"/>
          </p:nvPr>
        </p:nvSpPr>
        <p:spPr>
          <a:xfrm>
            <a:off x="838200" y="1184367"/>
            <a:ext cx="10515600" cy="4058100"/>
          </a:xfrm>
          <a:prstGeom prst="rect">
            <a:avLst/>
          </a:prstGeom>
          <a:noFill/>
          <a:ln>
            <a:noFill/>
          </a:ln>
        </p:spPr>
        <p:txBody>
          <a:bodyPr spcFirstLastPara="1" wrap="square" lIns="91425" tIns="45700" rIns="91425" bIns="45700" anchor="t" anchorCtr="0">
            <a:noAutofit/>
          </a:bodyPr>
          <a:lstStyle/>
          <a:p>
            <a:pPr marL="76200" indent="0" algn="just">
              <a:buNone/>
            </a:pPr>
            <a:r>
              <a:rPr lang="en-US" sz="2200" b="1" dirty="0">
                <a:latin typeface="Times New Roman" panose="02020603050405020304" pitchFamily="18" charset="0"/>
                <a:cs typeface="Times New Roman" panose="02020603050405020304" pitchFamily="18" charset="0"/>
              </a:rPr>
              <a:t>Motivation</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The motivation of this work is to design and develop a complete AI-based smart livestock identification system that integrates deep learning, image processing, explainable AI, and database management to provide an accurate, transparent, and scalable solution for real-world livestock management.</a:t>
            </a:r>
          </a:p>
          <a:p>
            <a:pPr marL="0" lvl="0" indent="0" algn="just" eaLnBrk="0" fontAlgn="base" hangingPunct="0">
              <a:spcBef>
                <a:spcPct val="0"/>
              </a:spcBef>
              <a:spcAft>
                <a:spcPct val="0"/>
              </a:spcAft>
              <a:buClrTx/>
              <a:buSzTx/>
              <a:buNone/>
            </a:pPr>
            <a:endParaRPr lang="en-US" altLang="en-US" sz="2200" dirty="0">
              <a:solidFill>
                <a:schemeClr val="tx1"/>
              </a:solidFill>
              <a:latin typeface="Cambria" panose="02040503050406030204" pitchFamily="18" charset="0"/>
              <a:ea typeface="Cambria" panose="02040503050406030204" pitchFamily="18" charset="0"/>
            </a:endParaRPr>
          </a:p>
        </p:txBody>
      </p:sp>
      <p:sp>
        <p:nvSpPr>
          <p:cNvPr id="118" name="Google Shape;118;p17">
            <a:extLst>
              <a:ext uri="{FF2B5EF4-FFF2-40B4-BE49-F238E27FC236}">
                <a16:creationId xmlns:a16="http://schemas.microsoft.com/office/drawing/2014/main" id="{C607C3C6-B58E-F339-A355-0E35A0B63FDC}"/>
              </a:ext>
            </a:extLst>
          </p:cNvPr>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156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P</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roposed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S</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ystem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verview:</a:t>
            </a:r>
            <a:endParaRPr sz="3200" dirty="0">
              <a:solidFill>
                <a:schemeClr val="accent1"/>
              </a:solidFill>
              <a:latin typeface="Times New Roman" panose="02020603050405020304" pitchFamily="18" charset="0"/>
              <a:cs typeface="Times New Roman" panose="02020603050405020304" pitchFamily="18" charset="0"/>
            </a:endParaRPr>
          </a:p>
        </p:txBody>
      </p:sp>
      <p:sp>
        <p:nvSpPr>
          <p:cNvPr id="124" name="Google Shape;124;p18"/>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Autofit/>
          </a:bodyPr>
          <a:lstStyle/>
          <a:p>
            <a:pPr marL="76200" indent="0" algn="just">
              <a:buNone/>
            </a:pPr>
            <a:r>
              <a:rPr lang="en-US" sz="2200" b="1" dirty="0">
                <a:latin typeface="Times New Roman" panose="02020603050405020304" pitchFamily="18" charset="0"/>
                <a:cs typeface="Times New Roman" panose="02020603050405020304" pitchFamily="18" charset="0"/>
              </a:rPr>
              <a:t>AI-Based Smart Livestock Identification System</a:t>
            </a:r>
          </a:p>
          <a:p>
            <a:pPr marL="533400" indent="-457200" algn="just">
              <a:buFont typeface="+mj-lt"/>
              <a:buAutoNum type="arabicPeriod"/>
            </a:pPr>
            <a:r>
              <a:rPr lang="en-US" sz="2200" dirty="0">
                <a:latin typeface="Times New Roman" panose="02020603050405020304" pitchFamily="18" charset="0"/>
                <a:cs typeface="Times New Roman" panose="02020603050405020304" pitchFamily="18" charset="0"/>
              </a:rPr>
              <a:t>The proposed system is an intelligent, image-based livestock identification platform that utilizes deep learning and computer vision techniques to automate livestock analysis and management</a:t>
            </a:r>
            <a:r>
              <a:rPr lang="en-US" sz="2200" b="1" dirty="0">
                <a:latin typeface="Times New Roman" panose="02020603050405020304" pitchFamily="18" charset="0"/>
                <a:cs typeface="Times New Roman" panose="02020603050405020304" pitchFamily="18" charset="0"/>
              </a:rPr>
              <a:t>.</a:t>
            </a:r>
          </a:p>
          <a:p>
            <a:pPr marL="76200" indent="0" algn="just">
              <a:buNone/>
            </a:pPr>
            <a:endParaRPr lang="en-US" sz="2200" b="1" dirty="0">
              <a:latin typeface="Times New Roman" panose="02020603050405020304" pitchFamily="18" charset="0"/>
              <a:cs typeface="Times New Roman" panose="02020603050405020304" pitchFamily="18" charset="0"/>
            </a:endParaRPr>
          </a:p>
          <a:p>
            <a:pPr marL="76200" indent="0" algn="just">
              <a:buNone/>
            </a:pPr>
            <a:r>
              <a:rPr lang="en-US" sz="2200" b="1" dirty="0">
                <a:latin typeface="Times New Roman" panose="02020603050405020304" pitchFamily="18" charset="0"/>
                <a:cs typeface="Times New Roman" panose="02020603050405020304" pitchFamily="18" charset="0"/>
              </a:rPr>
              <a:t>Key Features</a:t>
            </a:r>
          </a:p>
          <a:p>
            <a:pPr marL="571500" indent="-457200" algn="just">
              <a:buFont typeface="+mj-lt"/>
              <a:buAutoNum type="arabicPeriod"/>
            </a:pPr>
            <a:r>
              <a:rPr lang="en-US" sz="2200" b="1" dirty="0">
                <a:latin typeface="Times New Roman" panose="02020603050405020304" pitchFamily="18" charset="0"/>
                <a:cs typeface="Times New Roman" panose="02020603050405020304" pitchFamily="18" charset="0"/>
              </a:rPr>
              <a:t>Animal Type Identification:</a:t>
            </a:r>
            <a:r>
              <a:rPr lang="en-US" sz="2200" dirty="0">
                <a:latin typeface="Times New Roman" panose="02020603050405020304" pitchFamily="18" charset="0"/>
                <a:cs typeface="Times New Roman" panose="02020603050405020304" pitchFamily="18" charset="0"/>
              </a:rPr>
              <a:t> Automatic classification of livestock as cow or buffalo.</a:t>
            </a:r>
          </a:p>
          <a:p>
            <a:pPr marL="571500" indent="-457200" algn="just">
              <a:buFont typeface="+mj-lt"/>
              <a:buAutoNum type="arabicPeriod"/>
            </a:pPr>
            <a:r>
              <a:rPr lang="en-US" sz="2200" b="1" dirty="0">
                <a:latin typeface="Times New Roman" panose="02020603050405020304" pitchFamily="18" charset="0"/>
                <a:cs typeface="Times New Roman" panose="02020603050405020304" pitchFamily="18" charset="0"/>
              </a:rPr>
              <a:t>Breed Classification:</a:t>
            </a:r>
            <a:r>
              <a:rPr lang="en-US" sz="2200" dirty="0">
                <a:latin typeface="Times New Roman" panose="02020603050405020304" pitchFamily="18" charset="0"/>
                <a:cs typeface="Times New Roman" panose="02020603050405020304" pitchFamily="18" charset="0"/>
              </a:rPr>
              <a:t> Identification of specific breeds using deep learning models.</a:t>
            </a:r>
          </a:p>
          <a:p>
            <a:pPr marL="571500" indent="-457200" algn="just">
              <a:buFont typeface="+mj-lt"/>
              <a:buAutoNum type="arabicPeriod"/>
            </a:pPr>
            <a:r>
              <a:rPr lang="en-US" sz="2200" b="1" dirty="0">
                <a:latin typeface="Times New Roman" panose="02020603050405020304" pitchFamily="18" charset="0"/>
                <a:cs typeface="Times New Roman" panose="02020603050405020304" pitchFamily="18" charset="0"/>
              </a:rPr>
              <a:t>Digital Profile Creation:</a:t>
            </a:r>
            <a:r>
              <a:rPr lang="en-US" sz="2200" dirty="0">
                <a:latin typeface="Times New Roman" panose="02020603050405020304" pitchFamily="18" charset="0"/>
                <a:cs typeface="Times New Roman" panose="02020603050405020304" pitchFamily="18" charset="0"/>
              </a:rPr>
              <a:t> Creation of a unique digital identity for each animal, including image and metadata.</a:t>
            </a:r>
          </a:p>
          <a:p>
            <a:pPr marL="76200" indent="0" algn="just">
              <a:buNone/>
            </a:pPr>
            <a:endParaRPr lang="en-US" sz="2200" b="1" dirty="0">
              <a:latin typeface="Times New Roman" panose="02020603050405020304" pitchFamily="18" charset="0"/>
              <a:cs typeface="Times New Roman" panose="02020603050405020304" pitchFamily="18" charset="0"/>
            </a:endParaRPr>
          </a:p>
        </p:txBody>
      </p:sp>
      <p:sp>
        <p:nvSpPr>
          <p:cNvPr id="125" name="Google Shape;12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A2FBD11F-5501-A879-D854-DDDDFB300FB4}"/>
            </a:ext>
          </a:extLst>
        </p:cNvPr>
        <p:cNvGrpSpPr/>
        <p:nvPr/>
      </p:nvGrpSpPr>
      <p:grpSpPr>
        <a:xfrm>
          <a:off x="0" y="0"/>
          <a:ext cx="0" cy="0"/>
          <a:chOff x="0" y="0"/>
          <a:chExt cx="0" cy="0"/>
        </a:xfrm>
      </p:grpSpPr>
      <p:sp>
        <p:nvSpPr>
          <p:cNvPr id="123" name="Google Shape;123;p18">
            <a:extLst>
              <a:ext uri="{FF2B5EF4-FFF2-40B4-BE49-F238E27FC236}">
                <a16:creationId xmlns:a16="http://schemas.microsoft.com/office/drawing/2014/main" id="{45AEF0B6-461A-CE44-D86D-DB68447AE9AE}"/>
              </a:ext>
            </a:extLst>
          </p:cNvPr>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P</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roposed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S</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ystem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verview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ontinued:</a:t>
            </a:r>
            <a:endParaRPr sz="3200" dirty="0">
              <a:solidFill>
                <a:schemeClr val="accent1"/>
              </a:solidFill>
              <a:latin typeface="Times New Roman" panose="02020603050405020304" pitchFamily="18" charset="0"/>
              <a:cs typeface="Times New Roman" panose="02020603050405020304" pitchFamily="18" charset="0"/>
            </a:endParaRPr>
          </a:p>
        </p:txBody>
      </p:sp>
      <p:sp>
        <p:nvSpPr>
          <p:cNvPr id="124" name="Google Shape;124;p18">
            <a:extLst>
              <a:ext uri="{FF2B5EF4-FFF2-40B4-BE49-F238E27FC236}">
                <a16:creationId xmlns:a16="http://schemas.microsoft.com/office/drawing/2014/main" id="{50FC2DCD-C2C3-C828-F83C-2D8597925EDD}"/>
              </a:ext>
            </a:extLst>
          </p:cNvPr>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114300" indent="0" algn="just">
              <a:buNone/>
            </a:pPr>
            <a:r>
              <a:rPr lang="en-US" sz="2200" dirty="0">
                <a:latin typeface="Times New Roman" panose="02020603050405020304" pitchFamily="18" charset="0"/>
                <a:cs typeface="Times New Roman" panose="02020603050405020304" pitchFamily="18" charset="0"/>
              </a:rPr>
              <a:t>4.</a:t>
            </a:r>
            <a:r>
              <a:rPr lang="en-US" sz="2200" b="1" dirty="0">
                <a:latin typeface="Times New Roman" panose="02020603050405020304" pitchFamily="18" charset="0"/>
                <a:cs typeface="Times New Roman" panose="02020603050405020304" pitchFamily="18" charset="0"/>
              </a:rPr>
              <a:t>  Duplicate Detection:</a:t>
            </a:r>
            <a:r>
              <a:rPr lang="en-US" sz="2200" dirty="0">
                <a:latin typeface="Times New Roman" panose="02020603050405020304" pitchFamily="18" charset="0"/>
                <a:cs typeface="Times New Roman" panose="02020603050405020304" pitchFamily="18" charset="0"/>
              </a:rPr>
              <a:t> Prevention of multiple registrations using image feature    similarity analysis.</a:t>
            </a:r>
          </a:p>
          <a:p>
            <a:pPr marL="114300" indent="0" algn="just">
              <a:buNone/>
            </a:pPr>
            <a:r>
              <a:rPr lang="en-US" sz="2200" dirty="0">
                <a:latin typeface="Times New Roman" panose="02020603050405020304" pitchFamily="18" charset="0"/>
                <a:cs typeface="Times New Roman" panose="02020603050405020304" pitchFamily="18" charset="0"/>
              </a:rPr>
              <a:t>5.  </a:t>
            </a:r>
            <a:r>
              <a:rPr lang="en-US" sz="2200" b="1" dirty="0">
                <a:latin typeface="Times New Roman" panose="02020603050405020304" pitchFamily="18" charset="0"/>
                <a:cs typeface="Times New Roman" panose="02020603050405020304" pitchFamily="18" charset="0"/>
              </a:rPr>
              <a:t>Visual Health Risk Analysis:</a:t>
            </a:r>
            <a:r>
              <a:rPr lang="en-US" sz="2200" dirty="0">
                <a:latin typeface="Times New Roman" panose="02020603050405020304" pitchFamily="18" charset="0"/>
                <a:cs typeface="Times New Roman" panose="02020603050405020304" pitchFamily="18" charset="0"/>
              </a:rPr>
              <a:t> Detection of basic health risk indicators from visible features.</a:t>
            </a:r>
          </a:p>
          <a:p>
            <a:pPr marL="114300" indent="0" algn="just">
              <a:buNone/>
            </a:pPr>
            <a:r>
              <a:rPr lang="en-US" sz="2200" dirty="0">
                <a:latin typeface="Times New Roman" panose="02020603050405020304" pitchFamily="18" charset="0"/>
                <a:cs typeface="Times New Roman" panose="02020603050405020304" pitchFamily="18" charset="0"/>
              </a:rPr>
              <a:t>6.  </a:t>
            </a:r>
            <a:r>
              <a:rPr lang="en-US" sz="2200" b="1" dirty="0">
                <a:latin typeface="Times New Roman" panose="02020603050405020304" pitchFamily="18" charset="0"/>
                <a:cs typeface="Times New Roman" panose="02020603050405020304" pitchFamily="18" charset="0"/>
              </a:rPr>
              <a:t>Explainable AI:</a:t>
            </a:r>
            <a:r>
              <a:rPr lang="en-US" sz="2200" dirty="0">
                <a:latin typeface="Times New Roman" panose="02020603050405020304" pitchFamily="18" charset="0"/>
                <a:cs typeface="Times New Roman" panose="02020603050405020304" pitchFamily="18" charset="0"/>
              </a:rPr>
              <a:t> Generation of heatmaps to visually explain AI decision-making.</a:t>
            </a:r>
          </a:p>
          <a:p>
            <a:pPr marL="76200" indent="0" algn="just">
              <a:buNone/>
            </a:pPr>
            <a:r>
              <a:rPr lang="en-US" sz="2200" b="1" dirty="0">
                <a:latin typeface="Times New Roman" panose="02020603050405020304" pitchFamily="18" charset="0"/>
                <a:cs typeface="Times New Roman" panose="02020603050405020304" pitchFamily="18" charset="0"/>
              </a:rPr>
              <a:t>Approach</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The system follows an image-based automated analysis approach, where livestock images are processed through a CNN-based deep learning model to perform classification, analysis, and decision support with improved accuracy and transparency.</a:t>
            </a:r>
          </a:p>
        </p:txBody>
      </p:sp>
      <p:sp>
        <p:nvSpPr>
          <p:cNvPr id="125" name="Google Shape;125;p18">
            <a:extLst>
              <a:ext uri="{FF2B5EF4-FFF2-40B4-BE49-F238E27FC236}">
                <a16:creationId xmlns:a16="http://schemas.microsoft.com/office/drawing/2014/main" id="{4E7F339A-91EF-589E-045A-73A2CFF1121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578082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540774" y="385754"/>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cs typeface="Times New Roman" panose="02020603050405020304" pitchFamily="18" charset="0"/>
              </a:rPr>
              <a:t>S</a:t>
            </a:r>
            <a:r>
              <a:rPr lang="en-US" sz="3200" dirty="0">
                <a:solidFill>
                  <a:schemeClr val="accent1"/>
                </a:solidFill>
                <a:latin typeface="Times New Roman" panose="02020603050405020304" pitchFamily="18" charset="0"/>
                <a:cs typeface="Times New Roman" panose="02020603050405020304" pitchFamily="18" charset="0"/>
              </a:rPr>
              <a:t>ystem </a:t>
            </a:r>
            <a:r>
              <a:rPr lang="en-US" sz="4000" b="1" dirty="0">
                <a:solidFill>
                  <a:schemeClr val="accent1"/>
                </a:solidFill>
                <a:latin typeface="Times New Roman" panose="02020603050405020304" pitchFamily="18" charset="0"/>
                <a:cs typeface="Times New Roman" panose="02020603050405020304" pitchFamily="18" charset="0"/>
              </a:rPr>
              <a:t>A</a:t>
            </a:r>
            <a:r>
              <a:rPr lang="en-US" sz="3200" dirty="0">
                <a:solidFill>
                  <a:schemeClr val="accent1"/>
                </a:solidFill>
                <a:latin typeface="Times New Roman" panose="02020603050405020304" pitchFamily="18" charset="0"/>
                <a:cs typeface="Times New Roman" panose="02020603050405020304" pitchFamily="18" charset="0"/>
              </a:rPr>
              <a:t>rchitecture &amp; </a:t>
            </a:r>
            <a:r>
              <a:rPr lang="en-US" sz="4000" b="1" dirty="0">
                <a:solidFill>
                  <a:schemeClr val="accent1"/>
                </a:solidFill>
                <a:latin typeface="Times New Roman" panose="02020603050405020304" pitchFamily="18" charset="0"/>
                <a:cs typeface="Times New Roman" panose="02020603050405020304" pitchFamily="18" charset="0"/>
              </a:rPr>
              <a:t>M</a:t>
            </a:r>
            <a:r>
              <a:rPr lang="en-US" sz="3200" dirty="0">
                <a:solidFill>
                  <a:schemeClr val="accent1"/>
                </a:solidFill>
                <a:latin typeface="Times New Roman" panose="02020603050405020304" pitchFamily="18" charset="0"/>
                <a:cs typeface="Times New Roman" panose="02020603050405020304" pitchFamily="18" charset="0"/>
              </a:rPr>
              <a:t>odel </a:t>
            </a:r>
            <a:r>
              <a:rPr lang="en-US" sz="4000" b="1" dirty="0">
                <a:solidFill>
                  <a:schemeClr val="accent1"/>
                </a:solidFill>
                <a:latin typeface="Times New Roman" panose="02020603050405020304" pitchFamily="18" charset="0"/>
                <a:cs typeface="Times New Roman" panose="02020603050405020304" pitchFamily="18" charset="0"/>
              </a:rPr>
              <a:t>D</a:t>
            </a:r>
            <a:r>
              <a:rPr lang="en-US" sz="3200" dirty="0">
                <a:solidFill>
                  <a:schemeClr val="accent1"/>
                </a:solidFill>
                <a:latin typeface="Times New Roman" panose="02020603050405020304" pitchFamily="18" charset="0"/>
                <a:cs typeface="Times New Roman" panose="02020603050405020304" pitchFamily="18" charset="0"/>
              </a:rPr>
              <a:t>esign:</a:t>
            </a:r>
            <a:endParaRPr sz="3200" dirty="0">
              <a:solidFill>
                <a:schemeClr val="accent1"/>
              </a:solidFill>
            </a:endParaRPr>
          </a:p>
        </p:txBody>
      </p:sp>
      <p:sp>
        <p:nvSpPr>
          <p:cNvPr id="132" name="Google Shape;1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4" name="TextBox 3">
            <a:extLst>
              <a:ext uri="{FF2B5EF4-FFF2-40B4-BE49-F238E27FC236}">
                <a16:creationId xmlns:a16="http://schemas.microsoft.com/office/drawing/2014/main" id="{EDED830D-F959-930E-3BBE-2636CD38A79B}"/>
              </a:ext>
            </a:extLst>
          </p:cNvPr>
          <p:cNvSpPr txBox="1"/>
          <p:nvPr/>
        </p:nvSpPr>
        <p:spPr>
          <a:xfrm>
            <a:off x="540774" y="1184366"/>
            <a:ext cx="6017342" cy="4493538"/>
          </a:xfrm>
          <a:prstGeom prst="rect">
            <a:avLst/>
          </a:prstGeom>
          <a:noFill/>
        </p:spPr>
        <p:txBody>
          <a:bodyPr wrap="square" rtlCol="0">
            <a:spAutoFit/>
          </a:bodyPr>
          <a:lstStyle/>
          <a:p>
            <a:pPr algn="just">
              <a:lnSpc>
                <a:spcPct val="150000"/>
              </a:lnSpc>
              <a:buNone/>
            </a:pPr>
            <a:r>
              <a:rPr lang="en-US" sz="2200" b="1" dirty="0">
                <a:latin typeface="Times New Roman" panose="02020603050405020304" pitchFamily="18" charset="0"/>
                <a:cs typeface="Times New Roman" panose="02020603050405020304" pitchFamily="18" charset="0"/>
              </a:rPr>
              <a:t>Workflow:</a:t>
            </a:r>
            <a:endParaRPr lang="en-US" sz="22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Image Input</a:t>
            </a: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Image Preprocessing</a:t>
            </a: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CNN-based AI Model</a:t>
            </a: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Classification &amp; Health Analysis</a:t>
            </a: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Duplicate Detection</a:t>
            </a: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Results with Explainable AI</a:t>
            </a:r>
          </a:p>
          <a:p>
            <a:pPr algn="just">
              <a:lnSpc>
                <a:spcPct val="150000"/>
              </a:lnSpc>
              <a:buNone/>
            </a:pPr>
            <a:endParaRPr lang="en-US" sz="2200" b="1" dirty="0">
              <a:latin typeface="Times New Roman" panose="02020603050405020304" pitchFamily="18" charset="0"/>
              <a:cs typeface="Times New Roman" panose="02020603050405020304" pitchFamily="18" charset="0"/>
            </a:endParaRPr>
          </a:p>
          <a:p>
            <a:pPr algn="just"/>
            <a:endParaRPr lang="en-IN" sz="2200" dirty="0"/>
          </a:p>
        </p:txBody>
      </p:sp>
      <p:pic>
        <p:nvPicPr>
          <p:cNvPr id="6" name="Picture 5">
            <a:extLst>
              <a:ext uri="{FF2B5EF4-FFF2-40B4-BE49-F238E27FC236}">
                <a16:creationId xmlns:a16="http://schemas.microsoft.com/office/drawing/2014/main" id="{E8F1A3EC-F871-DD54-2F29-F8B475EACA14}"/>
              </a:ext>
            </a:extLst>
          </p:cNvPr>
          <p:cNvPicPr>
            <a:picLocks noChangeAspect="1"/>
          </p:cNvPicPr>
          <p:nvPr/>
        </p:nvPicPr>
        <p:blipFill>
          <a:blip r:embed="rId3"/>
          <a:stretch>
            <a:fillRect/>
          </a:stretch>
        </p:blipFill>
        <p:spPr>
          <a:xfrm>
            <a:off x="6400799" y="1184366"/>
            <a:ext cx="5507294" cy="3996813"/>
          </a:xfrm>
          <a:prstGeom prst="rect">
            <a:avLst/>
          </a:prstGeom>
        </p:spPr>
      </p:pic>
      <p:sp>
        <p:nvSpPr>
          <p:cNvPr id="7" name="TextBox 6">
            <a:extLst>
              <a:ext uri="{FF2B5EF4-FFF2-40B4-BE49-F238E27FC236}">
                <a16:creationId xmlns:a16="http://schemas.microsoft.com/office/drawing/2014/main" id="{B4B500F6-C46B-FB22-DC18-2F0A27A01402}"/>
              </a:ext>
            </a:extLst>
          </p:cNvPr>
          <p:cNvSpPr txBox="1"/>
          <p:nvPr/>
        </p:nvSpPr>
        <p:spPr>
          <a:xfrm>
            <a:off x="6469626" y="5008480"/>
            <a:ext cx="5456903" cy="492443"/>
          </a:xfrm>
          <a:prstGeom prst="rect">
            <a:avLst/>
          </a:prstGeom>
          <a:noFill/>
        </p:spPr>
        <p:txBody>
          <a:bodyPr wrap="square" rtlCol="0">
            <a:spAutoFit/>
          </a:bodyPr>
          <a:lstStyle/>
          <a:p>
            <a:r>
              <a:rPr lang="en-US" sz="1300" dirty="0">
                <a:latin typeface="Times New Roman" panose="02020603050405020304" pitchFamily="18" charset="0"/>
                <a:cs typeface="Times New Roman" panose="02020603050405020304" pitchFamily="18" charset="0"/>
              </a:rPr>
              <a:t>FIG 1: System Architecture and Model Design of AI-Based Smart Livestock Identification System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A0EB66C5-D5FC-CC7B-B000-B96F338772A6}"/>
            </a:ext>
          </a:extLst>
        </p:cNvPr>
        <p:cNvGrpSpPr/>
        <p:nvPr/>
      </p:nvGrpSpPr>
      <p:grpSpPr>
        <a:xfrm>
          <a:off x="0" y="0"/>
          <a:ext cx="0" cy="0"/>
          <a:chOff x="0" y="0"/>
          <a:chExt cx="0" cy="0"/>
        </a:xfrm>
      </p:grpSpPr>
      <p:sp>
        <p:nvSpPr>
          <p:cNvPr id="130" name="Google Shape;130;p19">
            <a:extLst>
              <a:ext uri="{FF2B5EF4-FFF2-40B4-BE49-F238E27FC236}">
                <a16:creationId xmlns:a16="http://schemas.microsoft.com/office/drawing/2014/main" id="{4DBFD28A-4FF2-070E-74A7-9E0E636B6464}"/>
              </a:ext>
            </a:extLst>
          </p:cNvPr>
          <p:cNvSpPr txBox="1">
            <a:spLocks noGrp="1"/>
          </p:cNvSpPr>
          <p:nvPr>
            <p:ph type="title"/>
          </p:nvPr>
        </p:nvSpPr>
        <p:spPr>
          <a:xfrm>
            <a:off x="540774" y="385754"/>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cs typeface="Times New Roman" panose="02020603050405020304" pitchFamily="18" charset="0"/>
              </a:rPr>
              <a:t>S</a:t>
            </a:r>
            <a:r>
              <a:rPr lang="en-US" sz="3200" dirty="0">
                <a:solidFill>
                  <a:schemeClr val="accent1"/>
                </a:solidFill>
                <a:latin typeface="Times New Roman" panose="02020603050405020304" pitchFamily="18" charset="0"/>
                <a:cs typeface="Times New Roman" panose="02020603050405020304" pitchFamily="18" charset="0"/>
              </a:rPr>
              <a:t>ystem </a:t>
            </a:r>
            <a:r>
              <a:rPr lang="en-US" sz="4000" b="1" dirty="0">
                <a:solidFill>
                  <a:schemeClr val="accent1"/>
                </a:solidFill>
                <a:latin typeface="Times New Roman" panose="02020603050405020304" pitchFamily="18" charset="0"/>
                <a:cs typeface="Times New Roman" panose="02020603050405020304" pitchFamily="18" charset="0"/>
              </a:rPr>
              <a:t>A</a:t>
            </a:r>
            <a:r>
              <a:rPr lang="en-US" sz="3200" dirty="0">
                <a:solidFill>
                  <a:schemeClr val="accent1"/>
                </a:solidFill>
                <a:latin typeface="Times New Roman" panose="02020603050405020304" pitchFamily="18" charset="0"/>
                <a:cs typeface="Times New Roman" panose="02020603050405020304" pitchFamily="18" charset="0"/>
              </a:rPr>
              <a:t>rchitecture &amp; </a:t>
            </a:r>
            <a:r>
              <a:rPr lang="en-US" sz="4000" b="1" dirty="0">
                <a:solidFill>
                  <a:schemeClr val="accent1"/>
                </a:solidFill>
                <a:latin typeface="Times New Roman" panose="02020603050405020304" pitchFamily="18" charset="0"/>
                <a:cs typeface="Times New Roman" panose="02020603050405020304" pitchFamily="18" charset="0"/>
              </a:rPr>
              <a:t>M</a:t>
            </a:r>
            <a:r>
              <a:rPr lang="en-US" sz="3200" dirty="0">
                <a:solidFill>
                  <a:schemeClr val="accent1"/>
                </a:solidFill>
                <a:latin typeface="Times New Roman" panose="02020603050405020304" pitchFamily="18" charset="0"/>
                <a:cs typeface="Times New Roman" panose="02020603050405020304" pitchFamily="18" charset="0"/>
              </a:rPr>
              <a:t>odel </a:t>
            </a:r>
            <a:r>
              <a:rPr lang="en-US" sz="4000" b="1" dirty="0">
                <a:solidFill>
                  <a:schemeClr val="accent1"/>
                </a:solidFill>
                <a:latin typeface="Times New Roman" panose="02020603050405020304" pitchFamily="18" charset="0"/>
                <a:cs typeface="Times New Roman" panose="02020603050405020304" pitchFamily="18" charset="0"/>
              </a:rPr>
              <a:t>D</a:t>
            </a:r>
            <a:r>
              <a:rPr lang="en-US" sz="3200" dirty="0">
                <a:solidFill>
                  <a:schemeClr val="accent1"/>
                </a:solidFill>
                <a:latin typeface="Times New Roman" panose="02020603050405020304" pitchFamily="18" charset="0"/>
                <a:cs typeface="Times New Roman" panose="02020603050405020304" pitchFamily="18" charset="0"/>
              </a:rPr>
              <a:t>esign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ontinued: </a:t>
            </a:r>
            <a:r>
              <a:rPr lang="en-US" sz="3200" dirty="0">
                <a:solidFill>
                  <a:schemeClr val="accent1"/>
                </a:solidFill>
                <a:latin typeface="Times New Roman" panose="02020603050405020304" pitchFamily="18" charset="0"/>
                <a:cs typeface="Times New Roman" panose="02020603050405020304" pitchFamily="18" charset="0"/>
              </a:rPr>
              <a:t>:</a:t>
            </a:r>
            <a:endParaRPr sz="3200" dirty="0">
              <a:solidFill>
                <a:schemeClr val="accent1"/>
              </a:solidFill>
            </a:endParaRPr>
          </a:p>
        </p:txBody>
      </p:sp>
      <p:sp>
        <p:nvSpPr>
          <p:cNvPr id="132" name="Google Shape;132;p19">
            <a:extLst>
              <a:ext uri="{FF2B5EF4-FFF2-40B4-BE49-F238E27FC236}">
                <a16:creationId xmlns:a16="http://schemas.microsoft.com/office/drawing/2014/main" id="{52EDD497-4C7E-A682-F277-04CF401E691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4" name="TextBox 3">
            <a:extLst>
              <a:ext uri="{FF2B5EF4-FFF2-40B4-BE49-F238E27FC236}">
                <a16:creationId xmlns:a16="http://schemas.microsoft.com/office/drawing/2014/main" id="{349D8F0C-E93D-73A3-6C77-FD98A5037ECF}"/>
              </a:ext>
            </a:extLst>
          </p:cNvPr>
          <p:cNvSpPr txBox="1"/>
          <p:nvPr/>
        </p:nvSpPr>
        <p:spPr>
          <a:xfrm>
            <a:off x="540774" y="1184366"/>
            <a:ext cx="6017342" cy="1555041"/>
          </a:xfrm>
          <a:prstGeom prst="rect">
            <a:avLst/>
          </a:prstGeom>
          <a:noFill/>
        </p:spPr>
        <p:txBody>
          <a:bodyPr wrap="square" rtlCol="0">
            <a:spAutoFit/>
          </a:bodyPr>
          <a:lstStyle/>
          <a:p>
            <a:pPr algn="just">
              <a:lnSpc>
                <a:spcPct val="150000"/>
              </a:lnSpc>
              <a:buNone/>
            </a:pPr>
            <a:r>
              <a:rPr lang="en-US" sz="2200" b="1" dirty="0">
                <a:latin typeface="Times New Roman" panose="02020603050405020304" pitchFamily="18" charset="0"/>
                <a:cs typeface="Times New Roman" panose="02020603050405020304" pitchFamily="18" charset="0"/>
              </a:rPr>
              <a:t>Model Used:</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Convolutional Neural Network (CNN) for feature   extraction and classification.</a:t>
            </a:r>
          </a:p>
        </p:txBody>
      </p:sp>
    </p:spTree>
    <p:extLst>
      <p:ext uri="{BB962C8B-B14F-4D97-AF65-F5344CB8AC3E}">
        <p14:creationId xmlns:p14="http://schemas.microsoft.com/office/powerpoint/2010/main" val="3878367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cs typeface="Times New Roman" panose="02020603050405020304" pitchFamily="18" charset="0"/>
              </a:rPr>
              <a:t>T</a:t>
            </a:r>
            <a:r>
              <a:rPr lang="en-US" sz="3200" dirty="0">
                <a:solidFill>
                  <a:schemeClr val="accent1"/>
                </a:solidFill>
                <a:latin typeface="Times New Roman" panose="02020603050405020304" pitchFamily="18" charset="0"/>
                <a:cs typeface="Times New Roman" panose="02020603050405020304" pitchFamily="18" charset="0"/>
              </a:rPr>
              <a:t>ools &amp; </a:t>
            </a:r>
            <a:r>
              <a:rPr lang="en-US" sz="4000" b="1" dirty="0">
                <a:solidFill>
                  <a:schemeClr val="accent1"/>
                </a:solidFill>
                <a:latin typeface="Times New Roman" panose="02020603050405020304" pitchFamily="18" charset="0"/>
                <a:cs typeface="Times New Roman" panose="02020603050405020304" pitchFamily="18" charset="0"/>
              </a:rPr>
              <a:t>T</a:t>
            </a:r>
            <a:r>
              <a:rPr lang="en-US" sz="3200" dirty="0">
                <a:solidFill>
                  <a:schemeClr val="accent1"/>
                </a:solidFill>
                <a:latin typeface="Times New Roman" panose="02020603050405020304" pitchFamily="18" charset="0"/>
                <a:cs typeface="Times New Roman" panose="02020603050405020304" pitchFamily="18" charset="0"/>
              </a:rPr>
              <a:t>echnologies </a:t>
            </a:r>
            <a:r>
              <a:rPr lang="en-US" sz="4000" b="1" dirty="0">
                <a:solidFill>
                  <a:schemeClr val="accent1"/>
                </a:solidFill>
                <a:latin typeface="Times New Roman" panose="02020603050405020304" pitchFamily="18" charset="0"/>
                <a:cs typeface="Times New Roman" panose="02020603050405020304" pitchFamily="18" charset="0"/>
              </a:rPr>
              <a:t>U</a:t>
            </a:r>
            <a:r>
              <a:rPr lang="en-US" sz="3200" dirty="0">
                <a:solidFill>
                  <a:schemeClr val="accent1"/>
                </a:solidFill>
                <a:latin typeface="Times New Roman" panose="02020603050405020304" pitchFamily="18" charset="0"/>
                <a:cs typeface="Times New Roman" panose="02020603050405020304" pitchFamily="18" charset="0"/>
              </a:rPr>
              <a:t>sed:</a:t>
            </a:r>
            <a:endParaRPr sz="3200" dirty="0">
              <a:solidFill>
                <a:schemeClr val="accent1"/>
              </a:solidFill>
              <a:latin typeface="Times New Roman" panose="02020603050405020304" pitchFamily="18" charset="0"/>
              <a:cs typeface="Times New Roman" panose="02020603050405020304" pitchFamily="18" charset="0"/>
            </a:endParaRPr>
          </a:p>
        </p:txBody>
      </p:sp>
      <p:sp>
        <p:nvSpPr>
          <p:cNvPr id="138" name="Google Shape;138;p20"/>
          <p:cNvSpPr txBox="1">
            <a:spLocks noGrp="1"/>
          </p:cNvSpPr>
          <p:nvPr>
            <p:ph type="body" idx="1"/>
          </p:nvPr>
        </p:nvSpPr>
        <p:spPr>
          <a:xfrm>
            <a:off x="838200" y="1184376"/>
            <a:ext cx="10515600" cy="4395900"/>
          </a:xfrm>
          <a:prstGeom prst="rect">
            <a:avLst/>
          </a:prstGeom>
          <a:noFill/>
          <a:ln>
            <a:noFill/>
          </a:ln>
        </p:spPr>
        <p:txBody>
          <a:bodyPr spcFirstLastPara="1" wrap="square" lIns="91425" tIns="45700" rIns="91425" bIns="45700" anchor="t" anchorCtr="0">
            <a:normAutofit fontScale="77500" lnSpcReduction="20000"/>
          </a:bodyPr>
          <a:lstStyle/>
          <a:p>
            <a:pPr marL="76200" indent="0" algn="just">
              <a:lnSpc>
                <a:spcPct val="150000"/>
              </a:lnSpc>
              <a:buNone/>
            </a:pPr>
            <a:r>
              <a:rPr lang="en-US" b="1" dirty="0">
                <a:latin typeface="Times New Roman" panose="02020603050405020304" pitchFamily="18" charset="0"/>
                <a:cs typeface="Times New Roman" panose="02020603050405020304" pitchFamily="18" charset="0"/>
              </a:rPr>
              <a:t>AI &amp; Image Processing:</a:t>
            </a:r>
          </a:p>
          <a:p>
            <a:pPr marL="628650" indent="-51435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Python - Core programming language.</a:t>
            </a:r>
          </a:p>
          <a:p>
            <a:pPr marL="628650" indent="-51435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TensorFlow / </a:t>
            </a:r>
            <a:r>
              <a:rPr lang="en-US" dirty="0" err="1">
                <a:latin typeface="Times New Roman" panose="02020603050405020304" pitchFamily="18" charset="0"/>
                <a:cs typeface="Times New Roman" panose="02020603050405020304" pitchFamily="18" charset="0"/>
              </a:rPr>
              <a:t>PyTorch</a:t>
            </a:r>
            <a:r>
              <a:rPr lang="en-US" dirty="0">
                <a:latin typeface="Times New Roman" panose="02020603050405020304" pitchFamily="18" charset="0"/>
                <a:cs typeface="Times New Roman" panose="02020603050405020304" pitchFamily="18" charset="0"/>
              </a:rPr>
              <a:t> – Deep learning frameworks.</a:t>
            </a:r>
          </a:p>
          <a:p>
            <a:pPr marL="628650" indent="-51435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Convolutional Neural Networks (CNN) – Image feature extraction and classification.</a:t>
            </a:r>
          </a:p>
          <a:p>
            <a:pPr marL="628650" indent="-51435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OpenCV – Image preprocessing and enhancement.</a:t>
            </a:r>
          </a:p>
          <a:p>
            <a:pPr marL="76200" indent="0" algn="just">
              <a:lnSpc>
                <a:spcPct val="150000"/>
              </a:lnSpc>
              <a:buNone/>
            </a:pPr>
            <a:r>
              <a:rPr lang="en-US" b="1" dirty="0">
                <a:latin typeface="Times New Roman" panose="02020603050405020304" pitchFamily="18" charset="0"/>
                <a:cs typeface="Times New Roman" panose="02020603050405020304" pitchFamily="18" charset="0"/>
              </a:rPr>
              <a:t>User Interface</a:t>
            </a:r>
          </a:p>
          <a:p>
            <a:pPr marL="628650" indent="-51435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Flutter / ReactJS – User-friendly interface for image upload and result display.</a:t>
            </a:r>
          </a:p>
        </p:txBody>
      </p:sp>
      <p:sp>
        <p:nvSpPr>
          <p:cNvPr id="139" name="Google Shape;13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lgn="just">
              <a:lnSpc>
                <a:spcPct val="100000"/>
              </a:lnSpc>
              <a:buClr>
                <a:srgbClr val="2F5496"/>
              </a:buClr>
              <a:buSzPct val="57370"/>
            </a:pPr>
            <a:r>
              <a:rPr lang="en-US" sz="4000" b="1" dirty="0">
                <a:solidFill>
                  <a:schemeClr val="accent1"/>
                </a:solidFill>
                <a:latin typeface="Times New Roman" panose="02020603050405020304" pitchFamily="18" charset="0"/>
                <a:cs typeface="Times New Roman" panose="02020603050405020304" pitchFamily="18" charset="0"/>
              </a:rPr>
              <a:t>T</a:t>
            </a:r>
            <a:r>
              <a:rPr lang="en-US" sz="3200" dirty="0">
                <a:solidFill>
                  <a:schemeClr val="accent1"/>
                </a:solidFill>
                <a:latin typeface="Times New Roman" panose="02020603050405020304" pitchFamily="18" charset="0"/>
                <a:cs typeface="Times New Roman" panose="02020603050405020304" pitchFamily="18" charset="0"/>
              </a:rPr>
              <a:t>ools &amp; </a:t>
            </a:r>
            <a:r>
              <a:rPr lang="en-US" sz="4000" b="1" dirty="0">
                <a:solidFill>
                  <a:schemeClr val="accent1"/>
                </a:solidFill>
                <a:latin typeface="Times New Roman" panose="02020603050405020304" pitchFamily="18" charset="0"/>
                <a:cs typeface="Times New Roman" panose="02020603050405020304" pitchFamily="18" charset="0"/>
              </a:rPr>
              <a:t>T</a:t>
            </a:r>
            <a:r>
              <a:rPr lang="en-US" sz="3200" dirty="0">
                <a:solidFill>
                  <a:schemeClr val="accent1"/>
                </a:solidFill>
                <a:latin typeface="Times New Roman" panose="02020603050405020304" pitchFamily="18" charset="0"/>
                <a:cs typeface="Times New Roman" panose="02020603050405020304" pitchFamily="18" charset="0"/>
              </a:rPr>
              <a:t>echnologies </a:t>
            </a:r>
            <a:r>
              <a:rPr lang="en-US" sz="4000" b="1" dirty="0">
                <a:solidFill>
                  <a:schemeClr val="accent1"/>
                </a:solidFill>
                <a:latin typeface="Times New Roman" panose="02020603050405020304" pitchFamily="18" charset="0"/>
                <a:cs typeface="Times New Roman" panose="02020603050405020304" pitchFamily="18" charset="0"/>
              </a:rPr>
              <a:t>U</a:t>
            </a:r>
            <a:r>
              <a:rPr lang="en-US" sz="3200" dirty="0">
                <a:solidFill>
                  <a:schemeClr val="accent1"/>
                </a:solidFill>
                <a:latin typeface="Times New Roman" panose="02020603050405020304" pitchFamily="18" charset="0"/>
                <a:cs typeface="Times New Roman" panose="02020603050405020304" pitchFamily="18" charset="0"/>
              </a:rPr>
              <a:t>sed </a:t>
            </a:r>
            <a:r>
              <a:rPr lang="en-US" sz="4000" b="1" dirty="0">
                <a:solidFill>
                  <a:schemeClr val="accent1"/>
                </a:solidFill>
                <a:latin typeface="Times New Roman" panose="02020603050405020304" pitchFamily="18" charset="0"/>
                <a:cs typeface="Times New Roman" panose="02020603050405020304" pitchFamily="18" charset="0"/>
              </a:rPr>
              <a:t>C</a:t>
            </a:r>
            <a:r>
              <a:rPr lang="en-US" sz="3200" dirty="0">
                <a:solidFill>
                  <a:schemeClr val="accent1"/>
                </a:solidFill>
                <a:latin typeface="Times New Roman" panose="02020603050405020304" pitchFamily="18" charset="0"/>
                <a:cs typeface="Times New Roman" panose="02020603050405020304" pitchFamily="18" charset="0"/>
              </a:rPr>
              <a:t>ontinued:</a:t>
            </a:r>
            <a:endParaRPr sz="3200" dirty="0"/>
          </a:p>
        </p:txBody>
      </p:sp>
      <p:sp>
        <p:nvSpPr>
          <p:cNvPr id="145" name="Google Shape;145;p21"/>
          <p:cNvSpPr txBox="1">
            <a:spLocks noGrp="1"/>
          </p:cNvSpPr>
          <p:nvPr>
            <p:ph type="body" idx="1"/>
          </p:nvPr>
        </p:nvSpPr>
        <p:spPr>
          <a:xfrm>
            <a:off x="838200" y="1184376"/>
            <a:ext cx="10515600" cy="4521300"/>
          </a:xfrm>
          <a:prstGeom prst="rect">
            <a:avLst/>
          </a:prstGeom>
          <a:noFill/>
          <a:ln>
            <a:noFill/>
          </a:ln>
        </p:spPr>
        <p:txBody>
          <a:bodyPr spcFirstLastPara="1" wrap="square" lIns="91425" tIns="45700" rIns="91425" bIns="45700" anchor="t" anchorCtr="0">
            <a:normAutofit/>
          </a:bodyPr>
          <a:lstStyle/>
          <a:p>
            <a:pPr marL="76200" indent="0" algn="just">
              <a:lnSpc>
                <a:spcPct val="150000"/>
              </a:lnSpc>
              <a:buNone/>
            </a:pPr>
            <a:r>
              <a:rPr lang="en-US" sz="2200" b="1" dirty="0">
                <a:latin typeface="Times New Roman" panose="02020603050405020304" pitchFamily="18" charset="0"/>
                <a:cs typeface="Times New Roman" panose="02020603050405020304" pitchFamily="18" charset="0"/>
              </a:rPr>
              <a:t>Database</a:t>
            </a:r>
          </a:p>
          <a:p>
            <a:pPr marL="628650" indent="-51435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SQLite / PostgreSQL – Storage of animal images, profiles, and metadata.</a:t>
            </a:r>
          </a:p>
          <a:p>
            <a:pPr marL="76200" indent="0" algn="just">
              <a:lnSpc>
                <a:spcPct val="150000"/>
              </a:lnSpc>
              <a:buNone/>
            </a:pPr>
            <a:r>
              <a:rPr lang="en-US" sz="2200" b="1" dirty="0">
                <a:latin typeface="Times New Roman" panose="02020603050405020304" pitchFamily="18" charset="0"/>
                <a:cs typeface="Times New Roman" panose="02020603050405020304" pitchFamily="18" charset="0"/>
              </a:rPr>
              <a:t>Visualization</a:t>
            </a:r>
          </a:p>
          <a:p>
            <a:pPr marL="628650" indent="-51435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Heatmaps (Explainable AI) – Visual explanation of AI predictions.</a:t>
            </a:r>
          </a:p>
          <a:p>
            <a:pPr marL="628650" indent="-51435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Result Dashboards – Display of classification and health analysis outputs.</a:t>
            </a:r>
          </a:p>
        </p:txBody>
      </p:sp>
      <p:sp>
        <p:nvSpPr>
          <p:cNvPr id="146" name="Google Shape;14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lgn="just">
              <a:lnSpc>
                <a:spcPct val="100000"/>
              </a:lnSpc>
              <a:buClr>
                <a:srgbClr val="2F5496"/>
              </a:buClr>
              <a:buSzPct val="57370"/>
            </a:pPr>
            <a:r>
              <a:rPr lang="en-US" sz="3200" b="1" dirty="0">
                <a:solidFill>
                  <a:schemeClr val="accent1"/>
                </a:solidFill>
                <a:latin typeface="Times New Roman" panose="02020603050405020304" pitchFamily="18" charset="0"/>
                <a:cs typeface="Times New Roman" panose="02020603050405020304" pitchFamily="18" charset="0"/>
              </a:rPr>
              <a:t>O</a:t>
            </a:r>
            <a:r>
              <a:rPr lang="en-US" sz="3200" dirty="0">
                <a:solidFill>
                  <a:schemeClr val="accent1"/>
                </a:solidFill>
                <a:latin typeface="Times New Roman" panose="02020603050405020304" pitchFamily="18" charset="0"/>
                <a:cs typeface="Times New Roman" panose="02020603050405020304" pitchFamily="18" charset="0"/>
              </a:rPr>
              <a:t>utcome &amp; </a:t>
            </a:r>
            <a:r>
              <a:rPr lang="en-US" sz="3200" b="1" dirty="0">
                <a:solidFill>
                  <a:schemeClr val="accent1"/>
                </a:solidFill>
                <a:latin typeface="Times New Roman" panose="02020603050405020304" pitchFamily="18" charset="0"/>
                <a:cs typeface="Times New Roman" panose="02020603050405020304" pitchFamily="18" charset="0"/>
              </a:rPr>
              <a:t>C</a:t>
            </a:r>
            <a:r>
              <a:rPr lang="en-US" sz="3200" dirty="0">
                <a:solidFill>
                  <a:schemeClr val="accent1"/>
                </a:solidFill>
                <a:latin typeface="Times New Roman" panose="02020603050405020304" pitchFamily="18" charset="0"/>
                <a:cs typeface="Times New Roman" panose="02020603050405020304" pitchFamily="18" charset="0"/>
              </a:rPr>
              <a:t>onclusion:</a:t>
            </a:r>
            <a:endParaRPr sz="3200" dirty="0">
              <a:solidFill>
                <a:schemeClr val="accent1"/>
              </a:solidFill>
              <a:latin typeface="Times New Roman" panose="02020603050405020304" pitchFamily="18" charset="0"/>
              <a:cs typeface="Times New Roman" panose="02020603050405020304" pitchFamily="18" charset="0"/>
            </a:endParaRPr>
          </a:p>
        </p:txBody>
      </p:sp>
      <p:sp>
        <p:nvSpPr>
          <p:cNvPr id="152" name="Google Shape;15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153" name="Google Shape;153;p22"/>
          <p:cNvSpPr txBox="1">
            <a:spLocks noGrp="1"/>
          </p:cNvSpPr>
          <p:nvPr>
            <p:ph type="body" idx="1"/>
          </p:nvPr>
        </p:nvSpPr>
        <p:spPr>
          <a:xfrm>
            <a:off x="838200" y="1387847"/>
            <a:ext cx="10667400" cy="3555805"/>
          </a:xfrm>
          <a:prstGeom prst="rect">
            <a:avLst/>
          </a:prstGeom>
          <a:noFill/>
          <a:ln>
            <a:noFill/>
          </a:ln>
        </p:spPr>
        <p:txBody>
          <a:bodyPr spcFirstLastPara="1" wrap="square" lIns="91425" tIns="45700" rIns="91425" bIns="45700" anchor="ctr" anchorCtr="0">
            <a:spAutoFit/>
          </a:bodyPr>
          <a:lstStyle/>
          <a:p>
            <a:pPr marL="76200" indent="0" algn="just">
              <a:buNone/>
            </a:pPr>
            <a:r>
              <a:rPr lang="en-US" sz="2200" b="1" dirty="0">
                <a:latin typeface="Times New Roman" panose="02020603050405020304" pitchFamily="18" charset="0"/>
                <a:cs typeface="Times New Roman" panose="02020603050405020304" pitchFamily="18" charset="0"/>
              </a:rPr>
              <a:t>Outcome</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Comprehensive literature survey completed and research gaps clearly identified.</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Limitations of existing livestock identification systems analyzed.</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Proposed system architecture finalized based on identified gaps.</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CNN-based AI model design validated for classification and feature extraction.</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Health risk analysis and duplicate detection concepts finalized.</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Explainable AI approach selected to improve transparency and trust.</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Tools and technologies finalized for implementation phase.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744682" y="365126"/>
            <a:ext cx="10515600" cy="819241"/>
          </a:xfrm>
          <a:prstGeom prst="rect">
            <a:avLst/>
          </a:prstGeom>
          <a:noFill/>
          <a:ln>
            <a:noFill/>
          </a:ln>
        </p:spPr>
        <p:txBody>
          <a:bodyPr spcFirstLastPara="1" wrap="square" lIns="91425" tIns="45700" rIns="91425" bIns="45700" anchor="ctr" anchorCtr="0">
            <a:normAutofit/>
          </a:bodyPr>
          <a:lstStyle/>
          <a:p>
            <a:pPr marL="152400" lvl="0" algn="just">
              <a:lnSpc>
                <a:spcPct val="100000"/>
              </a:lnSpc>
              <a:buClr>
                <a:srgbClr val="2F5496"/>
              </a:buClr>
              <a:buSzPct val="57370"/>
            </a:pPr>
            <a:r>
              <a:rPr lang="en-US" sz="3200" b="1" dirty="0">
                <a:solidFill>
                  <a:schemeClr val="accent1"/>
                </a:solidFill>
                <a:latin typeface="Times New Roman" panose="02020603050405020304" pitchFamily="18" charset="0"/>
                <a:cs typeface="Times New Roman" panose="02020603050405020304" pitchFamily="18" charset="0"/>
              </a:rPr>
              <a:t>O</a:t>
            </a:r>
            <a:r>
              <a:rPr lang="en-US" sz="3200" dirty="0">
                <a:solidFill>
                  <a:schemeClr val="accent1"/>
                </a:solidFill>
                <a:latin typeface="Times New Roman" panose="02020603050405020304" pitchFamily="18" charset="0"/>
                <a:cs typeface="Times New Roman" panose="02020603050405020304" pitchFamily="18" charset="0"/>
              </a:rPr>
              <a:t>utcome &amp; </a:t>
            </a:r>
            <a:r>
              <a:rPr lang="en-US" sz="3200" b="1" dirty="0">
                <a:solidFill>
                  <a:schemeClr val="accent1"/>
                </a:solidFill>
                <a:latin typeface="Times New Roman" panose="02020603050405020304" pitchFamily="18" charset="0"/>
                <a:cs typeface="Times New Roman" panose="02020603050405020304" pitchFamily="18" charset="0"/>
              </a:rPr>
              <a:t>C</a:t>
            </a:r>
            <a:r>
              <a:rPr lang="en-US" sz="3200" dirty="0">
                <a:solidFill>
                  <a:schemeClr val="accent1"/>
                </a:solidFill>
                <a:latin typeface="Times New Roman" panose="02020603050405020304" pitchFamily="18" charset="0"/>
                <a:cs typeface="Times New Roman" panose="02020603050405020304" pitchFamily="18" charset="0"/>
              </a:rPr>
              <a:t>onclusion </a:t>
            </a:r>
            <a:r>
              <a:rPr lang="en-US" sz="4000" b="1" dirty="0">
                <a:solidFill>
                  <a:schemeClr val="accent1"/>
                </a:solidFill>
                <a:latin typeface="Times New Roman" panose="02020603050405020304" pitchFamily="18" charset="0"/>
                <a:cs typeface="Times New Roman" panose="02020603050405020304" pitchFamily="18" charset="0"/>
              </a:rPr>
              <a:t>C</a:t>
            </a:r>
            <a:r>
              <a:rPr lang="en-US" sz="3200" dirty="0">
                <a:solidFill>
                  <a:schemeClr val="accent1"/>
                </a:solidFill>
                <a:latin typeface="Times New Roman" panose="02020603050405020304" pitchFamily="18" charset="0"/>
                <a:cs typeface="Times New Roman" panose="02020603050405020304" pitchFamily="18" charset="0"/>
              </a:rPr>
              <a:t>ontinued:</a:t>
            </a:r>
            <a:endParaRPr sz="3200" dirty="0"/>
          </a:p>
        </p:txBody>
      </p:sp>
      <p:sp>
        <p:nvSpPr>
          <p:cNvPr id="159" name="Google Shape;159;p23"/>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76200" indent="0" algn="just">
              <a:buNone/>
            </a:pPr>
            <a:r>
              <a:rPr lang="en-US" sz="2200" b="1" dirty="0">
                <a:latin typeface="Times New Roman" panose="02020603050405020304" pitchFamily="18" charset="0"/>
                <a:cs typeface="Times New Roman" panose="02020603050405020304" pitchFamily="18" charset="0"/>
              </a:rPr>
              <a:t>Conclusion</a:t>
            </a:r>
          </a:p>
          <a:p>
            <a:pPr marL="76200" indent="0" algn="just">
              <a:buNone/>
            </a:pPr>
            <a:r>
              <a:rPr lang="en-US" sz="2200" dirty="0">
                <a:latin typeface="Times New Roman" panose="02020603050405020304" pitchFamily="18" charset="0"/>
                <a:cs typeface="Times New Roman" panose="02020603050405020304" pitchFamily="18" charset="0"/>
              </a:rPr>
              <a:t>The proposed AI-based smart livestock identification system provides a scalable, reliable, and explainable solution to real-world livestock management challenges. By integrating deep learning, image processing, database management, and explainable AI, the system overcomes the limitations of traditional and existing automated approaches. The finalized design is technically feasible, academically strong, and suitable for practical deployment, making it well-aligned with the objectives of the project and ready for implementation in the next phase.</a:t>
            </a:r>
          </a:p>
        </p:txBody>
      </p:sp>
      <p:sp>
        <p:nvSpPr>
          <p:cNvPr id="160" name="Google Shape;1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a:spLocks noGrp="1"/>
          </p:cNvSpPr>
          <p:nvPr>
            <p:ph type="title"/>
          </p:nvPr>
        </p:nvSpPr>
        <p:spPr>
          <a:xfrm>
            <a:off x="838200" y="365125"/>
            <a:ext cx="10515600" cy="59631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256"/>
              <a:buFont typeface="Times New Roman"/>
              <a:buNone/>
            </a:pPr>
            <a:r>
              <a:rPr lang="en-US" sz="5588" b="1" dirty="0">
                <a:solidFill>
                  <a:srgbClr val="0070C0"/>
                </a:solidFill>
                <a:latin typeface="Times New Roman"/>
                <a:ea typeface="Times New Roman"/>
                <a:cs typeface="Times New Roman"/>
                <a:sym typeface="Times New Roman"/>
              </a:rPr>
              <a:t>R</a:t>
            </a:r>
            <a:r>
              <a:rPr lang="en-US" sz="3200" b="1" dirty="0">
                <a:solidFill>
                  <a:srgbClr val="0070C0"/>
                </a:solidFill>
                <a:latin typeface="Times New Roman"/>
                <a:ea typeface="Times New Roman"/>
                <a:cs typeface="Times New Roman"/>
                <a:sym typeface="Times New Roman"/>
              </a:rPr>
              <a:t>eview </a:t>
            </a:r>
            <a:r>
              <a:rPr lang="en-US" sz="5644" b="1" dirty="0">
                <a:solidFill>
                  <a:srgbClr val="0070C0"/>
                </a:solidFill>
                <a:latin typeface="Times New Roman"/>
                <a:ea typeface="Times New Roman"/>
                <a:cs typeface="Times New Roman"/>
                <a:sym typeface="Times New Roman"/>
              </a:rPr>
              <a:t>T</a:t>
            </a:r>
            <a:r>
              <a:rPr lang="en-US" sz="3200" b="1" dirty="0">
                <a:solidFill>
                  <a:srgbClr val="0070C0"/>
                </a:solidFill>
                <a:latin typeface="Times New Roman"/>
                <a:ea typeface="Times New Roman"/>
                <a:cs typeface="Times New Roman"/>
                <a:sym typeface="Times New Roman"/>
              </a:rPr>
              <a:t>imeline:</a:t>
            </a:r>
            <a:endParaRPr dirty="0"/>
          </a:p>
        </p:txBody>
      </p:sp>
      <p:sp>
        <p:nvSpPr>
          <p:cNvPr id="180" name="Google Shape;18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181" name="Google Shape;181;p26"/>
          <p:cNvGrpSpPr/>
          <p:nvPr/>
        </p:nvGrpSpPr>
        <p:grpSpPr>
          <a:xfrm>
            <a:off x="838200" y="589936"/>
            <a:ext cx="9592561" cy="5194208"/>
            <a:chOff x="2063594" y="0"/>
            <a:chExt cx="6388455" cy="4058246"/>
          </a:xfrm>
        </p:grpSpPr>
        <p:sp>
          <p:nvSpPr>
            <p:cNvPr id="182" name="Google Shape;182;p26"/>
            <p:cNvSpPr/>
            <p:nvPr/>
          </p:nvSpPr>
          <p:spPr>
            <a:xfrm>
              <a:off x="7173684" y="811638"/>
              <a:ext cx="1278320" cy="3246556"/>
            </a:xfrm>
            <a:prstGeom prst="wedgeRectCallout">
              <a:avLst>
                <a:gd name="adj1" fmla="val 0"/>
                <a:gd name="adj2" fmla="val 0"/>
              </a:avLst>
            </a:prstGeom>
            <a:solidFill>
              <a:srgbClr val="BFC8E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txBox="1"/>
            <p:nvPr/>
          </p:nvSpPr>
          <p:spPr>
            <a:xfrm>
              <a:off x="7336049" y="811646"/>
              <a:ext cx="1116000" cy="3246600"/>
            </a:xfrm>
            <a:prstGeom prst="rect">
              <a:avLst/>
            </a:prstGeom>
            <a:noFill/>
            <a:ln>
              <a:noFill/>
            </a:ln>
          </p:spPr>
          <p:txBody>
            <a:bodyPr spcFirstLastPara="1" wrap="square" lIns="44450" tIns="44450" rIns="44450" bIns="44450" anchor="t" anchorCtr="0">
              <a:noAutofit/>
            </a:bodyPr>
            <a:lstStyle/>
            <a:p>
              <a:pPr lvl="0">
                <a:lnSpc>
                  <a:spcPct val="90000"/>
                </a:lnSpc>
                <a:buClr>
                  <a:schemeClr val="dk1"/>
                </a:buClr>
                <a:buSzPts val="1400"/>
              </a:pPr>
              <a:r>
                <a:rPr lang="en-US" sz="1600" dirty="0">
                  <a:latin typeface="Times New Roman" panose="02020603050405020304" pitchFamily="18" charset="0"/>
                  <a:cs typeface="Times New Roman" panose="02020603050405020304" pitchFamily="18" charset="0"/>
                </a:rPr>
                <a:t>Submission of final report, source code, and presentation, followed by system demonstration and viva voce evaluation by internal and external examiners.</a:t>
              </a:r>
              <a:endParaRPr sz="1600" dirty="0">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90000"/>
                </a:lnSpc>
                <a:spcBef>
                  <a:spcPts val="490"/>
                </a:spcBef>
                <a:spcAft>
                  <a:spcPts val="0"/>
                </a:spcAft>
                <a:buClr>
                  <a:schemeClr val="dk1"/>
                </a:buClr>
                <a:buSzPts val="1400"/>
                <a:buFont typeface="Calibri"/>
                <a:buNone/>
              </a:pPr>
              <a:endParaRPr sz="1600" dirty="0">
                <a:latin typeface="Times New Roman"/>
                <a:ea typeface="Times New Roman"/>
                <a:cs typeface="Times New Roman"/>
                <a:sym typeface="Times New Roman"/>
              </a:endParaRPr>
            </a:p>
            <a:p>
              <a:pPr marL="0" marR="0" lvl="0" indent="0" algn="just" rtl="0">
                <a:lnSpc>
                  <a:spcPct val="90000"/>
                </a:lnSpc>
                <a:spcBef>
                  <a:spcPts val="490"/>
                </a:spcBef>
                <a:spcAft>
                  <a:spcPts val="0"/>
                </a:spcAft>
                <a:buClr>
                  <a:schemeClr val="dk1"/>
                </a:buClr>
                <a:buSzPts val="1400"/>
                <a:buFont typeface="Calibri"/>
                <a:buNone/>
              </a:pPr>
              <a:endParaRPr sz="1600" dirty="0">
                <a:latin typeface="Times New Roman"/>
                <a:ea typeface="Times New Roman"/>
                <a:cs typeface="Times New Roman"/>
                <a:sym typeface="Times New Roman"/>
              </a:endParaRPr>
            </a:p>
            <a:p>
              <a:pPr marL="0" marR="0" lvl="0" indent="0" algn="just" rtl="0">
                <a:lnSpc>
                  <a:spcPct val="90000"/>
                </a:lnSpc>
                <a:spcBef>
                  <a:spcPts val="490"/>
                </a:spcBef>
                <a:spcAft>
                  <a:spcPts val="0"/>
                </a:spcAft>
                <a:buClr>
                  <a:schemeClr val="dk1"/>
                </a:buClr>
                <a:buSzPts val="1400"/>
                <a:buFont typeface="Calibri"/>
                <a:buNone/>
              </a:pPr>
              <a:endParaRPr sz="1600" dirty="0">
                <a:latin typeface="Times New Roman"/>
                <a:ea typeface="Times New Roman"/>
                <a:cs typeface="Times New Roman"/>
                <a:sym typeface="Times New Roman"/>
              </a:endParaRPr>
            </a:p>
            <a:p>
              <a:pPr marL="0" marR="0" lvl="0" indent="0" algn="just" rtl="0">
                <a:lnSpc>
                  <a:spcPct val="90000"/>
                </a:lnSpc>
                <a:spcBef>
                  <a:spcPts val="490"/>
                </a:spcBef>
                <a:spcAft>
                  <a:spcPts val="0"/>
                </a:spcAft>
                <a:buClr>
                  <a:schemeClr val="dk1"/>
                </a:buClr>
                <a:buSzPts val="1400"/>
                <a:buFont typeface="Calibri"/>
                <a:buNone/>
              </a:pPr>
              <a:endParaRPr sz="1600" dirty="0">
                <a:latin typeface="Times New Roman"/>
                <a:ea typeface="Times New Roman"/>
                <a:cs typeface="Times New Roman"/>
                <a:sym typeface="Times New Roman"/>
              </a:endParaRPr>
            </a:p>
            <a:p>
              <a:pPr marL="0" marR="0" lvl="0" indent="0" algn="just" rtl="0">
                <a:lnSpc>
                  <a:spcPct val="100000"/>
                </a:lnSpc>
                <a:spcBef>
                  <a:spcPts val="490"/>
                </a:spcBef>
                <a:spcAft>
                  <a:spcPts val="0"/>
                </a:spcAft>
                <a:buClr>
                  <a:schemeClr val="dk1"/>
                </a:buClr>
                <a:buSzPts val="1400"/>
                <a:buFont typeface="Calibri"/>
                <a:buNone/>
              </a:pPr>
              <a:r>
                <a:rPr lang="en-US" sz="1600" b="1" i="0" u="none" strike="noStrike" cap="none" dirty="0">
                  <a:solidFill>
                    <a:schemeClr val="dk1"/>
                  </a:solidFill>
                  <a:latin typeface="Times New Roman"/>
                  <a:ea typeface="Times New Roman"/>
                  <a:cs typeface="Times New Roman"/>
                  <a:sym typeface="Times New Roman"/>
                </a:rPr>
                <a:t>/04/26</a:t>
              </a:r>
              <a:endParaRPr sz="1600" b="1" dirty="0">
                <a:latin typeface="Times New Roman"/>
                <a:ea typeface="Times New Roman"/>
                <a:cs typeface="Times New Roman"/>
                <a:sym typeface="Times New Roman"/>
              </a:endParaRPr>
            </a:p>
            <a:p>
              <a:pPr marL="0" marR="0" lvl="0" indent="0" algn="l" rtl="0">
                <a:lnSpc>
                  <a:spcPct val="90000"/>
                </a:lnSpc>
                <a:spcBef>
                  <a:spcPts val="49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184" name="Google Shape;184;p26"/>
            <p:cNvSpPr/>
            <p:nvPr/>
          </p:nvSpPr>
          <p:spPr>
            <a:xfrm>
              <a:off x="7173684" y="0"/>
              <a:ext cx="1278320" cy="811638"/>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txBox="1"/>
            <p:nvPr/>
          </p:nvSpPr>
          <p:spPr>
            <a:xfrm>
              <a:off x="7173684" y="0"/>
              <a:ext cx="1278320" cy="811638"/>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chemeClr val="lt1"/>
                </a:buClr>
                <a:buSzPts val="2000"/>
                <a:buFont typeface="Times New Roman"/>
                <a:buNone/>
              </a:pPr>
              <a:r>
                <a:rPr lang="en-US" sz="2000" b="0" i="0" u="none" strike="noStrike" cap="none">
                  <a:solidFill>
                    <a:schemeClr val="lt1"/>
                  </a:solidFill>
                  <a:latin typeface="Times New Roman"/>
                  <a:ea typeface="Times New Roman"/>
                  <a:cs typeface="Times New Roman"/>
                  <a:sym typeface="Times New Roman"/>
                </a:rPr>
                <a:t>Final Review</a:t>
              </a:r>
              <a:endParaRPr/>
            </a:p>
          </p:txBody>
        </p:sp>
        <p:sp>
          <p:nvSpPr>
            <p:cNvPr id="186" name="Google Shape;186;p26"/>
            <p:cNvSpPr/>
            <p:nvPr/>
          </p:nvSpPr>
          <p:spPr>
            <a:xfrm>
              <a:off x="5898557" y="811638"/>
              <a:ext cx="1278320" cy="3043646"/>
            </a:xfrm>
            <a:prstGeom prst="wedgeRectCallout">
              <a:avLst>
                <a:gd name="adj1" fmla="val 62500"/>
                <a:gd name="adj2" fmla="val 20830"/>
              </a:avLst>
            </a:prstGeom>
            <a:solidFill>
              <a:srgbClr val="C6EAE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6"/>
            <p:cNvSpPr txBox="1"/>
            <p:nvPr/>
          </p:nvSpPr>
          <p:spPr>
            <a:xfrm>
              <a:off x="5978086" y="811638"/>
              <a:ext cx="1116000" cy="3043500"/>
            </a:xfrm>
            <a:prstGeom prst="rect">
              <a:avLst/>
            </a:prstGeom>
            <a:noFill/>
            <a:ln>
              <a:noFill/>
            </a:ln>
          </p:spPr>
          <p:txBody>
            <a:bodyPr spcFirstLastPara="1" wrap="square" lIns="50800" tIns="50800" rIns="50800" bIns="50800" anchor="t" anchorCtr="0">
              <a:noAutofit/>
            </a:bodyPr>
            <a:lstStyle/>
            <a:p>
              <a:pPr lvl="0">
                <a:lnSpc>
                  <a:spcPct val="90000"/>
                </a:lnSpc>
                <a:buClr>
                  <a:schemeClr val="dk1"/>
                </a:buClr>
                <a:buSzPts val="1600"/>
              </a:pPr>
              <a:r>
                <a:rPr lang="en-US" sz="1600" dirty="0">
                  <a:latin typeface="Times New Roman" panose="02020603050405020304" pitchFamily="18" charset="0"/>
                  <a:cs typeface="Times New Roman" panose="02020603050405020304" pitchFamily="18" charset="0"/>
                </a:rPr>
                <a:t>Progress on complete system integration including duplicate detection, health risk analysis, Explainable AI visualization, database integration, and user interface development.</a:t>
              </a:r>
              <a:endParaRPr sz="16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90000"/>
                </a:lnSpc>
                <a:spcBef>
                  <a:spcPts val="560"/>
                </a:spcBef>
                <a:spcAft>
                  <a:spcPts val="0"/>
                </a:spcAft>
                <a:buClr>
                  <a:schemeClr val="dk1"/>
                </a:buClr>
                <a:buSzPts val="1600"/>
                <a:buFont typeface="Times New Roman"/>
                <a:buNone/>
              </a:pPr>
              <a:r>
                <a:rPr lang="en-US" sz="1600" b="1" i="0" u="none" strike="noStrike" cap="none" dirty="0">
                  <a:solidFill>
                    <a:schemeClr val="dk1"/>
                  </a:solidFill>
                  <a:latin typeface="Times New Roman"/>
                  <a:ea typeface="Times New Roman"/>
                  <a:cs typeface="Times New Roman"/>
                  <a:sym typeface="Times New Roman"/>
                </a:rPr>
                <a:t>/04/26</a:t>
              </a:r>
              <a:endParaRPr b="1" dirty="0"/>
            </a:p>
          </p:txBody>
        </p:sp>
        <p:sp>
          <p:nvSpPr>
            <p:cNvPr id="188" name="Google Shape;188;p26"/>
            <p:cNvSpPr/>
            <p:nvPr/>
          </p:nvSpPr>
          <p:spPr>
            <a:xfrm>
              <a:off x="5898557" y="101454"/>
              <a:ext cx="1278320" cy="710184"/>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txBox="1"/>
            <p:nvPr/>
          </p:nvSpPr>
          <p:spPr>
            <a:xfrm>
              <a:off x="5898557" y="101454"/>
              <a:ext cx="1278320" cy="710184"/>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chemeClr val="lt1"/>
                </a:buClr>
                <a:buSzPts val="2000"/>
                <a:buFont typeface="Times New Roman"/>
                <a:buNone/>
              </a:pPr>
              <a:r>
                <a:rPr lang="en-US" sz="2000" b="0" i="0" u="none" strike="noStrike" cap="none">
                  <a:solidFill>
                    <a:schemeClr val="lt1"/>
                  </a:solidFill>
                  <a:latin typeface="Times New Roman"/>
                  <a:ea typeface="Times New Roman"/>
                  <a:cs typeface="Times New Roman"/>
                  <a:sym typeface="Times New Roman"/>
                </a:rPr>
                <a:t>Review 4</a:t>
              </a:r>
              <a:endParaRPr/>
            </a:p>
          </p:txBody>
        </p:sp>
        <p:sp>
          <p:nvSpPr>
            <p:cNvPr id="190" name="Google Shape;190;p26"/>
            <p:cNvSpPr/>
            <p:nvPr/>
          </p:nvSpPr>
          <p:spPr>
            <a:xfrm>
              <a:off x="4620236" y="811638"/>
              <a:ext cx="1278320" cy="2840736"/>
            </a:xfrm>
            <a:prstGeom prst="wedgeRectCallout">
              <a:avLst>
                <a:gd name="adj1" fmla="val 62500"/>
                <a:gd name="adj2" fmla="val 20830"/>
              </a:avLst>
            </a:prstGeom>
            <a:solidFill>
              <a:srgbClr val="CFF1C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txBox="1"/>
            <p:nvPr/>
          </p:nvSpPr>
          <p:spPr>
            <a:xfrm>
              <a:off x="4701364" y="811638"/>
              <a:ext cx="1116000" cy="2840700"/>
            </a:xfrm>
            <a:prstGeom prst="rect">
              <a:avLst/>
            </a:prstGeom>
            <a:noFill/>
            <a:ln>
              <a:noFill/>
            </a:ln>
          </p:spPr>
          <p:txBody>
            <a:bodyPr spcFirstLastPara="1" wrap="square" lIns="50800" tIns="50800" rIns="50800" bIns="50800" anchor="t" anchorCtr="0">
              <a:noAutofit/>
            </a:bodyPr>
            <a:lstStyle/>
            <a:p>
              <a:pPr lvl="0">
                <a:lnSpc>
                  <a:spcPct val="90000"/>
                </a:lnSpc>
                <a:buClr>
                  <a:schemeClr val="dk1"/>
                </a:buClr>
                <a:buSzPts val="1600"/>
              </a:pPr>
              <a:r>
                <a:rPr lang="en-US" sz="1600" dirty="0">
                  <a:latin typeface="Times New Roman" panose="02020603050405020304" pitchFamily="18" charset="0"/>
                  <a:cs typeface="Times New Roman" panose="02020603050405020304" pitchFamily="18" charset="0"/>
                </a:rPr>
                <a:t>Progress on implementation including dataset collection, image preprocessing, CNN model development, training, testing, and initial result analysis.</a:t>
              </a:r>
              <a:endParaRPr sz="16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r>
                <a:rPr lang="en-US" sz="1600" b="1" i="0" u="none" strike="noStrike" cap="none" dirty="0">
                  <a:solidFill>
                    <a:schemeClr val="dk1"/>
                  </a:solidFill>
                  <a:latin typeface="Times New Roman"/>
                  <a:ea typeface="Times New Roman"/>
                  <a:cs typeface="Times New Roman"/>
                  <a:sym typeface="Times New Roman"/>
                </a:rPr>
                <a:t>/02/26</a:t>
              </a:r>
              <a:endParaRPr b="1" dirty="0"/>
            </a:p>
          </p:txBody>
        </p:sp>
        <p:sp>
          <p:nvSpPr>
            <p:cNvPr id="192" name="Google Shape;192;p26"/>
            <p:cNvSpPr/>
            <p:nvPr/>
          </p:nvSpPr>
          <p:spPr>
            <a:xfrm>
              <a:off x="4620236" y="206156"/>
              <a:ext cx="1278320" cy="608729"/>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txBox="1"/>
            <p:nvPr/>
          </p:nvSpPr>
          <p:spPr>
            <a:xfrm>
              <a:off x="4620236" y="206156"/>
              <a:ext cx="1278320" cy="608729"/>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chemeClr val="lt1"/>
                </a:buClr>
                <a:buSzPts val="2000"/>
                <a:buFont typeface="Times New Roman"/>
                <a:buNone/>
              </a:pPr>
              <a:r>
                <a:rPr lang="en-US" sz="2000" b="0" i="0" u="none" strike="noStrike" cap="none">
                  <a:solidFill>
                    <a:schemeClr val="lt1"/>
                  </a:solidFill>
                  <a:latin typeface="Times New Roman"/>
                  <a:ea typeface="Times New Roman"/>
                  <a:cs typeface="Times New Roman"/>
                  <a:sym typeface="Times New Roman"/>
                </a:rPr>
                <a:t>Review 3</a:t>
              </a:r>
              <a:endParaRPr/>
            </a:p>
          </p:txBody>
        </p:sp>
        <p:sp>
          <p:nvSpPr>
            <p:cNvPr id="194" name="Google Shape;194;p26"/>
            <p:cNvSpPr/>
            <p:nvPr/>
          </p:nvSpPr>
          <p:spPr>
            <a:xfrm>
              <a:off x="3341915" y="811638"/>
              <a:ext cx="1278320" cy="2637826"/>
            </a:xfrm>
            <a:prstGeom prst="wedgeRectCallout">
              <a:avLst>
                <a:gd name="adj1" fmla="val 62500"/>
                <a:gd name="adj2" fmla="val 20830"/>
              </a:avLst>
            </a:prstGeom>
            <a:solidFill>
              <a:srgbClr val="F4F6D9"/>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txBox="1"/>
            <p:nvPr/>
          </p:nvSpPr>
          <p:spPr>
            <a:xfrm>
              <a:off x="3426211" y="811646"/>
              <a:ext cx="1194000" cy="2637900"/>
            </a:xfrm>
            <a:prstGeom prst="rect">
              <a:avLst/>
            </a:prstGeom>
            <a:noFill/>
            <a:ln>
              <a:noFill/>
            </a:ln>
          </p:spPr>
          <p:txBody>
            <a:bodyPr spcFirstLastPara="1" wrap="square" lIns="50800" tIns="50800" rIns="50800" bIns="50800" anchor="t" anchorCtr="0">
              <a:noAutofit/>
            </a:bodyPr>
            <a:lstStyle/>
            <a:p>
              <a:pPr lvl="0">
                <a:lnSpc>
                  <a:spcPct val="90000"/>
                </a:lnSpc>
                <a:spcBef>
                  <a:spcPts val="560"/>
                </a:spcBef>
                <a:buClr>
                  <a:schemeClr val="dk1"/>
                </a:buClr>
                <a:buSzPts val="1600"/>
              </a:pPr>
              <a:r>
                <a:rPr lang="en-US" sz="1600" dirty="0">
                  <a:latin typeface="Times New Roman" panose="02020603050405020304" pitchFamily="18" charset="0"/>
                  <a:cs typeface="Times New Roman" panose="02020603050405020304" pitchFamily="18" charset="0"/>
                </a:rPr>
                <a:t>Detailed literature survey on existing livestock identification systems, identification of research gaps, and finalization of the proposed system design, architecture, and tools.</a:t>
              </a:r>
              <a:endParaRPr sz="16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11</a:t>
              </a:r>
              <a:r>
                <a:rPr lang="en-US" sz="1600" b="1" i="0" u="none" strike="noStrike" cap="none" dirty="0">
                  <a:solidFill>
                    <a:schemeClr val="dk1"/>
                  </a:solidFill>
                  <a:latin typeface="Times New Roman"/>
                  <a:ea typeface="Times New Roman"/>
                  <a:cs typeface="Times New Roman"/>
                  <a:sym typeface="Times New Roman"/>
                </a:rPr>
                <a:t>/01/26</a:t>
              </a:r>
              <a:endParaRPr b="1" dirty="0"/>
            </a:p>
          </p:txBody>
        </p:sp>
        <p:sp>
          <p:nvSpPr>
            <p:cNvPr id="196" name="Google Shape;196;p26"/>
            <p:cNvSpPr/>
            <p:nvPr/>
          </p:nvSpPr>
          <p:spPr>
            <a:xfrm>
              <a:off x="3341915" y="304364"/>
              <a:ext cx="1278320" cy="507274"/>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txBox="1"/>
            <p:nvPr/>
          </p:nvSpPr>
          <p:spPr>
            <a:xfrm>
              <a:off x="3341915" y="304364"/>
              <a:ext cx="1278320" cy="507274"/>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chemeClr val="lt1"/>
                </a:buClr>
                <a:buSzPts val="2000"/>
                <a:buFont typeface="Times New Roman"/>
                <a:buNone/>
              </a:pPr>
              <a:r>
                <a:rPr lang="en-US" sz="2000" b="0" i="0" u="none" strike="noStrike" cap="none">
                  <a:solidFill>
                    <a:schemeClr val="lt1"/>
                  </a:solidFill>
                  <a:latin typeface="Times New Roman"/>
                  <a:ea typeface="Times New Roman"/>
                  <a:cs typeface="Times New Roman"/>
                  <a:sym typeface="Times New Roman"/>
                </a:rPr>
                <a:t>Review 2</a:t>
              </a:r>
              <a:endParaRPr/>
            </a:p>
          </p:txBody>
        </p:sp>
        <p:sp>
          <p:nvSpPr>
            <p:cNvPr id="198" name="Google Shape;198;p26"/>
            <p:cNvSpPr/>
            <p:nvPr/>
          </p:nvSpPr>
          <p:spPr>
            <a:xfrm>
              <a:off x="2063594" y="811638"/>
              <a:ext cx="1278320" cy="2434917"/>
            </a:xfrm>
            <a:prstGeom prst="wedgeRectCallout">
              <a:avLst>
                <a:gd name="adj1" fmla="val 62500"/>
                <a:gd name="adj2" fmla="val 20830"/>
              </a:avLst>
            </a:prstGeom>
            <a:solidFill>
              <a:srgbClr val="FAEAE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txBox="1"/>
            <p:nvPr/>
          </p:nvSpPr>
          <p:spPr>
            <a:xfrm>
              <a:off x="2144722" y="811638"/>
              <a:ext cx="1116000" cy="2434800"/>
            </a:xfrm>
            <a:prstGeom prst="rect">
              <a:avLst/>
            </a:prstGeom>
            <a:noFill/>
            <a:ln>
              <a:noFill/>
            </a:ln>
          </p:spPr>
          <p:txBody>
            <a:bodyPr spcFirstLastPara="1" wrap="square" lIns="50800" tIns="50800" rIns="50800" bIns="50800" anchor="t" anchorCtr="0">
              <a:noAutofit/>
            </a:bodyPr>
            <a:lstStyle/>
            <a:p>
              <a:pPr lvl="0">
                <a:lnSpc>
                  <a:spcPct val="90000"/>
                </a:lnSpc>
                <a:buClr>
                  <a:schemeClr val="dk1"/>
                </a:buClr>
                <a:buSzPts val="1600"/>
              </a:pPr>
              <a:r>
                <a:rPr lang="en-US" sz="1600" dirty="0">
                  <a:latin typeface="Times New Roman" panose="02020603050405020304" pitchFamily="18" charset="0"/>
                  <a:cs typeface="Times New Roman" panose="02020603050405020304" pitchFamily="18" charset="0"/>
                </a:rPr>
                <a:t>Overview of the problem domain, identification of project title, briefing of the problem statement, objectives, and understanding the project scope and workflow plan</a:t>
              </a:r>
              <a:r>
                <a:rPr lang="en-US" sz="1600" dirty="0"/>
                <a:t>.</a:t>
              </a: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13</a:t>
              </a:r>
              <a:r>
                <a:rPr lang="en-US" sz="1600" b="1" i="0" u="none" strike="noStrike" cap="none" dirty="0">
                  <a:solidFill>
                    <a:schemeClr val="dk1"/>
                  </a:solidFill>
                  <a:latin typeface="Times New Roman"/>
                  <a:ea typeface="Times New Roman"/>
                  <a:cs typeface="Times New Roman"/>
                  <a:sym typeface="Times New Roman"/>
                </a:rPr>
                <a:t>/01/26</a:t>
              </a:r>
              <a:endParaRPr b="1" dirty="0">
                <a:latin typeface="Times New Roman"/>
                <a:ea typeface="Times New Roman"/>
                <a:cs typeface="Times New Roman"/>
                <a:sym typeface="Times New Roman"/>
              </a:endParaRPr>
            </a:p>
          </p:txBody>
        </p:sp>
        <p:sp>
          <p:nvSpPr>
            <p:cNvPr id="200" name="Google Shape;200;p26"/>
            <p:cNvSpPr/>
            <p:nvPr/>
          </p:nvSpPr>
          <p:spPr>
            <a:xfrm>
              <a:off x="2063594" y="405819"/>
              <a:ext cx="1278320" cy="405819"/>
            </a:xfrm>
            <a:prstGeom prst="rect">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txBox="1"/>
            <p:nvPr/>
          </p:nvSpPr>
          <p:spPr>
            <a:xfrm>
              <a:off x="2063594" y="405819"/>
              <a:ext cx="1278300" cy="4059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chemeClr val="lt1"/>
                </a:buClr>
                <a:buSzPts val="2000"/>
                <a:buFont typeface="Times New Roman"/>
                <a:buNone/>
              </a:pPr>
              <a:r>
                <a:rPr lang="en-US" sz="2000" b="0" i="0" u="none" strike="noStrike" cap="none">
                  <a:solidFill>
                    <a:schemeClr val="lt1"/>
                  </a:solidFill>
                  <a:latin typeface="Times New Roman"/>
                  <a:ea typeface="Times New Roman"/>
                  <a:cs typeface="Times New Roman"/>
                  <a:sym typeface="Times New Roman"/>
                </a:rPr>
                <a:t>Review 1</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title"/>
          </p:nvPr>
        </p:nvSpPr>
        <p:spPr>
          <a:xfrm>
            <a:off x="556350" y="365125"/>
            <a:ext cx="10515600" cy="596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256"/>
              <a:buFont typeface="Times New Roman"/>
              <a:buNone/>
            </a:pPr>
            <a:r>
              <a:rPr lang="en-US" sz="5588" b="1">
                <a:solidFill>
                  <a:srgbClr val="0070C0"/>
                </a:solidFill>
                <a:latin typeface="Times New Roman"/>
                <a:ea typeface="Times New Roman"/>
                <a:cs typeface="Times New Roman"/>
                <a:sym typeface="Times New Roman"/>
              </a:rPr>
              <a:t>G</a:t>
            </a:r>
            <a:r>
              <a:rPr lang="en-US" sz="3200" b="1">
                <a:solidFill>
                  <a:srgbClr val="0070C0"/>
                </a:solidFill>
                <a:latin typeface="Times New Roman"/>
                <a:ea typeface="Times New Roman"/>
                <a:cs typeface="Times New Roman"/>
                <a:sym typeface="Times New Roman"/>
              </a:rPr>
              <a:t>ithub </a:t>
            </a:r>
            <a:r>
              <a:rPr lang="en-US" sz="5644" b="1">
                <a:solidFill>
                  <a:srgbClr val="0070C0"/>
                </a:solidFill>
                <a:latin typeface="Times New Roman"/>
                <a:ea typeface="Times New Roman"/>
                <a:cs typeface="Times New Roman"/>
                <a:sym typeface="Times New Roman"/>
              </a:rPr>
              <a:t>L</a:t>
            </a:r>
            <a:r>
              <a:rPr lang="en-US" sz="3200" b="1">
                <a:solidFill>
                  <a:srgbClr val="0070C0"/>
                </a:solidFill>
                <a:latin typeface="Times New Roman"/>
                <a:ea typeface="Times New Roman"/>
                <a:cs typeface="Times New Roman"/>
                <a:sym typeface="Times New Roman"/>
              </a:rPr>
              <a:t>ink:</a:t>
            </a:r>
            <a:endParaRPr/>
          </a:p>
        </p:txBody>
      </p:sp>
      <p:sp>
        <p:nvSpPr>
          <p:cNvPr id="207" name="Google Shape;20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208" name="Google Shape;208;p27"/>
          <p:cNvSpPr/>
          <p:nvPr/>
        </p:nvSpPr>
        <p:spPr>
          <a:xfrm>
            <a:off x="678426" y="2251587"/>
            <a:ext cx="10741074" cy="1856813"/>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457200">
              <a:lnSpc>
                <a:spcPct val="90000"/>
              </a:lnSpc>
              <a:buClr>
                <a:schemeClr val="dk1"/>
              </a:buClr>
              <a:buSzPts val="1100"/>
            </a:pPr>
            <a:r>
              <a:rPr lang="en-US" sz="3200" b="1" dirty="0">
                <a:solidFill>
                  <a:schemeClr val="dk1"/>
                </a:solidFill>
                <a:latin typeface="Times New Roman"/>
                <a:ea typeface="Times New Roman"/>
                <a:cs typeface="Times New Roman"/>
                <a:sym typeface="Times New Roman"/>
              </a:rPr>
              <a:t>https://github.com/20221CDV0026/Image-based-Animal-Type-Classification-for-cattle-and-buffaloes-</a:t>
            </a:r>
            <a:endParaRPr sz="3200" dirty="0">
              <a:latin typeface="Calibri"/>
              <a:ea typeface="Calibri"/>
              <a:cs typeface="Calibri"/>
              <a:sym typeface="Calibri"/>
            </a:endParaRPr>
          </a:p>
        </p:txBody>
      </p:sp>
      <p:sp>
        <p:nvSpPr>
          <p:cNvPr id="209" name="Google Shape;209;p27"/>
          <p:cNvSpPr/>
          <p:nvPr/>
        </p:nvSpPr>
        <p:spPr>
          <a:xfrm rot="-1971703">
            <a:off x="8400073" y="3707221"/>
            <a:ext cx="702157" cy="949717"/>
          </a:xfrm>
          <a:prstGeom prst="upArrow">
            <a:avLst>
              <a:gd name="adj1" fmla="val 49786"/>
              <a:gd name="adj2" fmla="val 7886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8"/>
          <p:cNvSpPr txBox="1">
            <a:spLocks noGrp="1"/>
          </p:cNvSpPr>
          <p:nvPr>
            <p:ph type="body" idx="1"/>
          </p:nvPr>
        </p:nvSpPr>
        <p:spPr>
          <a:xfrm>
            <a:off x="0" y="0"/>
            <a:ext cx="12192000" cy="6858000"/>
          </a:xfrm>
          <a:prstGeom prst="rect">
            <a:avLst/>
          </a:prstGeom>
          <a:solidFill>
            <a:srgbClr val="1F3864"/>
          </a:solid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600"/>
              <a:buNone/>
            </a:pPr>
            <a:endParaRPr sz="6600">
              <a:solidFill>
                <a:srgbClr val="FFFF00"/>
              </a:solidFill>
              <a:latin typeface="Times New Roman"/>
              <a:ea typeface="Times New Roman"/>
              <a:cs typeface="Times New Roman"/>
              <a:sym typeface="Times New Roman"/>
            </a:endParaRPr>
          </a:p>
          <a:p>
            <a:pPr marL="0" lvl="0" indent="0" algn="ctr" rtl="0">
              <a:lnSpc>
                <a:spcPct val="90000"/>
              </a:lnSpc>
              <a:spcBef>
                <a:spcPts val="1000"/>
              </a:spcBef>
              <a:spcAft>
                <a:spcPts val="0"/>
              </a:spcAft>
              <a:buClr>
                <a:srgbClr val="FFFF00"/>
              </a:buClr>
              <a:buSzPts val="6600"/>
              <a:buNone/>
            </a:pPr>
            <a:r>
              <a:rPr lang="en-US" sz="6600">
                <a:solidFill>
                  <a:srgbClr val="FFFF00"/>
                </a:solidFill>
                <a:latin typeface="Times New Roman"/>
                <a:ea typeface="Times New Roman"/>
                <a:cs typeface="Times New Roman"/>
                <a:sym typeface="Times New Roman"/>
              </a:rPr>
              <a:t>  </a:t>
            </a:r>
            <a:r>
              <a:rPr lang="en-US" sz="6600">
                <a:solidFill>
                  <a:srgbClr val="F7CAAC"/>
                </a:solidFill>
                <a:latin typeface="Times New Roman"/>
                <a:ea typeface="Times New Roman"/>
                <a:cs typeface="Times New Roman"/>
                <a:sym typeface="Times New Roman"/>
              </a:rPr>
              <a:t>Q&amp;A</a:t>
            </a:r>
            <a:endParaRPr/>
          </a:p>
          <a:p>
            <a:pPr marL="0" lvl="0" indent="0" algn="ctr" rtl="0">
              <a:lnSpc>
                <a:spcPct val="90000"/>
              </a:lnSpc>
              <a:spcBef>
                <a:spcPts val="1000"/>
              </a:spcBef>
              <a:spcAft>
                <a:spcPts val="0"/>
              </a:spcAft>
              <a:buClr>
                <a:schemeClr val="dk1"/>
              </a:buClr>
              <a:buSzPts val="6600"/>
              <a:buNone/>
            </a:pPr>
            <a:endParaRPr sz="6600">
              <a:solidFill>
                <a:srgbClr val="A71180"/>
              </a:solidFill>
              <a:latin typeface="Times New Roman"/>
              <a:ea typeface="Times New Roman"/>
              <a:cs typeface="Times New Roman"/>
              <a:sym typeface="Times New Roman"/>
            </a:endParaRPr>
          </a:p>
        </p:txBody>
      </p:sp>
      <p:sp>
        <p:nvSpPr>
          <p:cNvPr id="215" name="Google Shape;21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19</a:t>
            </a:fld>
            <a:endParaRPr>
              <a:latin typeface="Times New Roman"/>
              <a:ea typeface="Times New Roman"/>
              <a:cs typeface="Times New Roman"/>
              <a:sym typeface="Times New Roman"/>
            </a:endParaRPr>
          </a:p>
        </p:txBody>
      </p:sp>
      <p:pic>
        <p:nvPicPr>
          <p:cNvPr id="216" name="Google Shape;216;p28" descr="bd04924_"/>
          <p:cNvPicPr preferRelativeResize="0"/>
          <p:nvPr/>
        </p:nvPicPr>
        <p:blipFill rotWithShape="1">
          <a:blip r:embed="rId3">
            <a:alphaModFix/>
          </a:blip>
          <a:srcRect/>
          <a:stretch/>
        </p:blipFill>
        <p:spPr>
          <a:xfrm>
            <a:off x="4833020" y="2150340"/>
            <a:ext cx="2841171" cy="383241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9"/>
          <p:cNvSpPr txBox="1">
            <a:spLocks noGrp="1"/>
          </p:cNvSpPr>
          <p:nvPr>
            <p:ph type="body" idx="1"/>
          </p:nvPr>
        </p:nvSpPr>
        <p:spPr>
          <a:xfrm>
            <a:off x="838200" y="2547258"/>
            <a:ext cx="10515600" cy="121484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A71180"/>
              </a:buClr>
              <a:buSzPts val="6600"/>
              <a:buNone/>
            </a:pPr>
            <a:r>
              <a:rPr lang="en-US" sz="6600">
                <a:solidFill>
                  <a:srgbClr val="A71180"/>
                </a:solidFill>
                <a:latin typeface="Times New Roman"/>
                <a:ea typeface="Times New Roman"/>
                <a:cs typeface="Times New Roman"/>
                <a:sym typeface="Times New Roman"/>
              </a:rPr>
              <a:t>Thank you!</a:t>
            </a:r>
            <a:endParaRPr/>
          </a:p>
        </p:txBody>
      </p:sp>
      <p:sp>
        <p:nvSpPr>
          <p:cNvPr id="222" name="Google Shape;22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1222</Words>
  <Application>Microsoft Office PowerPoint</Application>
  <PresentationFormat>Widescreen</PresentationFormat>
  <Paragraphs>168</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Times New Roman</vt:lpstr>
      <vt:lpstr>Verdana</vt:lpstr>
      <vt:lpstr>Office Theme</vt:lpstr>
      <vt:lpstr>PowerPoint Presentation</vt:lpstr>
      <vt:lpstr>Content:</vt:lpstr>
      <vt:lpstr>Introduction:</vt:lpstr>
      <vt:lpstr>Introduction Continued:</vt:lpstr>
      <vt:lpstr>Literature Review:</vt:lpstr>
      <vt:lpstr>Literature Review Continued:</vt:lpstr>
      <vt:lpstr>Research Gap &amp; Motivation:</vt:lpstr>
      <vt:lpstr>Research Gap &amp; Motivation Continued:</vt:lpstr>
      <vt:lpstr>Proposed System Overview:</vt:lpstr>
      <vt:lpstr>Proposed System Overview Continued:</vt:lpstr>
      <vt:lpstr>System Architecture &amp; Model Design:</vt:lpstr>
      <vt:lpstr>System Architecture &amp; Model Design Continued: :</vt:lpstr>
      <vt:lpstr>Tools &amp; Technologies Used:</vt:lpstr>
      <vt:lpstr>Tools &amp; Technologies Used Continued:</vt:lpstr>
      <vt:lpstr>Outcome &amp; Conclusion:</vt:lpstr>
      <vt:lpstr>Outcome &amp; Conclusion Continued:</vt:lpstr>
      <vt:lpstr>Review Timeline:</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Harshu</dc:creator>
  <cp:lastModifiedBy>HARSHITHA20221CDV0026@presidencyuniversity.in kj</cp:lastModifiedBy>
  <cp:revision>3</cp:revision>
  <cp:lastPrinted>2026-02-10T16:22:20Z</cp:lastPrinted>
  <dcterms:modified xsi:type="dcterms:W3CDTF">2026-02-10T16:52:29Z</dcterms:modified>
</cp:coreProperties>
</file>